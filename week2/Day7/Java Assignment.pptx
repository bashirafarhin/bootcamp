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Tahoma"/>
      <p:regular r:id="rId16"/>
      <p:bold r:id="rId17"/>
    </p:embeddedFont>
    <p:embeddedFont>
      <p:font typeface="Century Gothic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4FA26D-7C11-4A59-B27B-39AEBA0F4A32}">
  <a:tblStyle styleId="{D04FA26D-7C11-4A59-B27B-39AEBA0F4A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CenturyGothic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Tahoma-bold.fntdata"/><Relationship Id="rId16" Type="http://schemas.openxmlformats.org/officeDocument/2006/relationships/font" Target="fonts/Tahoma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CenturyGothic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enturyGothic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8b3bcf6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98b3bcf6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8b3bcf66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98b3bcf66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8b3bcf66d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98b3bcf66d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8b3bcf66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98b3bcf66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8b3bcf66d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98b3bcf66d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8b3bcf66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98b3bcf66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8b3bcf66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98b3bcf66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8b3bcf66d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98b3bcf66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8b3bcf66d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98b3bcf66d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 1">
  <p:cSld name="CUSTOM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3">
            <a:alphaModFix/>
          </a:blip>
          <a:srcRect b="30492" l="0" r="0" t="0"/>
          <a:stretch/>
        </p:blipFill>
        <p:spPr>
          <a:xfrm>
            <a:off x="556524" y="977750"/>
            <a:ext cx="3825572" cy="882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" name="Google Shape;53;p13"/>
          <p:cNvCxnSpPr/>
          <p:nvPr/>
        </p:nvCxnSpPr>
        <p:spPr>
          <a:xfrm>
            <a:off x="556513" y="2146371"/>
            <a:ext cx="6787200" cy="0"/>
          </a:xfrm>
          <a:prstGeom prst="straightConnector1">
            <a:avLst/>
          </a:prstGeom>
          <a:noFill/>
          <a:ln cap="flat" cmpd="sng" w="9525">
            <a:solidFill>
              <a:srgbClr val="D646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13"/>
          <p:cNvSpPr txBox="1"/>
          <p:nvPr>
            <p:ph type="ctrTitle"/>
          </p:nvPr>
        </p:nvSpPr>
        <p:spPr>
          <a:xfrm>
            <a:off x="556525" y="2491850"/>
            <a:ext cx="67872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1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ahoma"/>
              <a:buNone/>
              <a:defRPr b="0" i="0" sz="3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lide with black logo 1 3">
  <p:cSld name="TITLE_AND_TWO_COLUMNS_1_6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ahoma"/>
              <a:buNone/>
              <a:defRPr b="1" i="0" sz="2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ahoma"/>
              <a:buNone/>
              <a:defRPr b="0" i="0" sz="2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cxnSp>
        <p:nvCxnSpPr>
          <p:cNvPr id="57" name="Google Shape;57;p14"/>
          <p:cNvCxnSpPr/>
          <p:nvPr/>
        </p:nvCxnSpPr>
        <p:spPr>
          <a:xfrm>
            <a:off x="0" y="640900"/>
            <a:ext cx="1563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diamond"/>
          </a:ln>
        </p:spPr>
      </p:cxnSp>
      <p:pic>
        <p:nvPicPr>
          <p:cNvPr id="58" name="Google Shape;58;p14"/>
          <p:cNvPicPr preferRelativeResize="0"/>
          <p:nvPr/>
        </p:nvPicPr>
        <p:blipFill rotWithShape="1">
          <a:blip r:embed="rId2">
            <a:alphaModFix/>
          </a:blip>
          <a:srcRect b="38381" l="0" r="0" t="37943"/>
          <a:stretch/>
        </p:blipFill>
        <p:spPr>
          <a:xfrm>
            <a:off x="7548480" y="127007"/>
            <a:ext cx="1463649" cy="346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556525" y="2491850"/>
            <a:ext cx="67872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Java Assignment - FS Bootcamp October, 2025</a:t>
            </a:r>
            <a:endParaRPr/>
          </a:p>
        </p:txBody>
      </p:sp>
      <p:pic>
        <p:nvPicPr>
          <p:cNvPr id="64" name="Google Shape;64;p15"/>
          <p:cNvPicPr preferRelativeResize="0"/>
          <p:nvPr/>
        </p:nvPicPr>
        <p:blipFill rotWithShape="1">
          <a:blip r:embed="rId3">
            <a:alphaModFix/>
          </a:blip>
          <a:srcRect b="0" l="0" r="44858" t="0"/>
          <a:stretch/>
        </p:blipFill>
        <p:spPr>
          <a:xfrm>
            <a:off x="6141446" y="166727"/>
            <a:ext cx="491889" cy="51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9647" y="267041"/>
            <a:ext cx="1031154" cy="315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/>
          <p:cNvPicPr preferRelativeResize="0"/>
          <p:nvPr/>
        </p:nvPicPr>
        <p:blipFill rotWithShape="1">
          <a:blip r:embed="rId5">
            <a:alphaModFix/>
          </a:blip>
          <a:srcRect b="31348" l="13737" r="14490" t="30972"/>
          <a:stretch/>
        </p:blipFill>
        <p:spPr>
          <a:xfrm>
            <a:off x="6740916" y="302133"/>
            <a:ext cx="1031151" cy="245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" name="Google Shape;67;p15"/>
          <p:cNvGrpSpPr/>
          <p:nvPr/>
        </p:nvGrpSpPr>
        <p:grpSpPr>
          <a:xfrm>
            <a:off x="3433374" y="4727449"/>
            <a:ext cx="5477414" cy="197700"/>
            <a:chOff x="3433374" y="4727449"/>
            <a:chExt cx="5477414" cy="197700"/>
          </a:xfrm>
        </p:grpSpPr>
        <p:sp>
          <p:nvSpPr>
            <p:cNvPr id="68" name="Google Shape;68;p15"/>
            <p:cNvSpPr txBox="1"/>
            <p:nvPr/>
          </p:nvSpPr>
          <p:spPr>
            <a:xfrm>
              <a:off x="3433374" y="4727449"/>
              <a:ext cx="1227900" cy="19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0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" sz="800" u="none" cap="none" strike="noStrik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Proudly recognized by</a:t>
              </a:r>
              <a:endParaRPr b="1" i="0" sz="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69" name="Google Shape;69;p15"/>
            <p:cNvCxnSpPr/>
            <p:nvPr/>
          </p:nvCxnSpPr>
          <p:spPr>
            <a:xfrm>
              <a:off x="4631412" y="4826299"/>
              <a:ext cx="282300" cy="0"/>
            </a:xfrm>
            <a:prstGeom prst="straightConnector1">
              <a:avLst/>
            </a:prstGeom>
            <a:noFill/>
            <a:ln cap="flat" cmpd="sng" w="9525">
              <a:solidFill>
                <a:srgbClr val="D6469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70" name="Google Shape;70;p15"/>
            <p:cNvCxnSpPr/>
            <p:nvPr/>
          </p:nvCxnSpPr>
          <p:spPr>
            <a:xfrm>
              <a:off x="5345857" y="4751899"/>
              <a:ext cx="0" cy="1488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71" name="Google Shape;71;p15"/>
            <p:cNvCxnSpPr/>
            <p:nvPr/>
          </p:nvCxnSpPr>
          <p:spPr>
            <a:xfrm>
              <a:off x="6029754" y="4751899"/>
              <a:ext cx="0" cy="1488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dot"/>
              <a:round/>
              <a:headEnd len="sm" w="sm" type="none"/>
              <a:tailEnd len="sm" w="sm" type="none"/>
            </a:ln>
          </p:spPr>
        </p:cxnSp>
        <p:pic>
          <p:nvPicPr>
            <p:cNvPr id="72" name="Google Shape;72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440706" y="4751946"/>
              <a:ext cx="490692" cy="1487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027578" y="4732311"/>
              <a:ext cx="182546" cy="187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257426" y="4758380"/>
              <a:ext cx="590648" cy="13583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5" name="Google Shape;75;p15"/>
            <p:cNvCxnSpPr/>
            <p:nvPr/>
          </p:nvCxnSpPr>
          <p:spPr>
            <a:xfrm>
              <a:off x="7132075" y="4751899"/>
              <a:ext cx="0" cy="1488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dot"/>
              <a:round/>
              <a:headEnd len="sm" w="sm" type="none"/>
              <a:tailEnd len="sm" w="sm" type="none"/>
            </a:ln>
          </p:spPr>
        </p:cxnSp>
        <p:pic>
          <p:nvPicPr>
            <p:cNvPr id="76" name="Google Shape;76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050490" y="4751948"/>
              <a:ext cx="860298" cy="148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7" name="Google Shape;77;p15"/>
            <p:cNvCxnSpPr/>
            <p:nvPr/>
          </p:nvCxnSpPr>
          <p:spPr>
            <a:xfrm>
              <a:off x="7956968" y="4751899"/>
              <a:ext cx="0" cy="1488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dot"/>
              <a:round/>
              <a:headEnd len="sm" w="sm" type="none"/>
              <a:tailEnd len="sm" w="sm" type="none"/>
            </a:ln>
          </p:spPr>
        </p:cxnSp>
        <p:pic>
          <p:nvPicPr>
            <p:cNvPr id="78" name="Google Shape;78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110048" y="4743760"/>
              <a:ext cx="941727" cy="16507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/>
        </p:nvSpPr>
        <p:spPr>
          <a:xfrm>
            <a:off x="264425" y="840300"/>
            <a:ext cx="8565600" cy="382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 of Digits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Accept a number and find the sum of all its digits. E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.g. 1234 → 10 (1+2+3+4)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Multiplication Table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Print the multiplication table for any number entered by the user.</a:t>
            </a:r>
            <a:b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Factorial Calculator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Calculate the factorial of a number using a for loop.</a:t>
            </a:r>
            <a:b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Reverse a Number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Reverse the digits of an integer using a while loop.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" name="Google Shape;84;p16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 Variables &amp; Control Flow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/>
        </p:nvSpPr>
        <p:spPr>
          <a:xfrm>
            <a:off x="264425" y="854258"/>
            <a:ext cx="8565600" cy="382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Simple Calculator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Calculator class with methods add, subtract, 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multiply, and divide.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Student Report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Student class with fields for name and marks in 3 subjects.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 a method to calculate total and average marks.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Bank Account Class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BankAccount class with accountNumber, holderName, and balance.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 a constructor to initialize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these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fields.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p17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Classes, Methods &amp; Constructors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264425" y="840300"/>
            <a:ext cx="8565600" cy="382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Static Counter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class where every time an object is created, a static counter increases.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 how many objects have been created.</a:t>
            </a:r>
            <a:b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Static Utility Class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MathUtils class with static methods for max, min, and average.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Call these without creating an object.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8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Static Keyword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/>
        </p:nvSpPr>
        <p:spPr>
          <a:xfrm>
            <a:off x="264425" y="840300"/>
            <a:ext cx="8565600" cy="188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Parameterized Constructor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Book class with fields title, author, and price.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Initialize them using a parameterized constructor.</a:t>
            </a:r>
            <a:b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Constructor Overloading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Create a Car class with overloaded constructors — one that sets only the model name and another that sets model and price.</a:t>
            </a:r>
            <a:b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" name="Google Shape;102;p19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Constructors</a:t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416825" y="992700"/>
            <a:ext cx="8565600" cy="188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Parameterized Constructor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Book class with fields title, author, and price.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Initialize them using a parameterized constructor.</a:t>
            </a:r>
            <a:b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Constructor Overloading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Create a Car class with overloaded constructors — one that sets only the model name and another that sets model and price.</a:t>
            </a:r>
            <a:b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/>
        </p:nvSpPr>
        <p:spPr>
          <a:xfrm>
            <a:off x="264425" y="840300"/>
            <a:ext cx="8565600" cy="188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Parameterized Constructor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Book class with fields title, author, and price.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Initialize them using a parameterized constructor.</a:t>
            </a:r>
            <a:b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Constructor Overloading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Create a Car class with overloaded constructors — one that sets only the model name and another that sets model and price.</a:t>
            </a:r>
            <a:b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9" name="Google Shape;109;p20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Exception Handling</a:t>
            </a: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289200" y="840300"/>
            <a:ext cx="8565600" cy="43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Division with Exception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Accept two integers from user and divide them.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Handle division by zero using </a:t>
            </a:r>
            <a:r>
              <a:rPr lang="en" sz="12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try-catch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Print “Division completed” in a </a:t>
            </a:r>
            <a:r>
              <a:rPr lang="en" sz="12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finally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block.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Nested try-catch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a program where an inner try block may throw </a:t>
            </a:r>
            <a:r>
              <a:rPr lang="en" sz="12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ArithmeticException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</a:t>
            </a:r>
            <a:b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an outer try block may throw </a:t>
            </a:r>
            <a:r>
              <a:rPr lang="en" sz="12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ArrayIndexOutOfBoundsException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Handle both appropriately.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entury Gothic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Exception Propagation (Method Chain)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Write three methods (</a:t>
            </a:r>
            <a:r>
              <a:rPr lang="en" sz="12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m1()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" sz="12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m2()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" sz="12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m3()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):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m1()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calls </a:t>
            </a:r>
            <a:r>
              <a:rPr lang="en" sz="12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m2()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and </a:t>
            </a:r>
            <a:r>
              <a:rPr lang="en" sz="12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m2()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calls </a:t>
            </a:r>
            <a:r>
              <a:rPr lang="en" sz="12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m3()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m3()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divides by zero.</a:t>
            </a:r>
            <a:b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Observe how the exception propagates up the chain and catch it in </a:t>
            </a:r>
            <a:r>
              <a:rPr lang="en" sz="12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m1()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Re-throw Exception</a:t>
            </a:r>
            <a:b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Catch an exception inside a </a:t>
            </a:r>
            <a:r>
              <a:rPr lang="en" sz="12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try-catch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block, print a message,</a:t>
            </a:r>
            <a:b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then re-throw it to be handled by another catch block at a higher level.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 Exception: </a:t>
            </a: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Invalid Email Exception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Validate an email string.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Throw </a:t>
            </a:r>
            <a:r>
              <a:rPr lang="en" sz="12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InvalidEmailException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if it doesn’t contain an “@” symbol.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/>
        </p:nvSpPr>
        <p:spPr>
          <a:xfrm>
            <a:off x="264425" y="840300"/>
            <a:ext cx="8565600" cy="188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Parameterized Constructor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Book class with fields title, author, and price.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Initialize them using a parameterized constructor.</a:t>
            </a:r>
            <a:b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Constructor Overloading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Create a Car class with overloaded constructors — one that sets only the model name and another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that sets model and price.</a:t>
            </a:r>
            <a:b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6" name="Google Shape;116;p21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POJO</a:t>
            </a:r>
            <a:endParaRPr/>
          </a:p>
        </p:txBody>
      </p:sp>
      <p:sp>
        <p:nvSpPr>
          <p:cNvPr id="117" name="Google Shape;117;p21"/>
          <p:cNvSpPr txBox="1"/>
          <p:nvPr/>
        </p:nvSpPr>
        <p:spPr>
          <a:xfrm>
            <a:off x="178925" y="1037300"/>
            <a:ext cx="8565600" cy="188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 POJO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Customer class with id, name, email.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3 objects and print their details using a list.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/>
        </p:nvSpPr>
        <p:spPr>
          <a:xfrm>
            <a:off x="377025" y="925041"/>
            <a:ext cx="8565600" cy="400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Mini Banking Application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BankAccount class with deposit(), withdraw(), and getBalance() methods.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 exception handling for invalid amounts and overdrafts.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Keep track of total accounts using a static variable.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Employee Management System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an Employee class (POJO).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Extend it with FullTimeEmployee and PartTimeEmployee subclasses.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Override a method to calculate salary differently for each.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polymorphism to call methods on a list of employees.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b="1"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 Catalog (with Encapsulation &amp; Exceptions)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Product class with private fields for id, name, and price.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Throw a custom exception if price is negative.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○"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3–5 product objects and display their details.</a:t>
            </a:r>
            <a:endParaRPr b="1"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p22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Combined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ctrTitle"/>
          </p:nvPr>
        </p:nvSpPr>
        <p:spPr>
          <a:xfrm>
            <a:off x="264425" y="208500"/>
            <a:ext cx="6858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Extra Java Topics - Good for Basic</a:t>
            </a:r>
            <a:endParaRPr/>
          </a:p>
        </p:txBody>
      </p:sp>
      <p:graphicFrame>
        <p:nvGraphicFramePr>
          <p:cNvPr id="129" name="Google Shape;129;p23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{D04FA26D-7C11-4A59-B27B-39AEBA0F4A32}</a:tableStyleId>
              </a:tblPr>
              <a:tblGrid>
                <a:gridCol w="2340050"/>
                <a:gridCol w="2340050"/>
                <a:gridCol w="2340050"/>
              </a:tblGrid>
              <a:tr h="267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#</a:t>
                      </a:r>
                      <a:endParaRPr b="1"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Topic</a:t>
                      </a:r>
                      <a:endParaRPr b="1"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Why It Matters</a:t>
                      </a:r>
                      <a:endParaRPr b="1"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Data Types &amp; Type Conversion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Prevents type mismatch confusion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2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String Pool &amp; Interning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Explains string equality &amp; memory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Default Values &amp; Scope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Clarifies variable lifecycle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4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Enums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Replaces constants safely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Packages &amp; Imports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Helps organize larger projects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6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Object Class Methods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Core for equality and debugging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Command Line Arguments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Introduces runtime input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Wrapper Classes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Bridge to collections &amp; utilities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Basic I/O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Enables user-interactive programs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10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Coding Best Practices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Builds professionalism early</a:t>
                      </a:r>
                      <a:endParaRPr sz="900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