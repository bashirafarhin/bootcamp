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5143500" cx="9144000"/>
  <p:notesSz cx="6858000" cy="9144000"/>
  <p:embeddedFontLst>
    <p:embeddedFont>
      <p:font typeface="Montserrat"/>
      <p:regular r:id="rId51"/>
      <p:bold r:id="rId52"/>
      <p:italic r:id="rId53"/>
      <p:boldItalic r:id="rId54"/>
    </p:embeddedFont>
    <p:embeddedFont>
      <p:font typeface="Tahoma"/>
      <p:regular r:id="rId55"/>
      <p:bold r:id="rId56"/>
    </p:embeddedFont>
    <p:embeddedFont>
      <p:font typeface="Roboto Mono"/>
      <p:regular r:id="rId57"/>
      <p:bold r:id="rId58"/>
      <p:italic r:id="rId59"/>
      <p:boldItalic r:id="rId60"/>
    </p:embeddedFont>
    <p:embeddedFont>
      <p:font typeface="Century Gothic"/>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CenturyGothic-bold.fntdata"/><Relationship Id="rId61" Type="http://schemas.openxmlformats.org/officeDocument/2006/relationships/font" Target="fonts/CenturyGothic-regular.fntdata"/><Relationship Id="rId20" Type="http://schemas.openxmlformats.org/officeDocument/2006/relationships/slide" Target="slides/slide15.xml"/><Relationship Id="rId64" Type="http://schemas.openxmlformats.org/officeDocument/2006/relationships/font" Target="fonts/CenturyGothic-boldItalic.fntdata"/><Relationship Id="rId63" Type="http://schemas.openxmlformats.org/officeDocument/2006/relationships/font" Target="fonts/CenturyGothic-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RobotoMono-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ontserrat-regular.fntdata"/><Relationship Id="rId50" Type="http://schemas.openxmlformats.org/officeDocument/2006/relationships/slide" Target="slides/slide45.xml"/><Relationship Id="rId53" Type="http://schemas.openxmlformats.org/officeDocument/2006/relationships/font" Target="fonts/Montserrat-italic.fntdata"/><Relationship Id="rId52" Type="http://schemas.openxmlformats.org/officeDocument/2006/relationships/font" Target="fonts/Montserrat-bold.fntdata"/><Relationship Id="rId11" Type="http://schemas.openxmlformats.org/officeDocument/2006/relationships/slide" Target="slides/slide6.xml"/><Relationship Id="rId55" Type="http://schemas.openxmlformats.org/officeDocument/2006/relationships/font" Target="fonts/Tahoma-regular.fntdata"/><Relationship Id="rId10" Type="http://schemas.openxmlformats.org/officeDocument/2006/relationships/slide" Target="slides/slide5.xml"/><Relationship Id="rId54" Type="http://schemas.openxmlformats.org/officeDocument/2006/relationships/font" Target="fonts/Montserrat-boldItalic.fntdata"/><Relationship Id="rId13" Type="http://schemas.openxmlformats.org/officeDocument/2006/relationships/slide" Target="slides/slide8.xml"/><Relationship Id="rId57" Type="http://schemas.openxmlformats.org/officeDocument/2006/relationships/font" Target="fonts/RobotoMono-regular.fntdata"/><Relationship Id="rId12" Type="http://schemas.openxmlformats.org/officeDocument/2006/relationships/slide" Target="slides/slide7.xml"/><Relationship Id="rId56" Type="http://schemas.openxmlformats.org/officeDocument/2006/relationships/font" Target="fonts/Tahoma-bold.fntdata"/><Relationship Id="rId15" Type="http://schemas.openxmlformats.org/officeDocument/2006/relationships/slide" Target="slides/slide10.xml"/><Relationship Id="rId59" Type="http://schemas.openxmlformats.org/officeDocument/2006/relationships/font" Target="fonts/RobotoMono-italic.fntdata"/><Relationship Id="rId14" Type="http://schemas.openxmlformats.org/officeDocument/2006/relationships/slide" Target="slides/slide9.xml"/><Relationship Id="rId58" Type="http://schemas.openxmlformats.org/officeDocument/2006/relationships/font" Target="fonts/RobotoMono-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 name="Google Shape;4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9d40625301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g39d40625301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26fb30708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g3a26fb30708_1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a26fb30708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g3a26fb30708_1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9d3727d52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g39d3727d527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9d3727d52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39d3727d527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9d3727d527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39d3727d527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d3727d527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39d3727d527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9d3727d527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g39d3727d527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9d406253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g39d4062530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26fb30708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3a26fb30708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2e0d1e73b9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32e0d1e73b9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26fb30708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3a26fb30708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2e0d1e73b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g32e0d1e73b9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26fb30708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g3a26fb30708_1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2e0d1e73b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32e0d1e73b9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26fb30708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g3a26fb30708_1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26fb30708_1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3a26fb30708_1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26fb30708_1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3a26fb30708_1_2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26fb30708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g3a26fb30708_1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2e0d1e73b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32e0d1e73b9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2e0d1e73b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2e0d1e73b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2e0d1e73b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2e0d1e73b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9d40625301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9d40625301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9d620757c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9d620757c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2e0d1e73b9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2e0d1e73b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a26fb30708_1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a26fb30708_1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9d40625301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9d40625301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a26fb30708_1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a26fb30708_1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a26fb30708_1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a26fb30708_1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a26fb30708_1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a26fb30708_1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a26fb30708_1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a26fb30708_1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a26fb30708_1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g3a26fb30708_1_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9d40625301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9d40625301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9d40625301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9d40625301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9d40625301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9d40625301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9d40625301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9d40625301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9d40625301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9d40625301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a26fb30708_1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a26fb30708_1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9d40625301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g39d40625301_0_2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9d620757c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g39d620757cd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8.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1 1">
  <p:cSld name="CUSTOM_1_1">
    <p:spTree>
      <p:nvGrpSpPr>
        <p:cNvPr id="7" name="Shape 7"/>
        <p:cNvGrpSpPr/>
        <p:nvPr/>
      </p:nvGrpSpPr>
      <p:grpSpPr>
        <a:xfrm>
          <a:off x="0" y="0"/>
          <a:ext cx="0" cy="0"/>
          <a:chOff x="0" y="0"/>
          <a:chExt cx="0" cy="0"/>
        </a:xfrm>
      </p:grpSpPr>
      <p:pic>
        <p:nvPicPr>
          <p:cNvPr id="8" name="Google Shape;8;p2"/>
          <p:cNvPicPr preferRelativeResize="0"/>
          <p:nvPr/>
        </p:nvPicPr>
        <p:blipFill rotWithShape="1">
          <a:blip r:embed="rId2">
            <a:alphaModFix/>
          </a:blip>
          <a:srcRect b="0" l="0" r="0" t="0"/>
          <a:stretch/>
        </p:blipFill>
        <p:spPr>
          <a:xfrm>
            <a:off x="0" y="0"/>
            <a:ext cx="9144002" cy="5143500"/>
          </a:xfrm>
          <a:prstGeom prst="rect">
            <a:avLst/>
          </a:prstGeom>
          <a:noFill/>
          <a:ln>
            <a:noFill/>
          </a:ln>
        </p:spPr>
      </p:pic>
      <p:pic>
        <p:nvPicPr>
          <p:cNvPr id="9" name="Google Shape;9;p2"/>
          <p:cNvPicPr preferRelativeResize="0"/>
          <p:nvPr/>
        </p:nvPicPr>
        <p:blipFill rotWithShape="1">
          <a:blip r:embed="rId3">
            <a:alphaModFix/>
          </a:blip>
          <a:srcRect b="30492" l="0" r="0" t="0"/>
          <a:stretch/>
        </p:blipFill>
        <p:spPr>
          <a:xfrm>
            <a:off x="556524" y="977750"/>
            <a:ext cx="3825572" cy="882875"/>
          </a:xfrm>
          <a:prstGeom prst="rect">
            <a:avLst/>
          </a:prstGeom>
          <a:noFill/>
          <a:ln>
            <a:noFill/>
          </a:ln>
        </p:spPr>
      </p:pic>
      <p:cxnSp>
        <p:nvCxnSpPr>
          <p:cNvPr id="10" name="Google Shape;10;p2"/>
          <p:cNvCxnSpPr/>
          <p:nvPr/>
        </p:nvCxnSpPr>
        <p:spPr>
          <a:xfrm>
            <a:off x="556513" y="2146371"/>
            <a:ext cx="6787200" cy="0"/>
          </a:xfrm>
          <a:prstGeom prst="straightConnector1">
            <a:avLst/>
          </a:prstGeom>
          <a:noFill/>
          <a:ln cap="flat" cmpd="sng" w="9525">
            <a:solidFill>
              <a:srgbClr val="D64693"/>
            </a:solidFill>
            <a:prstDash val="solid"/>
            <a:round/>
            <a:headEnd len="sm" w="sm" type="none"/>
            <a:tailEnd len="sm" w="sm" type="none"/>
          </a:ln>
        </p:spPr>
      </p:cxnSp>
      <p:sp>
        <p:nvSpPr>
          <p:cNvPr id="11" name="Google Shape;11;p2"/>
          <p:cNvSpPr txBox="1"/>
          <p:nvPr>
            <p:ph type="ctrTitle"/>
          </p:nvPr>
        </p:nvSpPr>
        <p:spPr>
          <a:xfrm>
            <a:off x="556525" y="2491850"/>
            <a:ext cx="6787200" cy="51660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000000"/>
              </a:buClr>
              <a:buSzPts val="3000"/>
              <a:buFont typeface="Tahoma"/>
              <a:buNone/>
              <a:defRPr b="1" i="0" sz="3000" u="none" cap="none" strike="noStrike">
                <a:solidFill>
                  <a:srgbClr val="000000"/>
                </a:solidFill>
                <a:latin typeface="Tahoma"/>
                <a:ea typeface="Tahoma"/>
                <a:cs typeface="Tahoma"/>
                <a:sym typeface="Tahoma"/>
              </a:defRPr>
            </a:lvl1pPr>
            <a:lvl2pPr lvl="1"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2pPr>
            <a:lvl3pPr lvl="2"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3pPr>
            <a:lvl4pPr lvl="3"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4pPr>
            <a:lvl5pPr lvl="4"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5pPr>
            <a:lvl6pPr lvl="5"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6pPr>
            <a:lvl7pPr lvl="6"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7pPr>
            <a:lvl8pPr lvl="7"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8pPr>
            <a:lvl9pPr lvl="8"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lide with black logo 1 3">
  <p:cSld name="TITLE_AND_TWO_COLUMNS_1_6">
    <p:spTree>
      <p:nvGrpSpPr>
        <p:cNvPr id="12" name="Shape 12"/>
        <p:cNvGrpSpPr/>
        <p:nvPr/>
      </p:nvGrpSpPr>
      <p:grpSpPr>
        <a:xfrm>
          <a:off x="0" y="0"/>
          <a:ext cx="0" cy="0"/>
          <a:chOff x="0" y="0"/>
          <a:chExt cx="0" cy="0"/>
        </a:xfrm>
      </p:grpSpPr>
      <p:sp>
        <p:nvSpPr>
          <p:cNvPr id="13" name="Google Shape;13;p3"/>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cxnSp>
        <p:nvCxnSpPr>
          <p:cNvPr id="14" name="Google Shape;14;p3"/>
          <p:cNvCxnSpPr/>
          <p:nvPr/>
        </p:nvCxnSpPr>
        <p:spPr>
          <a:xfrm>
            <a:off x="0" y="640900"/>
            <a:ext cx="1563000" cy="0"/>
          </a:xfrm>
          <a:prstGeom prst="straightConnector1">
            <a:avLst/>
          </a:prstGeom>
          <a:noFill/>
          <a:ln cap="flat" cmpd="sng" w="19050">
            <a:solidFill>
              <a:srgbClr val="000000"/>
            </a:solidFill>
            <a:prstDash val="solid"/>
            <a:round/>
            <a:headEnd len="sm" w="sm" type="none"/>
            <a:tailEnd len="med" w="med" type="diamond"/>
          </a:ln>
        </p:spPr>
      </p:cxnSp>
      <p:pic>
        <p:nvPicPr>
          <p:cNvPr id="15" name="Google Shape;15;p3"/>
          <p:cNvPicPr preferRelativeResize="0"/>
          <p:nvPr/>
        </p:nvPicPr>
        <p:blipFill rotWithShape="1">
          <a:blip r:embed="rId2">
            <a:alphaModFix/>
          </a:blip>
          <a:srcRect b="38380" l="0" r="0" t="37945"/>
          <a:stretch/>
        </p:blipFill>
        <p:spPr>
          <a:xfrm>
            <a:off x="7548480" y="127007"/>
            <a:ext cx="1463649" cy="34652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Black logo 1 1 1 1 1 1 1 2 1 2 1 1 2">
  <p:cSld name="CUSTOM_6_1_1_1_1_1_1_1_2_1_2_1_1_2">
    <p:bg>
      <p:bgPr>
        <a:noFill/>
      </p:bgPr>
    </p:bg>
    <p:spTree>
      <p:nvGrpSpPr>
        <p:cNvPr id="16" name="Shape 16"/>
        <p:cNvGrpSpPr/>
        <p:nvPr/>
      </p:nvGrpSpPr>
      <p:grpSpPr>
        <a:xfrm>
          <a:off x="0" y="0"/>
          <a:ext cx="0" cy="0"/>
          <a:chOff x="0" y="0"/>
          <a:chExt cx="0" cy="0"/>
        </a:xfrm>
      </p:grpSpPr>
      <p:sp>
        <p:nvSpPr>
          <p:cNvPr id="17" name="Google Shape;17;p4"/>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8" name="Google Shape;18;p4"/>
          <p:cNvPicPr preferRelativeResize="0"/>
          <p:nvPr/>
        </p:nvPicPr>
        <p:blipFill rotWithShape="1">
          <a:blip r:embed="rId2">
            <a:alphaModFix/>
          </a:blip>
          <a:srcRect b="0" l="0" r="0" t="0"/>
          <a:stretch/>
        </p:blipFill>
        <p:spPr>
          <a:xfrm>
            <a:off x="0" y="-2623"/>
            <a:ext cx="9144000" cy="5143505"/>
          </a:xfrm>
          <a:prstGeom prst="rect">
            <a:avLst/>
          </a:prstGeom>
          <a:noFill/>
          <a:ln>
            <a:noFill/>
          </a:ln>
        </p:spPr>
      </p:pic>
      <p:pic>
        <p:nvPicPr>
          <p:cNvPr id="19" name="Google Shape;19;p4"/>
          <p:cNvPicPr preferRelativeResize="0"/>
          <p:nvPr/>
        </p:nvPicPr>
        <p:blipFill rotWithShape="1">
          <a:blip r:embed="rId3">
            <a:alphaModFix/>
          </a:blip>
          <a:srcRect b="38380" l="0" r="0" t="37945"/>
          <a:stretch/>
        </p:blipFill>
        <p:spPr>
          <a:xfrm>
            <a:off x="7548480" y="127007"/>
            <a:ext cx="1463649" cy="34652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without Title">
  <p:cSld name="Title Slide_1">
    <p:spTree>
      <p:nvGrpSpPr>
        <p:cNvPr id="20" name="Shape 20"/>
        <p:cNvGrpSpPr/>
        <p:nvPr/>
      </p:nvGrpSpPr>
      <p:grpSpPr>
        <a:xfrm>
          <a:off x="0" y="0"/>
          <a:ext cx="0" cy="0"/>
          <a:chOff x="0" y="0"/>
          <a:chExt cx="0" cy="0"/>
        </a:xfrm>
      </p:grpSpPr>
      <p:pic>
        <p:nvPicPr>
          <p:cNvPr id="21" name="Google Shape;21;p5"/>
          <p:cNvPicPr preferRelativeResize="0"/>
          <p:nvPr/>
        </p:nvPicPr>
        <p:blipFill rotWithShape="1">
          <a:blip r:embed="rId2">
            <a:alphaModFix/>
          </a:blip>
          <a:srcRect b="38380" l="0" r="0" t="37945"/>
          <a:stretch/>
        </p:blipFill>
        <p:spPr>
          <a:xfrm>
            <a:off x="7548480" y="127007"/>
            <a:ext cx="1463649" cy="34652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emplate 1">
  <p:cSld name="2020 LI_Title and Content_1_1_1_1">
    <p:spTree>
      <p:nvGrpSpPr>
        <p:cNvPr id="22" name="Shape 22"/>
        <p:cNvGrpSpPr/>
        <p:nvPr/>
      </p:nvGrpSpPr>
      <p:grpSpPr>
        <a:xfrm>
          <a:off x="0" y="0"/>
          <a:ext cx="0" cy="0"/>
          <a:chOff x="0" y="0"/>
          <a:chExt cx="0" cy="0"/>
        </a:xfrm>
      </p:grpSpPr>
      <p:sp>
        <p:nvSpPr>
          <p:cNvPr id="23" name="Google Shape;23;p6"/>
          <p:cNvSpPr txBox="1"/>
          <p:nvPr>
            <p:ph idx="12" type="sldNum"/>
          </p:nvPr>
        </p:nvSpPr>
        <p:spPr>
          <a:xfrm>
            <a:off x="9193541" y="4838318"/>
            <a:ext cx="0" cy="825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4" name="Google Shape;24;p6"/>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id="25" name="Google Shape;25;p6"/>
          <p:cNvPicPr preferRelativeResize="0"/>
          <p:nvPr/>
        </p:nvPicPr>
        <p:blipFill rotWithShape="1">
          <a:blip r:embed="rId3">
            <a:alphaModFix/>
          </a:blip>
          <a:srcRect b="38380" l="0" r="0" t="37945"/>
          <a:stretch/>
        </p:blipFill>
        <p:spPr>
          <a:xfrm>
            <a:off x="7548480" y="127007"/>
            <a:ext cx="1463649" cy="346527"/>
          </a:xfrm>
          <a:prstGeom prst="rect">
            <a:avLst/>
          </a:prstGeom>
          <a:noFill/>
          <a:ln>
            <a:noFill/>
          </a:ln>
        </p:spPr>
      </p:pic>
      <p:sp>
        <p:nvSpPr>
          <p:cNvPr id="26" name="Google Shape;26;p6"/>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cxnSp>
        <p:nvCxnSpPr>
          <p:cNvPr id="27" name="Google Shape;27;p6"/>
          <p:cNvCxnSpPr/>
          <p:nvPr/>
        </p:nvCxnSpPr>
        <p:spPr>
          <a:xfrm>
            <a:off x="0" y="640900"/>
            <a:ext cx="1563000" cy="0"/>
          </a:xfrm>
          <a:prstGeom prst="straightConnector1">
            <a:avLst/>
          </a:prstGeom>
          <a:noFill/>
          <a:ln cap="flat" cmpd="sng" w="19050">
            <a:solidFill>
              <a:srgbClr val="000000"/>
            </a:solidFill>
            <a:prstDash val="solid"/>
            <a:round/>
            <a:headEnd len="sm" w="sm" type="none"/>
            <a:tailEnd len="med" w="med" type="diamon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you Slide 1">
  <p:cSld name="TITLE_AND_TWO_COLUMNS_2_1">
    <p:spTree>
      <p:nvGrpSpPr>
        <p:cNvPr id="28" name="Shape 28"/>
        <p:cNvGrpSpPr/>
        <p:nvPr/>
      </p:nvGrpSpPr>
      <p:grpSpPr>
        <a:xfrm>
          <a:off x="0" y="0"/>
          <a:ext cx="0" cy="0"/>
          <a:chOff x="0" y="0"/>
          <a:chExt cx="0" cy="0"/>
        </a:xfrm>
      </p:grpSpPr>
      <p:pic>
        <p:nvPicPr>
          <p:cNvPr id="29" name="Google Shape;29;p7"/>
          <p:cNvPicPr preferRelativeResize="0"/>
          <p:nvPr/>
        </p:nvPicPr>
        <p:blipFill rotWithShape="1">
          <a:blip r:embed="rId2">
            <a:alphaModFix/>
          </a:blip>
          <a:srcRect b="0" l="0" r="0" t="0"/>
          <a:stretch/>
        </p:blipFill>
        <p:spPr>
          <a:xfrm>
            <a:off x="3300" y="0"/>
            <a:ext cx="9144000" cy="5143500"/>
          </a:xfrm>
          <a:prstGeom prst="rect">
            <a:avLst/>
          </a:prstGeom>
          <a:noFill/>
          <a:ln>
            <a:noFill/>
          </a:ln>
        </p:spPr>
      </p:pic>
      <p:pic>
        <p:nvPicPr>
          <p:cNvPr id="30" name="Google Shape;30;p7"/>
          <p:cNvPicPr preferRelativeResize="0"/>
          <p:nvPr/>
        </p:nvPicPr>
        <p:blipFill rotWithShape="1">
          <a:blip r:embed="rId3">
            <a:alphaModFix/>
          </a:blip>
          <a:srcRect b="0" l="0" r="0" t="0"/>
          <a:stretch/>
        </p:blipFill>
        <p:spPr>
          <a:xfrm>
            <a:off x="3300" y="0"/>
            <a:ext cx="9144000" cy="5143500"/>
          </a:xfrm>
          <a:prstGeom prst="rect">
            <a:avLst/>
          </a:prstGeom>
          <a:noFill/>
          <a:ln>
            <a:noFill/>
          </a:ln>
        </p:spPr>
      </p:pic>
      <p:pic>
        <p:nvPicPr>
          <p:cNvPr id="31" name="Google Shape;31;p7"/>
          <p:cNvPicPr preferRelativeResize="0"/>
          <p:nvPr/>
        </p:nvPicPr>
        <p:blipFill rotWithShape="1">
          <a:blip r:embed="rId4">
            <a:alphaModFix/>
          </a:blip>
          <a:srcRect b="38380" l="0" r="0" t="37945"/>
          <a:stretch/>
        </p:blipFill>
        <p:spPr>
          <a:xfrm>
            <a:off x="7548480" y="127007"/>
            <a:ext cx="1463649" cy="346527"/>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32" name="Shape 32"/>
        <p:cNvGrpSpPr/>
        <p:nvPr/>
      </p:nvGrpSpPr>
      <p:grpSpPr>
        <a:xfrm>
          <a:off x="0" y="0"/>
          <a:ext cx="0" cy="0"/>
          <a:chOff x="0" y="0"/>
          <a:chExt cx="0" cy="0"/>
        </a:xfrm>
      </p:grpSpPr>
      <p:pic>
        <p:nvPicPr>
          <p:cNvPr id="33" name="Google Shape;33;p8"/>
          <p:cNvPicPr preferRelativeResize="0"/>
          <p:nvPr/>
        </p:nvPicPr>
        <p:blipFill rotWithShape="1">
          <a:blip r:embed="rId2">
            <a:alphaModFix/>
          </a:blip>
          <a:srcRect b="0" l="0" r="0" t="0"/>
          <a:stretch/>
        </p:blipFill>
        <p:spPr>
          <a:xfrm>
            <a:off x="0" y="0"/>
            <a:ext cx="9144002" cy="51435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Black logo 1 1 1 1 1 1 1 2 1 2 1 1 2 1">
  <p:cSld name="CUSTOM_6_1_1_1_1_1_1_1_2_1_2_1_1_2_1">
    <p:bg>
      <p:bgPr>
        <a:noFill/>
      </p:bgPr>
    </p:bg>
    <p:spTree>
      <p:nvGrpSpPr>
        <p:cNvPr id="34" name="Shape 34"/>
        <p:cNvGrpSpPr/>
        <p:nvPr/>
      </p:nvGrpSpPr>
      <p:grpSpPr>
        <a:xfrm>
          <a:off x="0" y="0"/>
          <a:ext cx="0" cy="0"/>
          <a:chOff x="0" y="0"/>
          <a:chExt cx="0" cy="0"/>
        </a:xfrm>
      </p:grpSpPr>
      <p:sp>
        <p:nvSpPr>
          <p:cNvPr id="35" name="Google Shape;35;p9"/>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36" name="Google Shape;36;p9"/>
          <p:cNvPicPr preferRelativeResize="0"/>
          <p:nvPr/>
        </p:nvPicPr>
        <p:blipFill rotWithShape="1">
          <a:blip r:embed="rId2">
            <a:alphaModFix/>
          </a:blip>
          <a:srcRect b="0" l="0" r="0" t="0"/>
          <a:stretch/>
        </p:blipFill>
        <p:spPr>
          <a:xfrm>
            <a:off x="0" y="-2623"/>
            <a:ext cx="9144000" cy="5143505"/>
          </a:xfrm>
          <a:prstGeom prst="rect">
            <a:avLst/>
          </a:prstGeom>
          <a:noFill/>
          <a:ln>
            <a:noFill/>
          </a:ln>
        </p:spPr>
      </p:pic>
      <p:pic>
        <p:nvPicPr>
          <p:cNvPr id="37" name="Google Shape;37;p9"/>
          <p:cNvPicPr preferRelativeResize="0"/>
          <p:nvPr/>
        </p:nvPicPr>
        <p:blipFill rotWithShape="1">
          <a:blip r:embed="rId3">
            <a:alphaModFix/>
          </a:blip>
          <a:srcRect b="38380" l="0" r="0" t="37945"/>
          <a:stretch/>
        </p:blipFill>
        <p:spPr>
          <a:xfrm>
            <a:off x="7548480" y="127007"/>
            <a:ext cx="1463649" cy="346527"/>
          </a:xfrm>
          <a:prstGeom prst="rect">
            <a:avLst/>
          </a:prstGeom>
          <a:noFill/>
          <a:ln>
            <a:noFill/>
          </a:ln>
        </p:spPr>
      </p:pic>
      <p:sp>
        <p:nvSpPr>
          <p:cNvPr id="38" name="Google Shape;38;p9"/>
          <p:cNvSpPr txBox="1"/>
          <p:nvPr>
            <p:ph type="ctrTitle"/>
          </p:nvPr>
        </p:nvSpPr>
        <p:spPr>
          <a:xfrm>
            <a:off x="1178400" y="2310825"/>
            <a:ext cx="6787200" cy="516600"/>
          </a:xfrm>
          <a:prstGeom prst="rect">
            <a:avLst/>
          </a:prstGeom>
          <a:noFill/>
          <a:ln>
            <a:noFill/>
          </a:ln>
        </p:spPr>
        <p:txBody>
          <a:bodyPr anchorCtr="0" anchor="t" bIns="0" lIns="0" spcFirstLastPara="1" rIns="0" wrap="square" tIns="0">
            <a:noAutofit/>
          </a:bodyPr>
          <a:lstStyle>
            <a:lvl1pPr lvl="0" marR="0" rtl="0" algn="ctr">
              <a:lnSpc>
                <a:spcPct val="115000"/>
              </a:lnSpc>
              <a:spcBef>
                <a:spcPts val="0"/>
              </a:spcBef>
              <a:spcAft>
                <a:spcPts val="0"/>
              </a:spcAft>
              <a:buClr>
                <a:srgbClr val="183F66"/>
              </a:buClr>
              <a:buSzPts val="3200"/>
              <a:buFont typeface="Century Gothic"/>
              <a:buNone/>
              <a:defRPr b="1" i="0" sz="3200" u="none" cap="none" strike="noStrike">
                <a:solidFill>
                  <a:srgbClr val="183F66"/>
                </a:solidFill>
                <a:latin typeface="Century Gothic"/>
                <a:ea typeface="Century Gothic"/>
                <a:cs typeface="Century Gothic"/>
                <a:sym typeface="Century Gothic"/>
              </a:defRPr>
            </a:lvl1pPr>
            <a:lvl2pPr lvl="1"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2pPr>
            <a:lvl3pPr lvl="2"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3pPr>
            <a:lvl4pPr lvl="3"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4pPr>
            <a:lvl5pPr lvl="4"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5pPr>
            <a:lvl6pPr lvl="5"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6pPr>
            <a:lvl7pPr lvl="6"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7pPr>
            <a:lvl8pPr lvl="7"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8pPr>
            <a:lvl9pPr lvl="8"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Logo, Footer &amp; Body 1">
  <p:cSld name="TITLE_AND_TWO_COLUMNS_1_3_1_1">
    <p:spTree>
      <p:nvGrpSpPr>
        <p:cNvPr id="39" name="Shape 3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9193541" y="4838318"/>
            <a:ext cx="0" cy="825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44">
          <p15:clr>
            <a:srgbClr val="F26B43"/>
          </p15:clr>
        </p15:guide>
        <p15:guide id="2" pos="5628">
          <p15:clr>
            <a:srgbClr val="F26B43"/>
          </p15:clr>
        </p15:guide>
        <p15:guide id="3" pos="1864">
          <p15:clr>
            <a:srgbClr val="F26B43"/>
          </p15:clr>
        </p15:guide>
        <p15:guide id="4" pos="2880">
          <p15:clr>
            <a:srgbClr val="F26B43"/>
          </p15:clr>
        </p15:guide>
        <p15:guide id="5" pos="3736">
          <p15:clr>
            <a:srgbClr val="F26B43"/>
          </p15:clr>
        </p15:guide>
        <p15:guide id="6" pos="3896">
          <p15:clr>
            <a:srgbClr val="F26B43"/>
          </p15:clr>
        </p15:guide>
        <p15:guide id="7" orient="horz" pos="468">
          <p15:clr>
            <a:srgbClr val="F26B43"/>
          </p15:clr>
        </p15:guide>
        <p15:guide id="8" orient="horz" pos="2936">
          <p15:clr>
            <a:srgbClr val="F26B43"/>
          </p15:clr>
        </p15:guide>
        <p15:guide id="9" orient="horz" pos="1638">
          <p15:clr>
            <a:srgbClr val="F26B43"/>
          </p15:clr>
        </p15:guide>
        <p15:guide id="10" orient="horz" pos="1764">
          <p15:clr>
            <a:srgbClr val="F26B43"/>
          </p15:clr>
        </p15:guide>
        <p15:guide id="11" pos="200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2.png"/><Relationship Id="rId7" Type="http://schemas.openxmlformats.org/officeDocument/2006/relationships/image" Target="../media/image21.png"/><Relationship Id="rId8"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0.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3.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2.png"/><Relationship Id="rId4" Type="http://schemas.openxmlformats.org/officeDocument/2006/relationships/image" Target="../media/image27.png"/><Relationship Id="rId5"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vite.dev/guide/#scaffolding-your-first-vite-project" TargetMode="External"/><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5.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docs.google.com/document/d/11lssqncmATsdPIY1JJBQzVzEwO-1vedTZ5ViCrGZYc0/edit?tab=t.0"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1"/>
          <p:cNvSpPr txBox="1"/>
          <p:nvPr>
            <p:ph type="ctrTitle"/>
          </p:nvPr>
        </p:nvSpPr>
        <p:spPr>
          <a:xfrm>
            <a:off x="556525" y="2491850"/>
            <a:ext cx="7439100" cy="516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React JS:</a:t>
            </a:r>
            <a:endParaRPr/>
          </a:p>
          <a:p>
            <a:pPr indent="0" lvl="0" marL="0" rtl="0" algn="l">
              <a:spcBef>
                <a:spcPts val="0"/>
              </a:spcBef>
              <a:spcAft>
                <a:spcPts val="0"/>
              </a:spcAft>
              <a:buClr>
                <a:schemeClr val="dk1"/>
              </a:buClr>
              <a:buSzPts val="1100"/>
              <a:buFont typeface="Arial"/>
              <a:buNone/>
            </a:pPr>
            <a:r>
              <a:rPr lang="en"/>
              <a:t>Intro, State &amp; Props</a:t>
            </a:r>
            <a:endParaRPr/>
          </a:p>
          <a:p>
            <a:pPr indent="0" lvl="0" marL="0" rtl="0" algn="l">
              <a:lnSpc>
                <a:spcPct val="115000"/>
              </a:lnSpc>
              <a:spcBef>
                <a:spcPts val="0"/>
              </a:spcBef>
              <a:spcAft>
                <a:spcPts val="0"/>
              </a:spcAft>
              <a:buSzPts val="3000"/>
              <a:buNone/>
            </a:pPr>
            <a:r>
              <a:t/>
            </a:r>
            <a:endParaRPr/>
          </a:p>
        </p:txBody>
      </p:sp>
      <p:pic>
        <p:nvPicPr>
          <p:cNvPr id="45" name="Google Shape;45;p11"/>
          <p:cNvPicPr preferRelativeResize="0"/>
          <p:nvPr/>
        </p:nvPicPr>
        <p:blipFill rotWithShape="1">
          <a:blip r:embed="rId3">
            <a:alphaModFix/>
          </a:blip>
          <a:srcRect b="0" l="0" r="44858" t="0"/>
          <a:stretch/>
        </p:blipFill>
        <p:spPr>
          <a:xfrm>
            <a:off x="7291821" y="166727"/>
            <a:ext cx="491889" cy="516601"/>
          </a:xfrm>
          <a:prstGeom prst="rect">
            <a:avLst/>
          </a:prstGeom>
          <a:noFill/>
          <a:ln>
            <a:noFill/>
          </a:ln>
        </p:spPr>
      </p:pic>
      <p:pic>
        <p:nvPicPr>
          <p:cNvPr id="46" name="Google Shape;46;p11"/>
          <p:cNvPicPr preferRelativeResize="0"/>
          <p:nvPr/>
        </p:nvPicPr>
        <p:blipFill rotWithShape="1">
          <a:blip r:embed="rId4">
            <a:alphaModFix/>
          </a:blip>
          <a:srcRect b="0" l="0" r="0" t="0"/>
          <a:stretch/>
        </p:blipFill>
        <p:spPr>
          <a:xfrm>
            <a:off x="7879647" y="267041"/>
            <a:ext cx="1031154" cy="315973"/>
          </a:xfrm>
          <a:prstGeom prst="rect">
            <a:avLst/>
          </a:prstGeom>
          <a:noFill/>
          <a:ln>
            <a:noFill/>
          </a:ln>
        </p:spPr>
      </p:pic>
      <p:grpSp>
        <p:nvGrpSpPr>
          <p:cNvPr id="47" name="Google Shape;47;p11"/>
          <p:cNvGrpSpPr/>
          <p:nvPr/>
        </p:nvGrpSpPr>
        <p:grpSpPr>
          <a:xfrm>
            <a:off x="3433374" y="4727449"/>
            <a:ext cx="5477414" cy="197700"/>
            <a:chOff x="3433374" y="4727449"/>
            <a:chExt cx="5477414" cy="197700"/>
          </a:xfrm>
        </p:grpSpPr>
        <p:sp>
          <p:nvSpPr>
            <p:cNvPr id="48" name="Google Shape;48;p11"/>
            <p:cNvSpPr txBox="1"/>
            <p:nvPr/>
          </p:nvSpPr>
          <p:spPr>
            <a:xfrm>
              <a:off x="3433374" y="4727449"/>
              <a:ext cx="1227900" cy="197700"/>
            </a:xfrm>
            <a:prstGeom prst="rect">
              <a:avLst/>
            </a:prstGeom>
            <a:noFill/>
            <a:ln>
              <a:noFill/>
            </a:ln>
          </p:spPr>
          <p:txBody>
            <a:bodyPr anchorCtr="0" anchor="ctr" bIns="68575" lIns="0" spcFirstLastPara="1" rIns="68575" wrap="square" tIns="6857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Century Gothic"/>
                  <a:ea typeface="Century Gothic"/>
                  <a:cs typeface="Century Gothic"/>
                  <a:sym typeface="Century Gothic"/>
                </a:rPr>
                <a:t>Proudly recognized by</a:t>
              </a:r>
              <a:endParaRPr b="1" i="0" sz="800" u="none" cap="none" strike="noStrike">
                <a:solidFill>
                  <a:srgbClr val="000000"/>
                </a:solidFill>
                <a:latin typeface="Century Gothic"/>
                <a:ea typeface="Century Gothic"/>
                <a:cs typeface="Century Gothic"/>
                <a:sym typeface="Century Gothic"/>
              </a:endParaRPr>
            </a:p>
          </p:txBody>
        </p:sp>
        <p:cxnSp>
          <p:nvCxnSpPr>
            <p:cNvPr id="49" name="Google Shape;49;p11"/>
            <p:cNvCxnSpPr/>
            <p:nvPr/>
          </p:nvCxnSpPr>
          <p:spPr>
            <a:xfrm>
              <a:off x="4631412" y="4826299"/>
              <a:ext cx="282300" cy="0"/>
            </a:xfrm>
            <a:prstGeom prst="straightConnector1">
              <a:avLst/>
            </a:prstGeom>
            <a:noFill/>
            <a:ln cap="flat" cmpd="sng" w="9525">
              <a:solidFill>
                <a:srgbClr val="D64693"/>
              </a:solidFill>
              <a:prstDash val="solid"/>
              <a:round/>
              <a:headEnd len="sm" w="sm" type="none"/>
              <a:tailEnd len="med" w="med" type="oval"/>
            </a:ln>
          </p:spPr>
        </p:cxnSp>
        <p:cxnSp>
          <p:nvCxnSpPr>
            <p:cNvPr id="50" name="Google Shape;50;p11"/>
            <p:cNvCxnSpPr/>
            <p:nvPr/>
          </p:nvCxnSpPr>
          <p:spPr>
            <a:xfrm>
              <a:off x="5345857" y="4751899"/>
              <a:ext cx="0" cy="148800"/>
            </a:xfrm>
            <a:prstGeom prst="straightConnector1">
              <a:avLst/>
            </a:prstGeom>
            <a:noFill/>
            <a:ln cap="flat" cmpd="sng" w="9525">
              <a:solidFill>
                <a:srgbClr val="999999"/>
              </a:solidFill>
              <a:prstDash val="dot"/>
              <a:round/>
              <a:headEnd len="sm" w="sm" type="none"/>
              <a:tailEnd len="sm" w="sm" type="none"/>
            </a:ln>
          </p:spPr>
        </p:cxnSp>
        <p:cxnSp>
          <p:nvCxnSpPr>
            <p:cNvPr id="51" name="Google Shape;51;p11"/>
            <p:cNvCxnSpPr/>
            <p:nvPr/>
          </p:nvCxnSpPr>
          <p:spPr>
            <a:xfrm>
              <a:off x="6029754" y="4751899"/>
              <a:ext cx="0" cy="148800"/>
            </a:xfrm>
            <a:prstGeom prst="straightConnector1">
              <a:avLst/>
            </a:prstGeom>
            <a:noFill/>
            <a:ln cap="flat" cmpd="sng" w="9525">
              <a:solidFill>
                <a:srgbClr val="999999"/>
              </a:solidFill>
              <a:prstDash val="dot"/>
              <a:round/>
              <a:headEnd len="sm" w="sm" type="none"/>
              <a:tailEnd len="sm" w="sm" type="none"/>
            </a:ln>
          </p:spPr>
        </p:cxnSp>
        <p:pic>
          <p:nvPicPr>
            <p:cNvPr id="52" name="Google Shape;52;p11"/>
            <p:cNvPicPr preferRelativeResize="0"/>
            <p:nvPr/>
          </p:nvPicPr>
          <p:blipFill rotWithShape="1">
            <a:blip r:embed="rId5">
              <a:alphaModFix/>
            </a:blip>
            <a:srcRect b="0" l="0" r="0" t="0"/>
            <a:stretch/>
          </p:blipFill>
          <p:spPr>
            <a:xfrm>
              <a:off x="5440706" y="4751946"/>
              <a:ext cx="490692" cy="148705"/>
            </a:xfrm>
            <a:prstGeom prst="rect">
              <a:avLst/>
            </a:prstGeom>
            <a:noFill/>
            <a:ln>
              <a:noFill/>
            </a:ln>
          </p:spPr>
        </p:pic>
        <p:pic>
          <p:nvPicPr>
            <p:cNvPr id="53" name="Google Shape;53;p11"/>
            <p:cNvPicPr preferRelativeResize="0"/>
            <p:nvPr/>
          </p:nvPicPr>
          <p:blipFill rotWithShape="1">
            <a:blip r:embed="rId6">
              <a:alphaModFix/>
            </a:blip>
            <a:srcRect b="0" l="0" r="0" t="0"/>
            <a:stretch/>
          </p:blipFill>
          <p:spPr>
            <a:xfrm>
              <a:off x="5027578" y="4732311"/>
              <a:ext cx="182546" cy="187975"/>
            </a:xfrm>
            <a:prstGeom prst="rect">
              <a:avLst/>
            </a:prstGeom>
            <a:noFill/>
            <a:ln>
              <a:noFill/>
            </a:ln>
          </p:spPr>
        </p:pic>
        <p:pic>
          <p:nvPicPr>
            <p:cNvPr id="54" name="Google Shape;54;p11"/>
            <p:cNvPicPr preferRelativeResize="0"/>
            <p:nvPr/>
          </p:nvPicPr>
          <p:blipFill rotWithShape="1">
            <a:blip r:embed="rId7">
              <a:alphaModFix/>
            </a:blip>
            <a:srcRect b="0" l="0" r="0" t="0"/>
            <a:stretch/>
          </p:blipFill>
          <p:spPr>
            <a:xfrm>
              <a:off x="7257426" y="4758380"/>
              <a:ext cx="590648" cy="135836"/>
            </a:xfrm>
            <a:prstGeom prst="rect">
              <a:avLst/>
            </a:prstGeom>
            <a:noFill/>
            <a:ln>
              <a:noFill/>
            </a:ln>
          </p:spPr>
        </p:pic>
        <p:cxnSp>
          <p:nvCxnSpPr>
            <p:cNvPr id="55" name="Google Shape;55;p11"/>
            <p:cNvCxnSpPr/>
            <p:nvPr/>
          </p:nvCxnSpPr>
          <p:spPr>
            <a:xfrm>
              <a:off x="7132075" y="4751899"/>
              <a:ext cx="0" cy="148800"/>
            </a:xfrm>
            <a:prstGeom prst="straightConnector1">
              <a:avLst/>
            </a:prstGeom>
            <a:noFill/>
            <a:ln cap="flat" cmpd="sng" w="9525">
              <a:solidFill>
                <a:srgbClr val="999999"/>
              </a:solidFill>
              <a:prstDash val="dot"/>
              <a:round/>
              <a:headEnd len="sm" w="sm" type="none"/>
              <a:tailEnd len="sm" w="sm" type="none"/>
            </a:ln>
          </p:spPr>
        </p:cxnSp>
        <p:pic>
          <p:nvPicPr>
            <p:cNvPr id="56" name="Google Shape;56;p11"/>
            <p:cNvPicPr preferRelativeResize="0"/>
            <p:nvPr/>
          </p:nvPicPr>
          <p:blipFill rotWithShape="1">
            <a:blip r:embed="rId8">
              <a:alphaModFix/>
            </a:blip>
            <a:srcRect b="0" l="0" r="0" t="0"/>
            <a:stretch/>
          </p:blipFill>
          <p:spPr>
            <a:xfrm>
              <a:off x="8050490" y="4751948"/>
              <a:ext cx="860298" cy="148700"/>
            </a:xfrm>
            <a:prstGeom prst="rect">
              <a:avLst/>
            </a:prstGeom>
            <a:noFill/>
            <a:ln>
              <a:noFill/>
            </a:ln>
          </p:spPr>
        </p:pic>
        <p:cxnSp>
          <p:nvCxnSpPr>
            <p:cNvPr id="57" name="Google Shape;57;p11"/>
            <p:cNvCxnSpPr/>
            <p:nvPr/>
          </p:nvCxnSpPr>
          <p:spPr>
            <a:xfrm>
              <a:off x="7956968" y="4751899"/>
              <a:ext cx="0" cy="148800"/>
            </a:xfrm>
            <a:prstGeom prst="straightConnector1">
              <a:avLst/>
            </a:prstGeom>
            <a:noFill/>
            <a:ln cap="flat" cmpd="sng" w="9525">
              <a:solidFill>
                <a:srgbClr val="999999"/>
              </a:solidFill>
              <a:prstDash val="dot"/>
              <a:round/>
              <a:headEnd len="sm" w="sm" type="none"/>
              <a:tailEnd len="sm" w="sm" type="none"/>
            </a:ln>
          </p:spPr>
        </p:cxnSp>
        <p:pic>
          <p:nvPicPr>
            <p:cNvPr id="58" name="Google Shape;58;p11"/>
            <p:cNvPicPr preferRelativeResize="0"/>
            <p:nvPr/>
          </p:nvPicPr>
          <p:blipFill rotWithShape="1">
            <a:blip r:embed="rId9">
              <a:alphaModFix/>
            </a:blip>
            <a:srcRect b="0" l="0" r="0" t="0"/>
            <a:stretch/>
          </p:blipFill>
          <p:spPr>
            <a:xfrm>
              <a:off x="6110048" y="4743760"/>
              <a:ext cx="941727" cy="165078"/>
            </a:xfrm>
            <a:prstGeom prst="rect">
              <a:avLst/>
            </a:prstGeom>
            <a:noFill/>
            <a:ln>
              <a:noFill/>
            </a:ln>
          </p:spPr>
        </p:pic>
      </p:grpSp>
      <p:sp>
        <p:nvSpPr>
          <p:cNvPr id="59" name="Google Shape;59;p11"/>
          <p:cNvSpPr txBox="1"/>
          <p:nvPr/>
        </p:nvSpPr>
        <p:spPr>
          <a:xfrm>
            <a:off x="7006925" y="4040650"/>
            <a:ext cx="20823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Mohit Raj Purohit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2"/>
          <p:cNvSpPr txBox="1"/>
          <p:nvPr/>
        </p:nvSpPr>
        <p:spPr>
          <a:xfrm>
            <a:off x="557775" y="2257500"/>
            <a:ext cx="2366400" cy="628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0"/>
              <a:buFont typeface="Arial"/>
              <a:buNone/>
            </a:pPr>
            <a:r>
              <a:rPr b="1" i="0" lang="en" sz="4000" u="none" cap="none" strike="noStrike">
                <a:solidFill>
                  <a:srgbClr val="231F20"/>
                </a:solidFill>
                <a:latin typeface="Century Gothic"/>
                <a:ea typeface="Century Gothic"/>
                <a:cs typeface="Century Gothic"/>
                <a:sym typeface="Century Gothic"/>
              </a:rPr>
              <a:t>Agenda</a:t>
            </a:r>
            <a:endParaRPr b="1" i="0" sz="4000" u="none" cap="none" strike="noStrike">
              <a:solidFill>
                <a:srgbClr val="000000"/>
              </a:solidFill>
              <a:latin typeface="Century Gothic"/>
              <a:ea typeface="Century Gothic"/>
              <a:cs typeface="Century Gothic"/>
              <a:sym typeface="Century Gothic"/>
            </a:endParaRPr>
          </a:p>
        </p:txBody>
      </p:sp>
      <p:sp>
        <p:nvSpPr>
          <p:cNvPr id="65" name="Google Shape;65;p12"/>
          <p:cNvSpPr txBox="1"/>
          <p:nvPr/>
        </p:nvSpPr>
        <p:spPr>
          <a:xfrm>
            <a:off x="4185050" y="1008600"/>
            <a:ext cx="4000500" cy="1385400"/>
          </a:xfrm>
          <a:prstGeom prst="rect">
            <a:avLst/>
          </a:prstGeom>
          <a:noFill/>
          <a:ln>
            <a:noFill/>
          </a:ln>
        </p:spPr>
        <p:txBody>
          <a:bodyPr anchorCtr="0" anchor="t" bIns="91425" lIns="0" spcFirstLastPara="1" rIns="91425" wrap="square" tIns="0">
            <a:spAutoFit/>
          </a:bodyPr>
          <a:lstStyle/>
          <a:p>
            <a:pPr indent="-304800" lvl="0" marL="365760" marR="0" rtl="0" algn="l">
              <a:lnSpc>
                <a:spcPct val="200000"/>
              </a:lnSpc>
              <a:spcBef>
                <a:spcPts val="0"/>
              </a:spcBef>
              <a:spcAft>
                <a:spcPts val="0"/>
              </a:spcAft>
              <a:buClr>
                <a:schemeClr val="dk1"/>
              </a:buClr>
              <a:buSzPts val="1200"/>
              <a:buFont typeface="Tahoma"/>
              <a:buAutoNum type="arabicPeriod"/>
            </a:pPr>
            <a:r>
              <a:rPr lang="en" sz="1200">
                <a:solidFill>
                  <a:schemeClr val="dk1"/>
                </a:solidFill>
                <a:latin typeface="Tahoma"/>
                <a:ea typeface="Tahoma"/>
                <a:cs typeface="Tahoma"/>
                <a:sym typeface="Tahoma"/>
              </a:rPr>
              <a:t>React Introduction</a:t>
            </a:r>
            <a:endParaRPr sz="1200">
              <a:solidFill>
                <a:schemeClr val="dk1"/>
              </a:solidFill>
              <a:latin typeface="Tahoma"/>
              <a:ea typeface="Tahoma"/>
              <a:cs typeface="Tahoma"/>
              <a:sym typeface="Tahoma"/>
            </a:endParaRPr>
          </a:p>
          <a:p>
            <a:pPr indent="-304800" lvl="0" marL="365760" marR="0" rtl="0" algn="l">
              <a:lnSpc>
                <a:spcPct val="200000"/>
              </a:lnSpc>
              <a:spcBef>
                <a:spcPts val="0"/>
              </a:spcBef>
              <a:spcAft>
                <a:spcPts val="0"/>
              </a:spcAft>
              <a:buClr>
                <a:schemeClr val="dk1"/>
              </a:buClr>
              <a:buSzPts val="1200"/>
              <a:buFont typeface="Tahoma"/>
              <a:buAutoNum type="arabicPeriod"/>
            </a:pPr>
            <a:r>
              <a:rPr lang="en" sz="1200">
                <a:solidFill>
                  <a:schemeClr val="dk1"/>
                </a:solidFill>
                <a:latin typeface="Tahoma"/>
                <a:ea typeface="Tahoma"/>
                <a:cs typeface="Tahoma"/>
                <a:sym typeface="Tahoma"/>
              </a:rPr>
              <a:t>Vite React</a:t>
            </a:r>
            <a:endParaRPr sz="1200">
              <a:solidFill>
                <a:schemeClr val="dk1"/>
              </a:solidFill>
              <a:latin typeface="Tahoma"/>
              <a:ea typeface="Tahoma"/>
              <a:cs typeface="Tahoma"/>
              <a:sym typeface="Tahoma"/>
            </a:endParaRPr>
          </a:p>
          <a:p>
            <a:pPr indent="-304800" lvl="0" marL="365760" marR="0" rtl="0" algn="l">
              <a:lnSpc>
                <a:spcPct val="200000"/>
              </a:lnSpc>
              <a:spcBef>
                <a:spcPts val="0"/>
              </a:spcBef>
              <a:spcAft>
                <a:spcPts val="0"/>
              </a:spcAft>
              <a:buClr>
                <a:schemeClr val="dk1"/>
              </a:buClr>
              <a:buSzPts val="1200"/>
              <a:buFont typeface="Tahoma"/>
              <a:buAutoNum type="arabicPeriod"/>
            </a:pPr>
            <a:r>
              <a:rPr lang="en" sz="1200">
                <a:solidFill>
                  <a:schemeClr val="dk1"/>
                </a:solidFill>
                <a:latin typeface="Tahoma"/>
                <a:ea typeface="Tahoma"/>
                <a:cs typeface="Tahoma"/>
                <a:sym typeface="Tahoma"/>
              </a:rPr>
              <a:t>React Router</a:t>
            </a:r>
            <a:endParaRPr sz="1200">
              <a:solidFill>
                <a:schemeClr val="dk1"/>
              </a:solidFill>
              <a:latin typeface="Tahoma"/>
              <a:ea typeface="Tahoma"/>
              <a:cs typeface="Tahoma"/>
              <a:sym typeface="Tahoma"/>
            </a:endParaRPr>
          </a:p>
          <a:p>
            <a:pPr indent="-304800" lvl="0" marL="365760" marR="0" rtl="0" algn="l">
              <a:lnSpc>
                <a:spcPct val="200000"/>
              </a:lnSpc>
              <a:spcBef>
                <a:spcPts val="0"/>
              </a:spcBef>
              <a:spcAft>
                <a:spcPts val="0"/>
              </a:spcAft>
              <a:buClr>
                <a:schemeClr val="dk1"/>
              </a:buClr>
              <a:buSzPts val="1200"/>
              <a:buFont typeface="Tahoma"/>
              <a:buAutoNum type="arabicPeriod"/>
            </a:pPr>
            <a:r>
              <a:rPr lang="en" sz="1200">
                <a:solidFill>
                  <a:schemeClr val="dk1"/>
                </a:solidFill>
                <a:latin typeface="Tahoma"/>
                <a:ea typeface="Tahoma"/>
                <a:cs typeface="Tahoma"/>
                <a:sym typeface="Tahoma"/>
              </a:rPr>
              <a:t>ESLint</a:t>
            </a:r>
            <a:endParaRPr sz="1200">
              <a:solidFill>
                <a:schemeClr val="dk1"/>
              </a:solidFill>
              <a:latin typeface="Tahoma"/>
              <a:ea typeface="Tahoma"/>
              <a:cs typeface="Tahoma"/>
              <a:sym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3"/>
          <p:cNvSpPr txBox="1"/>
          <p:nvPr/>
        </p:nvSpPr>
        <p:spPr>
          <a:xfrm>
            <a:off x="557775" y="2257500"/>
            <a:ext cx="5627100" cy="628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0"/>
              <a:buFont typeface="Arial"/>
              <a:buNone/>
            </a:pPr>
            <a:r>
              <a:rPr b="1" lang="en" sz="4000">
                <a:solidFill>
                  <a:srgbClr val="231F20"/>
                </a:solidFill>
                <a:latin typeface="Century Gothic"/>
                <a:ea typeface="Century Gothic"/>
                <a:cs typeface="Century Gothic"/>
                <a:sym typeface="Century Gothic"/>
              </a:rPr>
              <a:t>React</a:t>
            </a:r>
            <a:r>
              <a:rPr b="1" lang="en" sz="4000">
                <a:solidFill>
                  <a:srgbClr val="231F20"/>
                </a:solidFill>
                <a:latin typeface="Century Gothic"/>
                <a:ea typeface="Century Gothic"/>
                <a:cs typeface="Century Gothic"/>
                <a:sym typeface="Century Gothic"/>
              </a:rPr>
              <a:t> Introduction</a:t>
            </a:r>
            <a:endParaRPr b="1" i="0" sz="4000" u="none" cap="none" strike="noStrike">
              <a:solidFill>
                <a:srgbClr val="000000"/>
              </a:solidFill>
              <a:latin typeface="Century Gothic"/>
              <a:ea typeface="Century Gothic"/>
              <a:cs typeface="Century Gothic"/>
              <a:sym typeface="Century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4"/>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90000"/>
              </a:lnSpc>
              <a:spcBef>
                <a:spcPts val="0"/>
              </a:spcBef>
              <a:spcAft>
                <a:spcPts val="0"/>
              </a:spcAft>
              <a:buSzPts val="2100"/>
              <a:buNone/>
            </a:pPr>
            <a:r>
              <a:rPr lang="en"/>
              <a:t>What is React?</a:t>
            </a:r>
            <a:endParaRPr/>
          </a:p>
        </p:txBody>
      </p:sp>
      <p:sp>
        <p:nvSpPr>
          <p:cNvPr id="76" name="Google Shape;76;p14"/>
          <p:cNvSpPr txBox="1"/>
          <p:nvPr/>
        </p:nvSpPr>
        <p:spPr>
          <a:xfrm>
            <a:off x="408825" y="969725"/>
            <a:ext cx="7881600" cy="18777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SzPts val="1100"/>
              <a:buFont typeface="Tahoma"/>
              <a:buAutoNum type="arabicPeriod"/>
            </a:pPr>
            <a:r>
              <a:rPr lang="en" sz="1100">
                <a:latin typeface="Tahoma"/>
                <a:ea typeface="Tahoma"/>
                <a:cs typeface="Tahoma"/>
                <a:sym typeface="Tahoma"/>
              </a:rPr>
              <a:t>React is a JavaScript library for building user interfaces.</a:t>
            </a:r>
            <a:endParaRPr sz="1100">
              <a:latin typeface="Tahoma"/>
              <a:ea typeface="Tahoma"/>
              <a:cs typeface="Tahoma"/>
              <a:sym typeface="Tahoma"/>
            </a:endParaRPr>
          </a:p>
          <a:p>
            <a:pPr indent="-298450" lvl="0" marL="457200" rtl="0" algn="l">
              <a:lnSpc>
                <a:spcPct val="150000"/>
              </a:lnSpc>
              <a:spcBef>
                <a:spcPts val="0"/>
              </a:spcBef>
              <a:spcAft>
                <a:spcPts val="0"/>
              </a:spcAft>
              <a:buSzPts val="1100"/>
              <a:buFont typeface="Tahoma"/>
              <a:buAutoNum type="arabicPeriod"/>
            </a:pPr>
            <a:r>
              <a:rPr lang="en" sz="1100">
                <a:latin typeface="Tahoma"/>
                <a:ea typeface="Tahoma"/>
                <a:cs typeface="Tahoma"/>
                <a:sym typeface="Tahoma"/>
              </a:rPr>
              <a:t>Developed and maintained by Facebook.</a:t>
            </a:r>
            <a:endParaRPr sz="1100">
              <a:latin typeface="Tahoma"/>
              <a:ea typeface="Tahoma"/>
              <a:cs typeface="Tahoma"/>
              <a:sym typeface="Tahoma"/>
            </a:endParaRPr>
          </a:p>
          <a:p>
            <a:pPr indent="-298450" lvl="0" marL="457200" rtl="0" algn="l">
              <a:lnSpc>
                <a:spcPct val="150000"/>
              </a:lnSpc>
              <a:spcBef>
                <a:spcPts val="0"/>
              </a:spcBef>
              <a:spcAft>
                <a:spcPts val="0"/>
              </a:spcAft>
              <a:buSzPts val="1100"/>
              <a:buFont typeface="Tahoma"/>
              <a:buAutoNum type="arabicPeriod"/>
            </a:pPr>
            <a:r>
              <a:rPr lang="en" sz="1100">
                <a:latin typeface="Tahoma"/>
                <a:ea typeface="Tahoma"/>
                <a:cs typeface="Tahoma"/>
                <a:sym typeface="Tahoma"/>
              </a:rPr>
              <a:t>Component-based architecture.</a:t>
            </a:r>
            <a:endParaRPr sz="1100">
              <a:latin typeface="Tahoma"/>
              <a:ea typeface="Tahoma"/>
              <a:cs typeface="Tahoma"/>
              <a:sym typeface="Tahoma"/>
            </a:endParaRPr>
          </a:p>
          <a:p>
            <a:pPr indent="-298450" lvl="0" marL="457200" rtl="0" algn="l">
              <a:lnSpc>
                <a:spcPct val="150000"/>
              </a:lnSpc>
              <a:spcBef>
                <a:spcPts val="0"/>
              </a:spcBef>
              <a:spcAft>
                <a:spcPts val="0"/>
              </a:spcAft>
              <a:buSzPts val="1100"/>
              <a:buFont typeface="Tahoma"/>
              <a:buAutoNum type="arabicPeriod"/>
            </a:pPr>
            <a:r>
              <a:rPr lang="en" sz="1100">
                <a:latin typeface="Tahoma"/>
                <a:ea typeface="Tahoma"/>
                <a:cs typeface="Tahoma"/>
                <a:sym typeface="Tahoma"/>
              </a:rPr>
              <a:t>Efficient rendering using the Virtual DOM.</a:t>
            </a:r>
            <a:endParaRPr sz="1100">
              <a:latin typeface="Tahoma"/>
              <a:ea typeface="Tahoma"/>
              <a:cs typeface="Tahoma"/>
              <a:sym typeface="Tahoma"/>
            </a:endParaRPr>
          </a:p>
          <a:p>
            <a:pPr indent="-298450" lvl="0" marL="457200" rtl="0" algn="l">
              <a:lnSpc>
                <a:spcPct val="150000"/>
              </a:lnSpc>
              <a:spcBef>
                <a:spcPts val="0"/>
              </a:spcBef>
              <a:spcAft>
                <a:spcPts val="0"/>
              </a:spcAft>
              <a:buSzPts val="1100"/>
              <a:buFont typeface="Tahoma"/>
              <a:buAutoNum type="arabicPeriod"/>
            </a:pPr>
            <a:r>
              <a:rPr lang="en" sz="1100">
                <a:latin typeface="Tahoma"/>
                <a:ea typeface="Tahoma"/>
                <a:cs typeface="Tahoma"/>
                <a:sym typeface="Tahoma"/>
              </a:rPr>
              <a:t>We can build SPA. Single Page Application (SPA) is a web application that dynamically updates content without reloading the entire page.</a:t>
            </a:r>
            <a:endParaRPr sz="1100">
              <a:latin typeface="Tahoma"/>
              <a:ea typeface="Tahoma"/>
              <a:cs typeface="Tahoma"/>
              <a:sym typeface="Tahoma"/>
            </a:endParaRPr>
          </a:p>
          <a:p>
            <a:pPr indent="0" lvl="0" marL="457200" rtl="0" algn="l">
              <a:lnSpc>
                <a:spcPct val="150000"/>
              </a:lnSpc>
              <a:spcBef>
                <a:spcPts val="0"/>
              </a:spcBef>
              <a:spcAft>
                <a:spcPts val="0"/>
              </a:spcAft>
              <a:buNone/>
            </a:pPr>
            <a:r>
              <a:t/>
            </a:r>
            <a:endParaRPr sz="1100">
              <a:latin typeface="Tahoma"/>
              <a:ea typeface="Tahoma"/>
              <a:cs typeface="Tahoma"/>
              <a:sym typeface="Tahom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90000"/>
              </a:lnSpc>
              <a:spcBef>
                <a:spcPts val="0"/>
              </a:spcBef>
              <a:spcAft>
                <a:spcPts val="0"/>
              </a:spcAft>
              <a:buSzPts val="2100"/>
              <a:buNone/>
            </a:pPr>
            <a:r>
              <a:rPr lang="en"/>
              <a:t>JSX</a:t>
            </a:r>
            <a:endParaRPr/>
          </a:p>
        </p:txBody>
      </p:sp>
      <p:sp>
        <p:nvSpPr>
          <p:cNvPr id="82" name="Google Shape;82;p15"/>
          <p:cNvSpPr txBox="1"/>
          <p:nvPr/>
        </p:nvSpPr>
        <p:spPr>
          <a:xfrm>
            <a:off x="408825" y="789075"/>
            <a:ext cx="7881600" cy="2940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200">
                <a:latin typeface="Tahoma"/>
                <a:ea typeface="Tahoma"/>
                <a:cs typeface="Tahoma"/>
                <a:sym typeface="Tahoma"/>
              </a:rPr>
              <a:t>What is JSX?</a:t>
            </a:r>
            <a:endParaRPr b="1" sz="1100">
              <a:latin typeface="Tahoma"/>
              <a:ea typeface="Tahoma"/>
              <a:cs typeface="Tahoma"/>
              <a:sym typeface="Tahoma"/>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JSX is a </a:t>
            </a:r>
            <a:r>
              <a:rPr b="1" lang="en" sz="1100">
                <a:solidFill>
                  <a:schemeClr val="dk1"/>
                </a:solidFill>
              </a:rPr>
              <a:t>syntax extension for JavaScript</a:t>
            </a:r>
            <a:r>
              <a:rPr lang="en" sz="1100">
                <a:solidFill>
                  <a:schemeClr val="dk1"/>
                </a:solidFill>
              </a:rPr>
              <a:t>.</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Allows writing </a:t>
            </a:r>
            <a:r>
              <a:rPr b="1" lang="en" sz="1100">
                <a:solidFill>
                  <a:schemeClr val="dk1"/>
                </a:solidFill>
              </a:rPr>
              <a:t>HTML-like code inside JS</a:t>
            </a:r>
            <a:r>
              <a:rPr lang="en" sz="1100">
                <a:solidFill>
                  <a:schemeClr val="dk1"/>
                </a:solidFill>
              </a:rPr>
              <a:t>.</a:t>
            </a:r>
            <a:endParaRPr sz="1100">
              <a:solidFill>
                <a:schemeClr val="dk1"/>
              </a:solidFill>
            </a:endParaRPr>
          </a:p>
          <a:p>
            <a:pPr indent="-298450" lvl="0" marL="457200" rtl="0" algn="l">
              <a:lnSpc>
                <a:spcPct val="150000"/>
              </a:lnSpc>
              <a:spcBef>
                <a:spcPts val="0"/>
              </a:spcBef>
              <a:spcAft>
                <a:spcPts val="0"/>
              </a:spcAft>
              <a:buSzPts val="1100"/>
              <a:buChar char="●"/>
            </a:pPr>
            <a:r>
              <a:rPr lang="en" sz="1100">
                <a:solidFill>
                  <a:schemeClr val="dk1"/>
                </a:solidFill>
              </a:rPr>
              <a:t>Transpiled to </a:t>
            </a:r>
            <a:r>
              <a:rPr lang="en" sz="1100">
                <a:solidFill>
                  <a:srgbClr val="188038"/>
                </a:solidFill>
                <a:latin typeface="Roboto Mono"/>
                <a:ea typeface="Roboto Mono"/>
                <a:cs typeface="Roboto Mono"/>
                <a:sym typeface="Roboto Mono"/>
              </a:rPr>
              <a:t>React.createElement()</a:t>
            </a:r>
            <a:r>
              <a:rPr lang="en" sz="1100">
                <a:solidFill>
                  <a:schemeClr val="dk1"/>
                </a:solidFill>
              </a:rPr>
              <a:t> calls by Babel.</a:t>
            </a:r>
            <a:endParaRPr sz="1100">
              <a:solidFill>
                <a:schemeClr val="dk1"/>
              </a:solidFill>
            </a:endParaRPr>
          </a:p>
          <a:p>
            <a:pPr indent="0" lvl="0" marL="0" rtl="0" algn="l">
              <a:lnSpc>
                <a:spcPct val="150000"/>
              </a:lnSpc>
              <a:spcBef>
                <a:spcPts val="0"/>
              </a:spcBef>
              <a:spcAft>
                <a:spcPts val="0"/>
              </a:spcAft>
              <a:buNone/>
            </a:pPr>
            <a:r>
              <a:t/>
            </a:r>
            <a:endParaRPr sz="1100">
              <a:solidFill>
                <a:schemeClr val="dk1"/>
              </a:solidFill>
            </a:endParaRPr>
          </a:p>
          <a:p>
            <a:pPr indent="0" lvl="0" marL="0" rtl="0" algn="l">
              <a:lnSpc>
                <a:spcPct val="150000"/>
              </a:lnSpc>
              <a:spcBef>
                <a:spcPts val="0"/>
              </a:spcBef>
              <a:spcAft>
                <a:spcPts val="0"/>
              </a:spcAft>
              <a:buNone/>
            </a:pPr>
            <a:r>
              <a:rPr b="1" lang="en" sz="1200">
                <a:latin typeface="Tahoma"/>
                <a:ea typeface="Tahoma"/>
                <a:cs typeface="Tahoma"/>
                <a:sym typeface="Tahoma"/>
              </a:rPr>
              <a:t>Key Features</a:t>
            </a:r>
            <a:endParaRPr b="1" sz="1200">
              <a:latin typeface="Tahoma"/>
              <a:ea typeface="Tahoma"/>
              <a:cs typeface="Tahoma"/>
              <a:sym typeface="Tahoma"/>
            </a:endParaRPr>
          </a:p>
          <a:p>
            <a:pPr indent="-298450" lvl="0" marL="457200" rtl="0" algn="l">
              <a:lnSpc>
                <a:spcPct val="150000"/>
              </a:lnSpc>
              <a:spcBef>
                <a:spcPts val="0"/>
              </a:spcBef>
              <a:spcAft>
                <a:spcPts val="0"/>
              </a:spcAft>
              <a:buSzPts val="1100"/>
              <a:buFont typeface="Tahoma"/>
              <a:buChar char="●"/>
            </a:pPr>
            <a:r>
              <a:rPr lang="en" sz="1100">
                <a:solidFill>
                  <a:schemeClr val="dk1"/>
                </a:solidFill>
              </a:rPr>
              <a:t>Embeds </a:t>
            </a:r>
            <a:r>
              <a:rPr b="1" lang="en" sz="1100">
                <a:solidFill>
                  <a:schemeClr val="dk1"/>
                </a:solidFill>
              </a:rPr>
              <a:t>expressions</a:t>
            </a:r>
            <a:r>
              <a:rPr lang="en" sz="1100">
                <a:solidFill>
                  <a:schemeClr val="dk1"/>
                </a:solidFill>
              </a:rPr>
              <a:t> with </a:t>
            </a:r>
            <a:r>
              <a:rPr lang="en" sz="1100">
                <a:solidFill>
                  <a:srgbClr val="188038"/>
                </a:solidFill>
                <a:latin typeface="Roboto Mono"/>
                <a:ea typeface="Roboto Mono"/>
                <a:cs typeface="Roboto Mono"/>
                <a:sym typeface="Roboto Mono"/>
              </a:rPr>
              <a:t>{}</a:t>
            </a:r>
            <a:r>
              <a:rPr lang="en" sz="1100">
                <a:solidFill>
                  <a:schemeClr val="dk1"/>
                </a:solidFill>
              </a:rPr>
              <a:t>.</a:t>
            </a:r>
            <a:endParaRPr sz="1100">
              <a:solidFill>
                <a:schemeClr val="dk1"/>
              </a:solidFill>
            </a:endParaRPr>
          </a:p>
          <a:p>
            <a:pPr indent="-298450" lvl="0" marL="457200" rtl="0" algn="l">
              <a:lnSpc>
                <a:spcPct val="150000"/>
              </a:lnSpc>
              <a:spcBef>
                <a:spcPts val="0"/>
              </a:spcBef>
              <a:spcAft>
                <a:spcPts val="0"/>
              </a:spcAft>
              <a:buSzPts val="1100"/>
              <a:buFont typeface="Tahoma"/>
              <a:buChar char="●"/>
            </a:pPr>
            <a:r>
              <a:rPr lang="en" sz="1100">
                <a:solidFill>
                  <a:schemeClr val="dk1"/>
                </a:solidFill>
              </a:rPr>
              <a:t>Can have </a:t>
            </a:r>
            <a:r>
              <a:rPr b="1" lang="en" sz="1100">
                <a:solidFill>
                  <a:schemeClr val="dk1"/>
                </a:solidFill>
              </a:rPr>
              <a:t>nested elements</a:t>
            </a:r>
            <a:r>
              <a:rPr lang="en" sz="1100">
                <a:solidFill>
                  <a:schemeClr val="dk1"/>
                </a:solidFill>
              </a:rPr>
              <a:t>.</a:t>
            </a:r>
            <a:endParaRPr sz="1100">
              <a:solidFill>
                <a:schemeClr val="dk1"/>
              </a:solidFill>
            </a:endParaRPr>
          </a:p>
          <a:p>
            <a:pPr indent="-298450" lvl="0" marL="457200" rtl="0" algn="l">
              <a:lnSpc>
                <a:spcPct val="150000"/>
              </a:lnSpc>
              <a:spcBef>
                <a:spcPts val="0"/>
              </a:spcBef>
              <a:spcAft>
                <a:spcPts val="0"/>
              </a:spcAft>
              <a:buSzPts val="1100"/>
              <a:buFont typeface="Tahoma"/>
              <a:buChar char="●"/>
            </a:pPr>
            <a:r>
              <a:rPr b="1" lang="en" sz="1100">
                <a:solidFill>
                  <a:schemeClr val="dk1"/>
                </a:solidFill>
              </a:rPr>
              <a:t>Attributes</a:t>
            </a:r>
            <a:r>
              <a:rPr lang="en" sz="1100">
                <a:solidFill>
                  <a:schemeClr val="dk1"/>
                </a:solidFill>
              </a:rPr>
              <a:t> follow camelCase (</a:t>
            </a:r>
            <a:r>
              <a:rPr lang="en" sz="1100">
                <a:solidFill>
                  <a:srgbClr val="188038"/>
                </a:solidFill>
                <a:latin typeface="Roboto Mono"/>
                <a:ea typeface="Roboto Mono"/>
                <a:cs typeface="Roboto Mono"/>
                <a:sym typeface="Roboto Mono"/>
              </a:rPr>
              <a:t>className</a:t>
            </a:r>
            <a:r>
              <a:rPr lang="en" sz="1100">
                <a:solidFill>
                  <a:schemeClr val="dk1"/>
                </a:solidFill>
              </a:rPr>
              <a:t>, </a:t>
            </a:r>
            <a:r>
              <a:rPr lang="en" sz="1100">
                <a:solidFill>
                  <a:srgbClr val="188038"/>
                </a:solidFill>
                <a:latin typeface="Roboto Mono"/>
                <a:ea typeface="Roboto Mono"/>
                <a:cs typeface="Roboto Mono"/>
                <a:sym typeface="Roboto Mono"/>
              </a:rPr>
              <a:t>onClick</a:t>
            </a:r>
            <a:r>
              <a:rPr lang="en" sz="1100">
                <a:solidFill>
                  <a:schemeClr val="dk1"/>
                </a:solidFill>
              </a:rPr>
              <a:t>).</a:t>
            </a:r>
            <a:endParaRPr sz="1100">
              <a:solidFill>
                <a:schemeClr val="dk1"/>
              </a:solidFill>
            </a:endParaRPr>
          </a:p>
          <a:p>
            <a:pPr indent="-298450" lvl="0" marL="457200" rtl="0" algn="l">
              <a:lnSpc>
                <a:spcPct val="150000"/>
              </a:lnSpc>
              <a:spcBef>
                <a:spcPts val="0"/>
              </a:spcBef>
              <a:spcAft>
                <a:spcPts val="0"/>
              </a:spcAft>
              <a:buSzPts val="1100"/>
              <a:buFont typeface="Tahoma"/>
              <a:buChar char="●"/>
            </a:pPr>
            <a:r>
              <a:rPr lang="en" sz="1100">
                <a:solidFill>
                  <a:schemeClr val="dk1"/>
                </a:solidFill>
              </a:rPr>
              <a:t>JSX is </a:t>
            </a:r>
            <a:r>
              <a:rPr b="1" lang="en" sz="1100">
                <a:solidFill>
                  <a:schemeClr val="dk1"/>
                </a:solidFill>
              </a:rPr>
              <a:t>not a string or HTML</a:t>
            </a:r>
            <a:r>
              <a:rPr lang="en" sz="1100">
                <a:solidFill>
                  <a:schemeClr val="dk1"/>
                </a:solidFill>
              </a:rPr>
              <a:t>, it’s syntactic sugar for </a:t>
            </a:r>
            <a:r>
              <a:rPr lang="en" sz="1100">
                <a:solidFill>
                  <a:srgbClr val="188038"/>
                </a:solidFill>
                <a:latin typeface="Roboto Mono"/>
                <a:ea typeface="Roboto Mono"/>
                <a:cs typeface="Roboto Mono"/>
                <a:sym typeface="Roboto Mono"/>
              </a:rPr>
              <a:t>React.createElement</a:t>
            </a:r>
            <a:r>
              <a:rPr lang="en" sz="1100">
                <a:solidFill>
                  <a:schemeClr val="dk1"/>
                </a:solidFill>
              </a:rPr>
              <a:t>.</a:t>
            </a:r>
            <a:endParaRPr b="1" sz="1100">
              <a:latin typeface="Tahoma"/>
              <a:ea typeface="Tahoma"/>
              <a:cs typeface="Tahoma"/>
              <a:sym typeface="Tahoma"/>
            </a:endParaRPr>
          </a:p>
          <a:p>
            <a:pPr indent="0" lvl="0" marL="0" rtl="0" algn="l">
              <a:lnSpc>
                <a:spcPct val="150000"/>
              </a:lnSpc>
              <a:spcBef>
                <a:spcPts val="0"/>
              </a:spcBef>
              <a:spcAft>
                <a:spcPts val="0"/>
              </a:spcAft>
              <a:buNone/>
            </a:pPr>
            <a:r>
              <a:t/>
            </a:r>
            <a:endParaRPr b="1" sz="1100">
              <a:latin typeface="Tahoma"/>
              <a:ea typeface="Tahoma"/>
              <a:cs typeface="Tahoma"/>
              <a:sym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90000"/>
              </a:lnSpc>
              <a:spcBef>
                <a:spcPts val="0"/>
              </a:spcBef>
              <a:spcAft>
                <a:spcPts val="0"/>
              </a:spcAft>
              <a:buSzPts val="2100"/>
              <a:buNone/>
            </a:pPr>
            <a:r>
              <a:rPr lang="en"/>
              <a:t>JSX Example</a:t>
            </a:r>
            <a:endParaRPr/>
          </a:p>
        </p:txBody>
      </p:sp>
      <p:pic>
        <p:nvPicPr>
          <p:cNvPr id="88" name="Google Shape;88;p16"/>
          <p:cNvPicPr preferRelativeResize="0"/>
          <p:nvPr/>
        </p:nvPicPr>
        <p:blipFill>
          <a:blip r:embed="rId3">
            <a:alphaModFix/>
          </a:blip>
          <a:stretch>
            <a:fillRect/>
          </a:stretch>
        </p:blipFill>
        <p:spPr>
          <a:xfrm>
            <a:off x="236988" y="1596583"/>
            <a:ext cx="2921701" cy="2407542"/>
          </a:xfrm>
          <a:prstGeom prst="rect">
            <a:avLst/>
          </a:prstGeom>
          <a:noFill/>
          <a:ln>
            <a:noFill/>
          </a:ln>
        </p:spPr>
      </p:pic>
      <p:pic>
        <p:nvPicPr>
          <p:cNvPr id="89" name="Google Shape;89;p16"/>
          <p:cNvPicPr preferRelativeResize="0"/>
          <p:nvPr/>
        </p:nvPicPr>
        <p:blipFill>
          <a:blip r:embed="rId4">
            <a:alphaModFix/>
          </a:blip>
          <a:stretch>
            <a:fillRect/>
          </a:stretch>
        </p:blipFill>
        <p:spPr>
          <a:xfrm>
            <a:off x="4544563" y="1956738"/>
            <a:ext cx="4362449" cy="1687230"/>
          </a:xfrm>
          <a:prstGeom prst="rect">
            <a:avLst/>
          </a:prstGeom>
          <a:noFill/>
          <a:ln>
            <a:noFill/>
          </a:ln>
        </p:spPr>
      </p:pic>
      <p:sp>
        <p:nvSpPr>
          <p:cNvPr id="90" name="Google Shape;90;p16"/>
          <p:cNvSpPr/>
          <p:nvPr/>
        </p:nvSpPr>
        <p:spPr>
          <a:xfrm>
            <a:off x="3488213" y="2621700"/>
            <a:ext cx="832500" cy="357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6"/>
          <p:cNvSpPr txBox="1"/>
          <p:nvPr/>
        </p:nvSpPr>
        <p:spPr>
          <a:xfrm>
            <a:off x="3398363" y="2187475"/>
            <a:ext cx="10122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Transpile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115000"/>
              </a:lnSpc>
              <a:spcBef>
                <a:spcPts val="0"/>
              </a:spcBef>
              <a:spcAft>
                <a:spcPts val="400"/>
              </a:spcAft>
              <a:buSzPts val="1100"/>
              <a:buNone/>
            </a:pPr>
            <a:r>
              <a:rPr lang="en" sz="1700">
                <a:solidFill>
                  <a:srgbClr val="333333"/>
                </a:solidFill>
                <a:highlight>
                  <a:srgbClr val="FFFFFF"/>
                </a:highlight>
                <a:latin typeface="Montserrat"/>
                <a:ea typeface="Montserrat"/>
                <a:cs typeface="Montserrat"/>
                <a:sym typeface="Montserrat"/>
              </a:rPr>
              <a:t>DOM Tree Structure</a:t>
            </a:r>
            <a:endParaRPr/>
          </a:p>
        </p:txBody>
      </p:sp>
      <p:pic>
        <p:nvPicPr>
          <p:cNvPr id="97" name="Google Shape;97;p17"/>
          <p:cNvPicPr preferRelativeResize="0"/>
          <p:nvPr/>
        </p:nvPicPr>
        <p:blipFill>
          <a:blip r:embed="rId3">
            <a:alphaModFix/>
          </a:blip>
          <a:stretch>
            <a:fillRect/>
          </a:stretch>
        </p:blipFill>
        <p:spPr>
          <a:xfrm>
            <a:off x="1902875" y="742950"/>
            <a:ext cx="5028024" cy="2303675"/>
          </a:xfrm>
          <a:prstGeom prst="rect">
            <a:avLst/>
          </a:prstGeom>
          <a:noFill/>
          <a:ln>
            <a:noFill/>
          </a:ln>
        </p:spPr>
      </p:pic>
      <p:sp>
        <p:nvSpPr>
          <p:cNvPr id="98" name="Google Shape;98;p17"/>
          <p:cNvSpPr txBox="1"/>
          <p:nvPr/>
        </p:nvSpPr>
        <p:spPr>
          <a:xfrm>
            <a:off x="446850" y="4173750"/>
            <a:ext cx="547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99" name="Google Shape;99;p17"/>
          <p:cNvPicPr preferRelativeResize="0"/>
          <p:nvPr/>
        </p:nvPicPr>
        <p:blipFill>
          <a:blip r:embed="rId4">
            <a:alphaModFix/>
          </a:blip>
          <a:stretch>
            <a:fillRect/>
          </a:stretch>
        </p:blipFill>
        <p:spPr>
          <a:xfrm>
            <a:off x="264425" y="3507075"/>
            <a:ext cx="4907600" cy="1523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SzPts val="1100"/>
              <a:buNone/>
            </a:pPr>
            <a:r>
              <a:rPr lang="en"/>
              <a:t>What is </a:t>
            </a:r>
            <a:r>
              <a:rPr lang="en"/>
              <a:t>Reflow(Layout) and Repaint</a:t>
            </a:r>
            <a:endParaRPr/>
          </a:p>
        </p:txBody>
      </p:sp>
      <p:sp>
        <p:nvSpPr>
          <p:cNvPr id="105" name="Google Shape;105;p18"/>
          <p:cNvSpPr txBox="1"/>
          <p:nvPr/>
        </p:nvSpPr>
        <p:spPr>
          <a:xfrm>
            <a:off x="407700" y="865150"/>
            <a:ext cx="83286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t>Reflow(Layout) </a:t>
            </a:r>
            <a:r>
              <a:rPr lang="en" sz="1100"/>
              <a:t>- Recalculating the positions and dimensions of all elements in the document flow. Triggered when layout-affecting properties change.</a:t>
            </a:r>
            <a:br>
              <a:rPr lang="en" sz="1100"/>
            </a:br>
            <a:r>
              <a:rPr i="1" lang="en" sz="1100"/>
              <a:t>Example - width/height change, font-weight change, adding DOM element</a:t>
            </a:r>
            <a:br>
              <a:rPr lang="en" sz="1100"/>
            </a:br>
            <a:br>
              <a:rPr lang="en" sz="1100"/>
            </a:br>
            <a:r>
              <a:rPr b="1" lang="en" sz="1100"/>
              <a:t>Repaint</a:t>
            </a:r>
            <a:r>
              <a:rPr lang="en" sz="1100"/>
              <a:t> - Redrawing pixels to the screen without recalculating layout. Triggered by visual-only property changes.</a:t>
            </a:r>
            <a:br>
              <a:rPr lang="en" sz="1100"/>
            </a:br>
            <a:r>
              <a:rPr i="1" lang="en" sz="1100"/>
              <a:t>Example - background-color change, text color change, shadow change</a:t>
            </a:r>
            <a:br>
              <a:rPr i="1" lang="en" sz="1100"/>
            </a:br>
            <a:br>
              <a:rPr i="1" lang="en" sz="1100"/>
            </a:br>
            <a:r>
              <a:rPr lang="en" sz="1100">
                <a:solidFill>
                  <a:srgbClr val="333333"/>
                </a:solidFill>
                <a:highlight>
                  <a:srgbClr val="FFE599"/>
                </a:highlight>
              </a:rPr>
              <a:t> Reflow ALWAYS triggers Repaint, but Repaint can occur alone </a:t>
            </a:r>
            <a:endParaRPr b="1" i="1">
              <a:highlight>
                <a:srgbClr val="FFE599"/>
              </a:highlight>
            </a:endParaRPr>
          </a:p>
        </p:txBody>
      </p:sp>
      <p:pic>
        <p:nvPicPr>
          <p:cNvPr id="106" name="Google Shape;106;p18"/>
          <p:cNvPicPr preferRelativeResize="0"/>
          <p:nvPr/>
        </p:nvPicPr>
        <p:blipFill>
          <a:blip r:embed="rId3">
            <a:alphaModFix/>
          </a:blip>
          <a:stretch>
            <a:fillRect/>
          </a:stretch>
        </p:blipFill>
        <p:spPr>
          <a:xfrm>
            <a:off x="407709" y="2841800"/>
            <a:ext cx="3669974" cy="1709075"/>
          </a:xfrm>
          <a:prstGeom prst="rect">
            <a:avLst/>
          </a:prstGeom>
          <a:noFill/>
          <a:ln>
            <a:noFill/>
          </a:ln>
        </p:spPr>
      </p:pic>
      <p:pic>
        <p:nvPicPr>
          <p:cNvPr id="107" name="Google Shape;107;p18"/>
          <p:cNvPicPr preferRelativeResize="0"/>
          <p:nvPr/>
        </p:nvPicPr>
        <p:blipFill>
          <a:blip r:embed="rId4">
            <a:alphaModFix/>
          </a:blip>
          <a:stretch>
            <a:fillRect/>
          </a:stretch>
        </p:blipFill>
        <p:spPr>
          <a:xfrm>
            <a:off x="5260350" y="3095625"/>
            <a:ext cx="3475951" cy="1201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90000"/>
              </a:lnSpc>
              <a:spcBef>
                <a:spcPts val="0"/>
              </a:spcBef>
              <a:spcAft>
                <a:spcPts val="0"/>
              </a:spcAft>
              <a:buSzPts val="2100"/>
              <a:buNone/>
            </a:pPr>
            <a:r>
              <a:rPr lang="en"/>
              <a:t>How React Minimizes Reflow &amp; Repaint</a:t>
            </a:r>
            <a:endParaRPr/>
          </a:p>
        </p:txBody>
      </p:sp>
      <p:sp>
        <p:nvSpPr>
          <p:cNvPr id="113" name="Google Shape;113;p19"/>
          <p:cNvSpPr txBox="1"/>
          <p:nvPr/>
        </p:nvSpPr>
        <p:spPr>
          <a:xfrm>
            <a:off x="290400" y="990075"/>
            <a:ext cx="8563200" cy="3796200"/>
          </a:xfrm>
          <a:prstGeom prst="rect">
            <a:avLst/>
          </a:prstGeom>
          <a:noFill/>
          <a:ln>
            <a:noFill/>
          </a:ln>
        </p:spPr>
        <p:txBody>
          <a:bodyPr anchorCtr="0" anchor="t" bIns="0" lIns="0" spcFirstLastPara="1" rIns="0" wrap="square" tIns="0">
            <a:noAutofit/>
          </a:bodyPr>
          <a:lstStyle/>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React updates a Virtual DOM instead of the real DOM first</a:t>
            </a:r>
            <a:r>
              <a:rPr lang="en" sz="1100">
                <a:solidFill>
                  <a:schemeClr val="dk1"/>
                </a:solidFill>
              </a:rPr>
              <a:t>, which avoids unnecessary layout calculations.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It compares the old and new Virtual DOM using Diffing</a:t>
            </a:r>
            <a:r>
              <a:rPr lang="en" sz="1100">
                <a:solidFill>
                  <a:schemeClr val="dk1"/>
                </a:solidFill>
              </a:rPr>
              <a:t>, and finds the smallest possible changes.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Only the affected DOM nodes are updated</a:t>
            </a:r>
            <a:r>
              <a:rPr lang="en" sz="1100">
                <a:solidFill>
                  <a:schemeClr val="dk1"/>
                </a:solidFill>
              </a:rPr>
              <a:t>, not the entire tree — reducing Reflow/Repaint cost.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Batching updates</a:t>
            </a:r>
            <a:r>
              <a:rPr lang="en" sz="1100">
                <a:solidFill>
                  <a:schemeClr val="dk1"/>
                </a:solidFill>
              </a:rPr>
              <a:t> ensures multiple state changes cause </a:t>
            </a:r>
            <a:r>
              <a:rPr b="1" lang="en" sz="1100">
                <a:solidFill>
                  <a:schemeClr val="dk1"/>
                </a:solidFill>
              </a:rPr>
              <a:t>only one DOM update</a:t>
            </a:r>
            <a:r>
              <a:rPr lang="en" sz="1100">
                <a:solidFill>
                  <a:schemeClr val="dk1"/>
                </a:solidFill>
              </a:rPr>
              <a:t>, not multiple.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React Fiber optimizes rendering</a:t>
            </a:r>
            <a:r>
              <a:rPr lang="en" sz="1100">
                <a:solidFill>
                  <a:schemeClr val="dk1"/>
                </a:solidFill>
              </a:rPr>
              <a:t> by breaking work into small chunks and prioritizing important updates.</a:t>
            </a:r>
            <a:endParaRPr sz="1100">
              <a:solidFill>
                <a:srgbClr val="188038"/>
              </a:solidFill>
              <a:latin typeface="Roboto Mono"/>
              <a:ea typeface="Roboto Mono"/>
              <a:cs typeface="Roboto Mono"/>
              <a:sym typeface="Roboto Mono"/>
            </a:endParaRPr>
          </a:p>
        </p:txBody>
      </p:sp>
      <p:pic>
        <p:nvPicPr>
          <p:cNvPr id="114" name="Google Shape;114;p19"/>
          <p:cNvPicPr preferRelativeResize="0"/>
          <p:nvPr/>
        </p:nvPicPr>
        <p:blipFill>
          <a:blip r:embed="rId3">
            <a:alphaModFix/>
          </a:blip>
          <a:stretch>
            <a:fillRect/>
          </a:stretch>
        </p:blipFill>
        <p:spPr>
          <a:xfrm>
            <a:off x="4850225" y="2394931"/>
            <a:ext cx="3969099" cy="2489820"/>
          </a:xfrm>
          <a:prstGeom prst="rect">
            <a:avLst/>
          </a:prstGeom>
          <a:noFill/>
          <a:ln>
            <a:noFill/>
          </a:ln>
        </p:spPr>
      </p:pic>
      <p:pic>
        <p:nvPicPr>
          <p:cNvPr id="115" name="Google Shape;115;p19"/>
          <p:cNvPicPr preferRelativeResize="0"/>
          <p:nvPr/>
        </p:nvPicPr>
        <p:blipFill>
          <a:blip r:embed="rId4">
            <a:alphaModFix/>
          </a:blip>
          <a:stretch>
            <a:fillRect/>
          </a:stretch>
        </p:blipFill>
        <p:spPr>
          <a:xfrm>
            <a:off x="438063" y="2131425"/>
            <a:ext cx="3786424" cy="1023175"/>
          </a:xfrm>
          <a:prstGeom prst="rect">
            <a:avLst/>
          </a:prstGeom>
          <a:noFill/>
          <a:ln>
            <a:noFill/>
          </a:ln>
        </p:spPr>
      </p:pic>
      <p:pic>
        <p:nvPicPr>
          <p:cNvPr id="116" name="Google Shape;116;p19"/>
          <p:cNvPicPr preferRelativeResize="0"/>
          <p:nvPr/>
        </p:nvPicPr>
        <p:blipFill>
          <a:blip r:embed="rId5">
            <a:alphaModFix/>
          </a:blip>
          <a:stretch>
            <a:fillRect/>
          </a:stretch>
        </p:blipFill>
        <p:spPr>
          <a:xfrm>
            <a:off x="602900" y="3397799"/>
            <a:ext cx="3456750" cy="1628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0"/>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90000"/>
              </a:lnSpc>
              <a:spcBef>
                <a:spcPts val="0"/>
              </a:spcBef>
              <a:spcAft>
                <a:spcPts val="0"/>
              </a:spcAft>
              <a:buSzPts val="2100"/>
              <a:buNone/>
            </a:pPr>
            <a:r>
              <a:rPr lang="en"/>
              <a:t>Virtual DOM</a:t>
            </a:r>
            <a:endParaRPr/>
          </a:p>
        </p:txBody>
      </p:sp>
      <p:sp>
        <p:nvSpPr>
          <p:cNvPr id="122" name="Google Shape;122;p20"/>
          <p:cNvSpPr txBox="1"/>
          <p:nvPr/>
        </p:nvSpPr>
        <p:spPr>
          <a:xfrm>
            <a:off x="290400" y="990075"/>
            <a:ext cx="8563200" cy="3796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100">
                <a:solidFill>
                  <a:schemeClr val="dk1"/>
                </a:solidFill>
              </a:rPr>
              <a:t>The Virtual DOM (VDOM) is a lightweight copy of the actual DOM (Document Object Model) that helps optimize updates and improve performance in web applications. It is mainly used in libraries like React to efficiently update the UI.</a:t>
            </a:r>
            <a:endParaRPr sz="1100">
              <a:solidFill>
                <a:schemeClr val="dk1"/>
              </a:solidFill>
            </a:endParaRPr>
          </a:p>
          <a:p>
            <a:pPr indent="0" lvl="0" marL="457200" rtl="0" algn="just">
              <a:lnSpc>
                <a:spcPct val="115000"/>
              </a:lnSpc>
              <a:spcBef>
                <a:spcPts val="0"/>
              </a:spcBef>
              <a:spcAft>
                <a:spcPts val="0"/>
              </a:spcAft>
              <a:buNone/>
            </a:pPr>
            <a:r>
              <a:t/>
            </a:r>
            <a:endParaRPr sz="1100">
              <a:solidFill>
                <a:schemeClr val="dk1"/>
              </a:solidFill>
            </a:endParaRPr>
          </a:p>
        </p:txBody>
      </p:sp>
      <p:pic>
        <p:nvPicPr>
          <p:cNvPr id="123" name="Google Shape;123;p20"/>
          <p:cNvPicPr preferRelativeResize="0"/>
          <p:nvPr/>
        </p:nvPicPr>
        <p:blipFill>
          <a:blip r:embed="rId3">
            <a:alphaModFix/>
          </a:blip>
          <a:stretch>
            <a:fillRect/>
          </a:stretch>
        </p:blipFill>
        <p:spPr>
          <a:xfrm>
            <a:off x="290400" y="1531875"/>
            <a:ext cx="5331600" cy="2309100"/>
          </a:xfrm>
          <a:prstGeom prst="rect">
            <a:avLst/>
          </a:prstGeom>
          <a:noFill/>
          <a:ln>
            <a:noFill/>
          </a:ln>
        </p:spPr>
      </p:pic>
      <p:sp>
        <p:nvSpPr>
          <p:cNvPr id="124" name="Google Shape;124;p20"/>
          <p:cNvSpPr txBox="1"/>
          <p:nvPr/>
        </p:nvSpPr>
        <p:spPr>
          <a:xfrm>
            <a:off x="290400" y="4040650"/>
            <a:ext cx="54762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Benefits:</a:t>
            </a:r>
            <a:r>
              <a:rPr lang="en" sz="1100">
                <a:solidFill>
                  <a:schemeClr val="dk1"/>
                </a:solidFill>
              </a:rPr>
              <a:t>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Smooth UI updates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Minimal reflows + repaints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High performance under heavy UI changes</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SzPts val="1100"/>
              <a:buNone/>
            </a:pPr>
            <a:r>
              <a:rPr lang="en"/>
              <a:t>Reconciliation</a:t>
            </a:r>
            <a:endParaRPr/>
          </a:p>
        </p:txBody>
      </p:sp>
      <p:sp>
        <p:nvSpPr>
          <p:cNvPr id="130" name="Google Shape;130;p21"/>
          <p:cNvSpPr txBox="1"/>
          <p:nvPr/>
        </p:nvSpPr>
        <p:spPr>
          <a:xfrm>
            <a:off x="264425" y="789125"/>
            <a:ext cx="8463300" cy="381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rPr>
              <a:t>What Is Reconciliation?</a:t>
            </a:r>
            <a:br>
              <a:rPr b="1" lang="en" sz="1200">
                <a:solidFill>
                  <a:schemeClr val="dk1"/>
                </a:solidFill>
              </a:rPr>
            </a:br>
            <a:endParaRPr b="1" sz="12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Reconciliation is the </a:t>
            </a:r>
            <a:r>
              <a:rPr b="1" lang="en" sz="1100">
                <a:solidFill>
                  <a:schemeClr val="dk1"/>
                </a:solidFill>
              </a:rPr>
              <a:t>process React uses to update the DOM efficiently</a:t>
            </a:r>
            <a:r>
              <a:rPr lang="en"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It </a:t>
            </a:r>
            <a:r>
              <a:rPr b="1" lang="en" sz="1100">
                <a:solidFill>
                  <a:schemeClr val="dk1"/>
                </a:solidFill>
              </a:rPr>
              <a:t>compares the new virtual DOM with the previous virtual DOM</a:t>
            </a:r>
            <a:r>
              <a:rPr lang="en" sz="1100">
                <a:solidFill>
                  <a:schemeClr val="dk1"/>
                </a:solidFill>
              </a:rPr>
              <a:t> to determine the minimal changes required.</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This process is also called </a:t>
            </a:r>
            <a:r>
              <a:rPr b="1" lang="en" sz="1100">
                <a:solidFill>
                  <a:schemeClr val="dk1"/>
                </a:solidFill>
              </a:rPr>
              <a:t>“diffing”</a:t>
            </a:r>
            <a:r>
              <a:rPr lang="en" sz="1100">
                <a:solidFill>
                  <a:schemeClr val="dk1"/>
                </a:solidFill>
              </a:rPr>
              <a:t>.</a:t>
            </a:r>
            <a:br>
              <a:rPr lang="en" sz="1100">
                <a:solidFill>
                  <a:schemeClr val="dk1"/>
                </a:solidFill>
              </a:rPr>
            </a:b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en" sz="1200">
                <a:solidFill>
                  <a:schemeClr val="dk1"/>
                </a:solidFill>
              </a:rPr>
              <a:t>How It Works:</a:t>
            </a:r>
            <a:br>
              <a:rPr b="1" lang="en" sz="12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Virtual DOM Update:</a:t>
            </a:r>
            <a:r>
              <a:rPr lang="en" sz="1100">
                <a:solidFill>
                  <a:schemeClr val="dk1"/>
                </a:solidFill>
              </a:rPr>
              <a:t> React creates a new virtual DOM tree when state or props change.</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Diffing:</a:t>
            </a:r>
            <a:r>
              <a:rPr lang="en" sz="1100">
                <a:solidFill>
                  <a:schemeClr val="dk1"/>
                </a:solidFill>
              </a:rPr>
              <a:t> React compares the new virtual DOM with the previous one.</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Minimal Updates:</a:t>
            </a:r>
            <a:r>
              <a:rPr lang="en" sz="1100">
                <a:solidFill>
                  <a:schemeClr val="dk1"/>
                </a:solidFill>
              </a:rPr>
              <a:t> Only the elements that </a:t>
            </a:r>
            <a:r>
              <a:rPr b="1" lang="en" sz="1100">
                <a:solidFill>
                  <a:schemeClr val="dk1"/>
                </a:solidFill>
              </a:rPr>
              <a:t>actually changed</a:t>
            </a:r>
            <a:r>
              <a:rPr lang="en" sz="1100">
                <a:solidFill>
                  <a:schemeClr val="dk1"/>
                </a:solidFill>
              </a:rPr>
              <a:t> are updated in the real DOM.</a:t>
            </a:r>
            <a:br>
              <a:rPr lang="en" sz="1100">
                <a:solidFill>
                  <a:schemeClr val="dk1"/>
                </a:solidFill>
              </a:rPr>
            </a:b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en" sz="1200">
                <a:solidFill>
                  <a:schemeClr val="dk1"/>
                </a:solidFill>
              </a:rPr>
              <a:t>Key Points / Benefits:</a:t>
            </a:r>
            <a:br>
              <a:rPr b="1" lang="en" sz="1200">
                <a:solidFill>
                  <a:schemeClr val="dk1"/>
                </a:solidFill>
              </a:rPr>
            </a:br>
            <a:endParaRPr b="1" sz="12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Performance:</a:t>
            </a:r>
            <a:r>
              <a:rPr lang="en" sz="1100">
                <a:solidFill>
                  <a:schemeClr val="dk1"/>
                </a:solidFill>
              </a:rPr>
              <a:t> Reduces unnecessary DOM manipulations.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Predictable UI updates:</a:t>
            </a:r>
            <a:r>
              <a:rPr lang="en" sz="1100">
                <a:solidFill>
                  <a:schemeClr val="dk1"/>
                </a:solidFill>
              </a:rPr>
              <a:t> Ensures the UI reflects the latest state.</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Faster Rendering:</a:t>
            </a:r>
            <a:r>
              <a:rPr lang="en" sz="1100">
                <a:solidFill>
                  <a:schemeClr val="dk1"/>
                </a:solidFill>
              </a:rPr>
              <a:t> Optimizes re-rendering by avoiding full DOM updates.</a:t>
            </a:r>
            <a:endParaRPr sz="1100">
              <a:solidFill>
                <a:schemeClr val="dk1"/>
              </a:solidFill>
            </a:endParaRPr>
          </a:p>
          <a:p>
            <a:pPr indent="0" lvl="0" marL="457200" rtl="0" algn="l">
              <a:spcBef>
                <a:spcPts val="0"/>
              </a:spcBef>
              <a:spcAft>
                <a:spcPts val="0"/>
              </a:spcAft>
              <a:buNone/>
            </a:pPr>
            <a:br>
              <a:rPr b="1" lang="en" sz="1100">
                <a:solidFill>
                  <a:schemeClr val="dk1"/>
                </a:solidFill>
              </a:rPr>
            </a:br>
            <a:endParaRPr b="1" sz="11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SzPts val="1100"/>
              <a:buNone/>
            </a:pPr>
            <a:r>
              <a:rPr lang="en"/>
              <a:t>React Diffing Algorithm</a:t>
            </a:r>
            <a:endParaRPr/>
          </a:p>
        </p:txBody>
      </p:sp>
      <p:sp>
        <p:nvSpPr>
          <p:cNvPr id="136" name="Google Shape;136;p22"/>
          <p:cNvSpPr txBox="1"/>
          <p:nvPr/>
        </p:nvSpPr>
        <p:spPr>
          <a:xfrm>
            <a:off x="228600" y="884200"/>
            <a:ext cx="7434300" cy="40866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1200"/>
              </a:spcBef>
              <a:spcAft>
                <a:spcPts val="0"/>
              </a:spcAft>
              <a:buClr>
                <a:schemeClr val="dk1"/>
              </a:buClr>
              <a:buSzPts val="1200"/>
              <a:buAutoNum type="arabicPeriod"/>
            </a:pPr>
            <a:r>
              <a:rPr b="1" lang="en" sz="1200">
                <a:solidFill>
                  <a:schemeClr val="dk1"/>
                </a:solidFill>
              </a:rPr>
              <a:t>Elements Of Different Types → Full Replace</a:t>
            </a:r>
            <a:br>
              <a:rPr b="1" lang="en">
                <a:solidFill>
                  <a:schemeClr val="dk1"/>
                </a:solidFill>
              </a:rPr>
            </a:br>
            <a:r>
              <a:rPr lang="en" sz="1100">
                <a:solidFill>
                  <a:schemeClr val="dk1"/>
                </a:solidFill>
              </a:rPr>
              <a:t>Example - </a:t>
            </a:r>
            <a:r>
              <a:rPr lang="en" sz="1100">
                <a:solidFill>
                  <a:srgbClr val="38761D"/>
                </a:solidFill>
              </a:rPr>
              <a:t>&lt;div&gt; → &lt;span&gt;</a:t>
            </a:r>
            <a:endParaRPr sz="1100">
              <a:solidFill>
                <a:srgbClr val="38761D"/>
              </a:solidFill>
            </a:endParaRPr>
          </a:p>
          <a:p>
            <a:pPr indent="-304800" lvl="0" marL="457200" rtl="0" algn="l">
              <a:lnSpc>
                <a:spcPct val="150000"/>
              </a:lnSpc>
              <a:spcBef>
                <a:spcPts val="0"/>
              </a:spcBef>
              <a:spcAft>
                <a:spcPts val="0"/>
              </a:spcAft>
              <a:buClr>
                <a:schemeClr val="dk1"/>
              </a:buClr>
              <a:buSzPts val="1200"/>
              <a:buAutoNum type="arabicPeriod"/>
            </a:pPr>
            <a:r>
              <a:rPr b="1" lang="en" sz="1200">
                <a:solidFill>
                  <a:schemeClr val="dk1"/>
                </a:solidFill>
              </a:rPr>
              <a:t>DOM Elements Of The Same Type</a:t>
            </a:r>
            <a:r>
              <a:rPr b="1" lang="en" sz="1200">
                <a:solidFill>
                  <a:schemeClr val="dk1"/>
                </a:solidFill>
              </a:rPr>
              <a:t> → Only updates the changed attributes</a:t>
            </a:r>
            <a:br>
              <a:rPr b="1" lang="en">
                <a:solidFill>
                  <a:schemeClr val="dk1"/>
                </a:solidFill>
              </a:rPr>
            </a:br>
            <a:r>
              <a:rPr lang="en" sz="1100">
                <a:solidFill>
                  <a:schemeClr val="dk1"/>
                </a:solidFill>
              </a:rPr>
              <a:t>Example - </a:t>
            </a:r>
            <a:br>
              <a:rPr lang="en" sz="1100">
                <a:solidFill>
                  <a:schemeClr val="dk1"/>
                </a:solidFill>
              </a:rPr>
            </a:br>
            <a:r>
              <a:rPr lang="en" sz="1100">
                <a:solidFill>
                  <a:srgbClr val="38761D"/>
                </a:solidFill>
              </a:rPr>
              <a:t>&lt;div className="before" title="stuff" /&gt;</a:t>
            </a:r>
            <a:br>
              <a:rPr lang="en" sz="1100">
                <a:solidFill>
                  <a:srgbClr val="38761D"/>
                </a:solidFill>
              </a:rPr>
            </a:br>
            <a:br>
              <a:rPr lang="en" sz="1100">
                <a:solidFill>
                  <a:srgbClr val="38761D"/>
                </a:solidFill>
              </a:rPr>
            </a:br>
            <a:r>
              <a:rPr lang="en" sz="1100">
                <a:solidFill>
                  <a:srgbClr val="38761D"/>
                </a:solidFill>
              </a:rPr>
              <a:t>&lt;div className="after" title="stuff" /&gt;</a:t>
            </a:r>
            <a:br>
              <a:rPr lang="en" sz="1100">
                <a:solidFill>
                  <a:srgbClr val="38761D"/>
                </a:solidFill>
              </a:rPr>
            </a:br>
            <a:r>
              <a:rPr b="1" lang="en" sz="1100">
                <a:solidFill>
                  <a:schemeClr val="dk1"/>
                </a:solidFill>
              </a:rPr>
              <a:t>Or</a:t>
            </a:r>
            <a:br>
              <a:rPr lang="en" sz="1100">
                <a:solidFill>
                  <a:srgbClr val="38761D"/>
                </a:solidFill>
              </a:rPr>
            </a:br>
            <a:r>
              <a:rPr lang="en" sz="1100">
                <a:solidFill>
                  <a:srgbClr val="38761D"/>
                </a:solidFill>
              </a:rPr>
              <a:t>&lt;div style={{color: 'red', fontWeight: 'bold'}} /&gt;</a:t>
            </a:r>
            <a:br>
              <a:rPr lang="en" sz="1100">
                <a:solidFill>
                  <a:srgbClr val="38761D"/>
                </a:solidFill>
              </a:rPr>
            </a:br>
            <a:br>
              <a:rPr lang="en" sz="1100">
                <a:solidFill>
                  <a:srgbClr val="38761D"/>
                </a:solidFill>
              </a:rPr>
            </a:br>
            <a:r>
              <a:rPr lang="en" sz="1100">
                <a:solidFill>
                  <a:srgbClr val="38761D"/>
                </a:solidFill>
              </a:rPr>
              <a:t>&lt;div style={{color: 'green', fontWeight: 'bold'}} /&gt;</a:t>
            </a:r>
            <a:br>
              <a:rPr lang="en" sz="1100">
                <a:solidFill>
                  <a:srgbClr val="38761D"/>
                </a:solidFill>
              </a:rPr>
            </a:br>
            <a:endParaRPr b="1">
              <a:solidFill>
                <a:schemeClr val="dk1"/>
              </a:solidFill>
            </a:endParaRPr>
          </a:p>
          <a:p>
            <a:pPr indent="-304800" lvl="0" marL="457200" rtl="0" algn="l">
              <a:lnSpc>
                <a:spcPct val="150000"/>
              </a:lnSpc>
              <a:spcBef>
                <a:spcPts val="0"/>
              </a:spcBef>
              <a:spcAft>
                <a:spcPts val="0"/>
              </a:spcAft>
              <a:buClr>
                <a:schemeClr val="dk1"/>
              </a:buClr>
              <a:buSzPts val="1200"/>
              <a:buAutoNum type="arabicPeriod"/>
            </a:pPr>
            <a:r>
              <a:rPr b="1" lang="en" sz="1100">
                <a:solidFill>
                  <a:schemeClr val="dk1"/>
                </a:solidFill>
              </a:rPr>
              <a:t>Children Diffing Optimization</a:t>
            </a:r>
            <a:endParaRPr b="1" sz="1100">
              <a:solidFill>
                <a:schemeClr val="dk1"/>
              </a:solidFill>
            </a:endParaRPr>
          </a:p>
          <a:p>
            <a:pPr indent="-304800" lvl="1" marL="914400" rtl="0" algn="l">
              <a:lnSpc>
                <a:spcPct val="150000"/>
              </a:lnSpc>
              <a:spcBef>
                <a:spcPts val="0"/>
              </a:spcBef>
              <a:spcAft>
                <a:spcPts val="0"/>
              </a:spcAft>
              <a:buClr>
                <a:schemeClr val="dk1"/>
              </a:buClr>
              <a:buSzPts val="1200"/>
              <a:buAutoNum type="alphaLcPeriod"/>
            </a:pPr>
            <a:r>
              <a:rPr lang="en" sz="1100">
                <a:solidFill>
                  <a:schemeClr val="dk1"/>
                </a:solidFill>
              </a:rPr>
              <a:t>Linear comparison of children.</a:t>
            </a:r>
            <a:endParaRPr sz="1100">
              <a:solidFill>
                <a:schemeClr val="dk1"/>
              </a:solidFill>
            </a:endParaRPr>
          </a:p>
          <a:p>
            <a:pPr indent="-304800" lvl="1" marL="914400" rtl="0" algn="l">
              <a:lnSpc>
                <a:spcPct val="150000"/>
              </a:lnSpc>
              <a:spcBef>
                <a:spcPts val="0"/>
              </a:spcBef>
              <a:spcAft>
                <a:spcPts val="0"/>
              </a:spcAft>
              <a:buClr>
                <a:schemeClr val="dk1"/>
              </a:buClr>
              <a:buSzPts val="1200"/>
              <a:buAutoNum type="alphaLcPeriod"/>
            </a:pPr>
            <a:r>
              <a:rPr lang="en" sz="1100">
                <a:solidFill>
                  <a:schemeClr val="dk1"/>
                </a:solidFill>
              </a:rPr>
              <a:t>Uses keys to match elements.</a:t>
            </a:r>
            <a:endParaRPr sz="1100">
              <a:solidFill>
                <a:schemeClr val="dk1"/>
              </a:solidFill>
            </a:endParaRPr>
          </a:p>
        </p:txBody>
      </p:sp>
      <p:sp>
        <p:nvSpPr>
          <p:cNvPr id="137" name="Google Shape;137;p22"/>
          <p:cNvSpPr/>
          <p:nvPr/>
        </p:nvSpPr>
        <p:spPr>
          <a:xfrm>
            <a:off x="1616250" y="2272275"/>
            <a:ext cx="142500" cy="209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22"/>
          <p:cNvSpPr/>
          <p:nvPr/>
        </p:nvSpPr>
        <p:spPr>
          <a:xfrm>
            <a:off x="1758875" y="3232525"/>
            <a:ext cx="142500" cy="209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SzPts val="1100"/>
              <a:buNone/>
            </a:pPr>
            <a:r>
              <a:rPr lang="en"/>
              <a:t>Diffing with and without Keys</a:t>
            </a:r>
            <a:endParaRPr/>
          </a:p>
        </p:txBody>
      </p:sp>
      <p:sp>
        <p:nvSpPr>
          <p:cNvPr id="144" name="Google Shape;144;p23"/>
          <p:cNvSpPr txBox="1"/>
          <p:nvPr/>
        </p:nvSpPr>
        <p:spPr>
          <a:xfrm>
            <a:off x="221000" y="2519475"/>
            <a:ext cx="547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45" name="Google Shape;145;p23"/>
          <p:cNvPicPr preferRelativeResize="0"/>
          <p:nvPr/>
        </p:nvPicPr>
        <p:blipFill>
          <a:blip r:embed="rId3">
            <a:alphaModFix/>
          </a:blip>
          <a:stretch>
            <a:fillRect/>
          </a:stretch>
        </p:blipFill>
        <p:spPr>
          <a:xfrm>
            <a:off x="5360450" y="1634150"/>
            <a:ext cx="3375125" cy="449150"/>
          </a:xfrm>
          <a:prstGeom prst="rect">
            <a:avLst/>
          </a:prstGeom>
          <a:noFill/>
          <a:ln>
            <a:noFill/>
          </a:ln>
        </p:spPr>
      </p:pic>
      <p:sp>
        <p:nvSpPr>
          <p:cNvPr id="146" name="Google Shape;146;p23"/>
          <p:cNvSpPr txBox="1"/>
          <p:nvPr/>
        </p:nvSpPr>
        <p:spPr>
          <a:xfrm>
            <a:off x="221000" y="782025"/>
            <a:ext cx="4779900" cy="18048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lang="en" sz="1100">
                <a:solidFill>
                  <a:schemeClr val="dk1"/>
                </a:solidFill>
              </a:rPr>
              <a:t>Keys Make Diffing Faster</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Stable identity during reordering.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Prevents unnecessary node destruction.</a:t>
            </a:r>
            <a:endParaRPr sz="1100">
              <a:solidFill>
                <a:schemeClr val="dk1"/>
              </a:solidFill>
            </a:endParaRPr>
          </a:p>
          <a:p>
            <a:pPr indent="0" lvl="0" marL="0" rtl="0" algn="l">
              <a:lnSpc>
                <a:spcPct val="115000"/>
              </a:lnSpc>
              <a:spcBef>
                <a:spcPts val="1200"/>
              </a:spcBef>
              <a:spcAft>
                <a:spcPts val="0"/>
              </a:spcAft>
              <a:buNone/>
            </a:pPr>
            <a:r>
              <a:rPr b="1" lang="en" sz="1100">
                <a:solidFill>
                  <a:schemeClr val="dk1"/>
                </a:solidFill>
              </a:rPr>
              <a:t>Without Keys (Bad Case)</a:t>
            </a:r>
            <a:br>
              <a:rPr b="1" lang="en" sz="1100">
                <a:solidFill>
                  <a:schemeClr val="dk1"/>
                </a:solidFill>
              </a:rPr>
            </a:br>
            <a:r>
              <a:rPr lang="en" sz="1100">
                <a:solidFill>
                  <a:schemeClr val="dk1"/>
                </a:solidFill>
                <a:highlight>
                  <a:srgbClr val="FFD966"/>
                </a:highlight>
              </a:rPr>
              <a:t>React compares index-to-index → mismatches → more DOM operations</a:t>
            </a:r>
            <a:endParaRPr sz="1100">
              <a:solidFill>
                <a:schemeClr val="dk1"/>
              </a:solidFill>
              <a:highlight>
                <a:srgbClr val="FFD966"/>
              </a:highlight>
            </a:endParaRPr>
          </a:p>
          <a:p>
            <a:pPr indent="0" lvl="0" marL="0" rtl="0" algn="l">
              <a:spcBef>
                <a:spcPts val="1200"/>
              </a:spcBef>
              <a:spcAft>
                <a:spcPts val="0"/>
              </a:spcAft>
              <a:buNone/>
            </a:pPr>
            <a:br>
              <a:rPr lang="en" sz="1100">
                <a:solidFill>
                  <a:schemeClr val="dk1"/>
                </a:solidFill>
              </a:rPr>
            </a:br>
            <a:r>
              <a:rPr lang="en" sz="1100">
                <a:solidFill>
                  <a:schemeClr val="dk1"/>
                </a:solidFill>
              </a:rPr>
              <a:t>React may delete and recreate unnecessarily.</a:t>
            </a:r>
            <a:endParaRPr b="1" sz="800">
              <a:solidFill>
                <a:schemeClr val="dk1"/>
              </a:solidFill>
            </a:endParaRPr>
          </a:p>
        </p:txBody>
      </p:sp>
      <p:sp>
        <p:nvSpPr>
          <p:cNvPr id="147" name="Google Shape;147;p23"/>
          <p:cNvSpPr txBox="1"/>
          <p:nvPr/>
        </p:nvSpPr>
        <p:spPr>
          <a:xfrm>
            <a:off x="180625" y="2960500"/>
            <a:ext cx="5476200" cy="107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With Keys(Best Case)</a:t>
            </a:r>
            <a:br>
              <a:rPr b="1" lang="en" sz="1100">
                <a:solidFill>
                  <a:schemeClr val="dk1"/>
                </a:solidFill>
              </a:rPr>
            </a:br>
            <a:r>
              <a:rPr lang="en" sz="1100">
                <a:solidFill>
                  <a:schemeClr val="dk1"/>
                </a:solidFill>
                <a:highlight>
                  <a:srgbClr val="FFD966"/>
                </a:highlight>
              </a:rPr>
              <a:t>React directly matches items using keys</a:t>
            </a:r>
            <a:r>
              <a:rPr lang="en" sz="1100">
                <a:solidFill>
                  <a:schemeClr val="dk1"/>
                </a:solidFill>
                <a:highlight>
                  <a:srgbClr val="F1C232"/>
                </a:highlight>
              </a:rPr>
              <a:t>.</a:t>
            </a:r>
            <a:br>
              <a:rPr lang="en" sz="1100">
                <a:solidFill>
                  <a:schemeClr val="dk1"/>
                </a:solidFill>
                <a:highlight>
                  <a:srgbClr val="F1C232"/>
                </a:highlight>
              </a:rPr>
            </a:br>
            <a:endParaRPr sz="1100">
              <a:solidFill>
                <a:schemeClr val="dk1"/>
              </a:solidFill>
              <a:highlight>
                <a:srgbClr val="F1C232"/>
              </a:highlight>
            </a:endParaRPr>
          </a:p>
          <a:p>
            <a:pPr indent="0" lvl="0" marL="0" rtl="0" algn="l">
              <a:spcBef>
                <a:spcPts val="0"/>
              </a:spcBef>
              <a:spcAft>
                <a:spcPts val="0"/>
              </a:spcAft>
              <a:buNone/>
            </a:pPr>
            <a:r>
              <a:t/>
            </a:r>
            <a:endParaRPr sz="1100">
              <a:solidFill>
                <a:schemeClr val="dk1"/>
              </a:solidFill>
              <a:highlight>
                <a:srgbClr val="F1C232"/>
              </a:highlight>
            </a:endParaRPr>
          </a:p>
          <a:p>
            <a:pPr indent="0" lvl="0" marL="0" rtl="0" algn="l">
              <a:spcBef>
                <a:spcPts val="0"/>
              </a:spcBef>
              <a:spcAft>
                <a:spcPts val="0"/>
              </a:spcAft>
              <a:buNone/>
            </a:pPr>
            <a:r>
              <a:rPr lang="en" sz="1100">
                <a:solidFill>
                  <a:schemeClr val="dk1"/>
                </a:solidFill>
              </a:rPr>
              <a:t>React reuses nodes instead of deleting/creating</a:t>
            </a:r>
            <a:r>
              <a:rPr lang="en">
                <a:solidFill>
                  <a:schemeClr val="dk1"/>
                </a:solidFill>
              </a:rPr>
              <a:t>.</a:t>
            </a:r>
            <a:endParaRPr sz="1100">
              <a:solidFill>
                <a:schemeClr val="dk1"/>
              </a:solidFill>
              <a:highlight>
                <a:srgbClr val="F1C232"/>
              </a:highlight>
            </a:endParaRPr>
          </a:p>
        </p:txBody>
      </p:sp>
      <p:pic>
        <p:nvPicPr>
          <p:cNvPr id="148" name="Google Shape;148;p23"/>
          <p:cNvPicPr preferRelativeResize="0"/>
          <p:nvPr/>
        </p:nvPicPr>
        <p:blipFill>
          <a:blip r:embed="rId4">
            <a:alphaModFix/>
          </a:blip>
          <a:stretch>
            <a:fillRect/>
          </a:stretch>
        </p:blipFill>
        <p:spPr>
          <a:xfrm>
            <a:off x="5769275" y="3045100"/>
            <a:ext cx="2367547" cy="908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nvSpPr>
        <p:spPr>
          <a:xfrm>
            <a:off x="557775" y="2257500"/>
            <a:ext cx="5627100" cy="628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0"/>
              <a:buFont typeface="Arial"/>
              <a:buNone/>
            </a:pPr>
            <a:r>
              <a:rPr b="1" lang="en" sz="4000">
                <a:solidFill>
                  <a:srgbClr val="231F20"/>
                </a:solidFill>
                <a:latin typeface="Century Gothic"/>
                <a:ea typeface="Century Gothic"/>
                <a:cs typeface="Century Gothic"/>
                <a:sym typeface="Century Gothic"/>
              </a:rPr>
              <a:t>Vite React</a:t>
            </a:r>
            <a:endParaRPr b="1" i="0" sz="4000" u="none" cap="none" strike="noStrike">
              <a:solidFill>
                <a:srgbClr val="000000"/>
              </a:solidFill>
              <a:latin typeface="Century Gothic"/>
              <a:ea typeface="Century Gothic"/>
              <a:cs typeface="Century Gothic"/>
              <a:sym typeface="Century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90000"/>
              </a:lnSpc>
              <a:spcBef>
                <a:spcPts val="0"/>
              </a:spcBef>
              <a:spcAft>
                <a:spcPts val="0"/>
              </a:spcAft>
              <a:buSzPts val="2100"/>
              <a:buNone/>
            </a:pPr>
            <a:r>
              <a:rPr lang="en"/>
              <a:t>Vite</a:t>
            </a:r>
            <a:endParaRPr/>
          </a:p>
        </p:txBody>
      </p:sp>
      <p:sp>
        <p:nvSpPr>
          <p:cNvPr id="159" name="Google Shape;159;p25"/>
          <p:cNvSpPr txBox="1"/>
          <p:nvPr/>
        </p:nvSpPr>
        <p:spPr>
          <a:xfrm>
            <a:off x="290400" y="790575"/>
            <a:ext cx="8563200" cy="3796200"/>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None/>
            </a:pPr>
            <a:r>
              <a:rPr b="1" lang="en" sz="1300">
                <a:solidFill>
                  <a:schemeClr val="dk1"/>
                </a:solidFill>
              </a:rPr>
              <a:t>What is Vite?</a:t>
            </a:r>
            <a:endParaRPr sz="1100">
              <a:solidFill>
                <a:schemeClr val="dk1"/>
              </a:solidFill>
            </a:endParaRPr>
          </a:p>
          <a:p>
            <a:pPr indent="-298450" lvl="0" marL="457200" marR="0" rtl="0" algn="just">
              <a:lnSpc>
                <a:spcPct val="150000"/>
              </a:lnSpc>
              <a:spcBef>
                <a:spcPts val="0"/>
              </a:spcBef>
              <a:spcAft>
                <a:spcPts val="0"/>
              </a:spcAft>
              <a:buClr>
                <a:schemeClr val="dk1"/>
              </a:buClr>
              <a:buSzPts val="1100"/>
              <a:buChar char="●"/>
            </a:pPr>
            <a:r>
              <a:rPr lang="en" sz="1100">
                <a:solidFill>
                  <a:schemeClr val="dk1"/>
                </a:solidFill>
              </a:rPr>
              <a:t>Next‑generation frontend build tool.</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lang="en" sz="1100">
                <a:solidFill>
                  <a:schemeClr val="dk1"/>
                </a:solidFill>
              </a:rPr>
              <a:t>Created by Evan You (same creator as Vue).</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lang="en" sz="1100">
                <a:solidFill>
                  <a:schemeClr val="dk1"/>
                </a:solidFill>
              </a:rPr>
              <a:t>Designed for speed using native ES modules.</a:t>
            </a:r>
            <a:endParaRPr sz="1100">
              <a:solidFill>
                <a:schemeClr val="dk1"/>
              </a:solidFill>
            </a:endParaRPr>
          </a:p>
          <a:p>
            <a:pPr indent="0" lvl="0" marL="0" rtl="0" algn="just">
              <a:lnSpc>
                <a:spcPct val="150000"/>
              </a:lnSpc>
              <a:spcBef>
                <a:spcPts val="0"/>
              </a:spcBef>
              <a:spcAft>
                <a:spcPts val="0"/>
              </a:spcAft>
              <a:buNone/>
            </a:pPr>
            <a:r>
              <a:t/>
            </a:r>
            <a:endParaRPr b="1" sz="1100">
              <a:solidFill>
                <a:schemeClr val="dk1"/>
              </a:solidFill>
            </a:endParaRPr>
          </a:p>
          <a:p>
            <a:pPr indent="0" lvl="0" marL="0" rtl="0" algn="just">
              <a:lnSpc>
                <a:spcPct val="150000"/>
              </a:lnSpc>
              <a:spcBef>
                <a:spcPts val="0"/>
              </a:spcBef>
              <a:spcAft>
                <a:spcPts val="0"/>
              </a:spcAft>
              <a:buNone/>
            </a:pPr>
            <a:r>
              <a:rPr b="1" lang="en" sz="1100">
                <a:solidFill>
                  <a:schemeClr val="dk1"/>
                </a:solidFill>
              </a:rPr>
              <a:t>Why Vite for React?</a:t>
            </a:r>
            <a:endParaRPr b="1" sz="1100">
              <a:solidFill>
                <a:schemeClr val="dk1"/>
              </a:solidFill>
            </a:endParaRPr>
          </a:p>
          <a:p>
            <a:pPr indent="-298450" lvl="0" marL="457200" rtl="0" algn="just">
              <a:lnSpc>
                <a:spcPct val="150000"/>
              </a:lnSpc>
              <a:spcBef>
                <a:spcPts val="0"/>
              </a:spcBef>
              <a:spcAft>
                <a:spcPts val="0"/>
              </a:spcAft>
              <a:buClr>
                <a:schemeClr val="dk1"/>
              </a:buClr>
              <a:buSzPts val="1100"/>
              <a:buChar char="●"/>
            </a:pPr>
            <a:r>
              <a:rPr b="1" lang="en" sz="1100">
                <a:solidFill>
                  <a:schemeClr val="dk1"/>
                </a:solidFill>
              </a:rPr>
              <a:t>Instant server start</a:t>
            </a:r>
            <a:r>
              <a:rPr lang="en" sz="1100">
                <a:solidFill>
                  <a:schemeClr val="dk1"/>
                </a:solidFill>
              </a:rPr>
              <a:t> — no bundling on startup.</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b="1" lang="en" sz="1100">
                <a:solidFill>
                  <a:schemeClr val="dk1"/>
                </a:solidFill>
              </a:rPr>
              <a:t>Hot Module Replacement (HMR)</a:t>
            </a:r>
            <a:r>
              <a:rPr lang="en" sz="1100">
                <a:solidFill>
                  <a:schemeClr val="dk1"/>
                </a:solidFill>
              </a:rPr>
              <a:t> is ultra fast.</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b="1" lang="en" sz="1100">
                <a:solidFill>
                  <a:schemeClr val="dk1"/>
                </a:solidFill>
              </a:rPr>
              <a:t>Lightning-fast builds</a:t>
            </a:r>
            <a:r>
              <a:rPr lang="en" sz="1100">
                <a:solidFill>
                  <a:schemeClr val="dk1"/>
                </a:solidFill>
              </a:rPr>
              <a:t> via Rollup.</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b="1" lang="en" sz="1100">
                <a:solidFill>
                  <a:schemeClr val="dk1"/>
                </a:solidFill>
              </a:rPr>
              <a:t>Minimal configuration</a:t>
            </a:r>
            <a:r>
              <a:rPr lang="en" sz="1100">
                <a:solidFill>
                  <a:schemeClr val="dk1"/>
                </a:solidFill>
              </a:rPr>
              <a:t>, perfect for React apps.</a:t>
            </a:r>
            <a:endParaRPr sz="1100">
              <a:solidFill>
                <a:schemeClr val="dk1"/>
              </a:solidFill>
            </a:endParaRPr>
          </a:p>
          <a:p>
            <a:pPr indent="0" lvl="0" marL="0" rtl="0" algn="just">
              <a:lnSpc>
                <a:spcPct val="150000"/>
              </a:lnSpc>
              <a:spcBef>
                <a:spcPts val="0"/>
              </a:spcBef>
              <a:spcAft>
                <a:spcPts val="0"/>
              </a:spcAft>
              <a:buNone/>
            </a:pPr>
            <a:r>
              <a:t/>
            </a:r>
            <a:endParaRPr b="1" sz="1100">
              <a:solidFill>
                <a:schemeClr val="dk1"/>
              </a:solidFill>
            </a:endParaRPr>
          </a:p>
          <a:p>
            <a:pPr indent="0" lvl="0" marL="0" rtl="0" algn="just">
              <a:lnSpc>
                <a:spcPct val="150000"/>
              </a:lnSpc>
              <a:spcBef>
                <a:spcPts val="0"/>
              </a:spcBef>
              <a:spcAft>
                <a:spcPts val="0"/>
              </a:spcAft>
              <a:buNone/>
            </a:pPr>
            <a:r>
              <a:rPr b="1" lang="en" sz="1100">
                <a:solidFill>
                  <a:schemeClr val="dk1"/>
                </a:solidFill>
              </a:rPr>
              <a:t>How Vite Works Internally</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lang="en" sz="1100">
                <a:solidFill>
                  <a:schemeClr val="dk1"/>
                </a:solidFill>
              </a:rPr>
              <a:t>Dev mode → </a:t>
            </a:r>
            <a:r>
              <a:rPr b="1" lang="en" sz="1100">
                <a:solidFill>
                  <a:schemeClr val="dk1"/>
                </a:solidFill>
              </a:rPr>
              <a:t>ESM-based serving</a:t>
            </a:r>
            <a:r>
              <a:rPr lang="en" sz="1100">
                <a:solidFill>
                  <a:schemeClr val="dk1"/>
                </a:solidFill>
              </a:rPr>
              <a:t> (no bundling).</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lang="en" sz="1100">
                <a:solidFill>
                  <a:schemeClr val="dk1"/>
                </a:solidFill>
              </a:rPr>
              <a:t>Prod mode → Uses </a:t>
            </a:r>
            <a:r>
              <a:rPr b="1" lang="en" sz="1100">
                <a:solidFill>
                  <a:schemeClr val="dk1"/>
                </a:solidFill>
              </a:rPr>
              <a:t>Rollup</a:t>
            </a:r>
            <a:r>
              <a:rPr lang="en" sz="1100">
                <a:solidFill>
                  <a:schemeClr val="dk1"/>
                </a:solidFill>
              </a:rPr>
              <a:t> for optimized bundles.</a:t>
            </a:r>
            <a:br>
              <a:rPr lang="en" sz="1100">
                <a:solidFill>
                  <a:schemeClr val="dk1"/>
                </a:solidFill>
              </a:rPr>
            </a:b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lang="en" sz="1100">
                <a:solidFill>
                  <a:schemeClr val="dk1"/>
                </a:solidFill>
              </a:rPr>
              <a:t>Code-splitting + Tree-shaking enabled out of the box.</a:t>
            </a:r>
            <a:endParaRPr sz="1100">
              <a:solidFill>
                <a:schemeClr val="dk1"/>
              </a:solidFill>
            </a:endParaRPr>
          </a:p>
          <a:p>
            <a:pPr indent="0" lvl="0" marL="0" marR="0" rtl="0" algn="just">
              <a:lnSpc>
                <a:spcPct val="150000"/>
              </a:lnSpc>
              <a:spcBef>
                <a:spcPts val="0"/>
              </a:spcBef>
              <a:spcAft>
                <a:spcPts val="0"/>
              </a:spcAft>
              <a:buNone/>
            </a:pPr>
            <a:r>
              <a:t/>
            </a:r>
            <a:endParaRPr b="1" sz="11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90000"/>
              </a:lnSpc>
              <a:spcBef>
                <a:spcPts val="0"/>
              </a:spcBef>
              <a:spcAft>
                <a:spcPts val="0"/>
              </a:spcAft>
              <a:buSzPts val="2100"/>
              <a:buNone/>
            </a:pPr>
            <a:r>
              <a:rPr lang="en"/>
              <a:t>Vite Project Creation</a:t>
            </a:r>
            <a:endParaRPr/>
          </a:p>
        </p:txBody>
      </p:sp>
      <p:sp>
        <p:nvSpPr>
          <p:cNvPr id="165" name="Google Shape;165;p26"/>
          <p:cNvSpPr txBox="1"/>
          <p:nvPr/>
        </p:nvSpPr>
        <p:spPr>
          <a:xfrm>
            <a:off x="290400" y="790575"/>
            <a:ext cx="8563200" cy="3796200"/>
          </a:xfrm>
          <a:prstGeom prst="rect">
            <a:avLst/>
          </a:prstGeom>
          <a:noFill/>
          <a:ln>
            <a:noFill/>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100"/>
              <a:buFont typeface="Arial"/>
              <a:buNone/>
            </a:pPr>
            <a:r>
              <a:rPr lang="en" sz="1100" u="sng">
                <a:solidFill>
                  <a:schemeClr val="hlink"/>
                </a:solidFill>
                <a:hlinkClick r:id="rId3"/>
              </a:rPr>
              <a:t>https://vite.dev/guide/#scaffolding-your-first-vite-project</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t/>
            </a:r>
            <a:endParaRPr sz="1100">
              <a:solidFill>
                <a:schemeClr val="dk1"/>
              </a:solidFill>
            </a:endParaRPr>
          </a:p>
          <a:p>
            <a:pPr indent="0" lvl="0" marL="0" marR="0" rtl="0" algn="just">
              <a:lnSpc>
                <a:spcPct val="150000"/>
              </a:lnSpc>
              <a:spcBef>
                <a:spcPts val="0"/>
              </a:spcBef>
              <a:spcAft>
                <a:spcPts val="0"/>
              </a:spcAft>
              <a:buNone/>
            </a:pPr>
            <a:r>
              <a:t/>
            </a:r>
            <a:endParaRPr sz="1100">
              <a:solidFill>
                <a:schemeClr val="dk1"/>
              </a:solidFill>
            </a:endParaRPr>
          </a:p>
          <a:p>
            <a:pPr indent="0" lvl="0" marL="0" marR="0" rtl="0" algn="just">
              <a:lnSpc>
                <a:spcPct val="150000"/>
              </a:lnSpc>
              <a:spcBef>
                <a:spcPts val="0"/>
              </a:spcBef>
              <a:spcAft>
                <a:spcPts val="0"/>
              </a:spcAft>
              <a:buNone/>
            </a:pPr>
            <a:r>
              <a:t/>
            </a:r>
            <a:endParaRPr sz="1100">
              <a:solidFill>
                <a:schemeClr val="dk1"/>
              </a:solidFill>
            </a:endParaRPr>
          </a:p>
          <a:p>
            <a:pPr indent="0" lvl="0" marL="0" marR="0" rtl="0" algn="just">
              <a:lnSpc>
                <a:spcPct val="150000"/>
              </a:lnSpc>
              <a:spcBef>
                <a:spcPts val="0"/>
              </a:spcBef>
              <a:spcAft>
                <a:spcPts val="0"/>
              </a:spcAft>
              <a:buNone/>
            </a:pPr>
            <a:r>
              <a:t/>
            </a:r>
            <a:endParaRPr sz="1100">
              <a:solidFill>
                <a:schemeClr val="dk1"/>
              </a:solidFill>
            </a:endParaRPr>
          </a:p>
        </p:txBody>
      </p:sp>
      <p:pic>
        <p:nvPicPr>
          <p:cNvPr id="166" name="Google Shape;166;p26"/>
          <p:cNvPicPr preferRelativeResize="0"/>
          <p:nvPr/>
        </p:nvPicPr>
        <p:blipFill>
          <a:blip r:embed="rId4">
            <a:alphaModFix/>
          </a:blip>
          <a:stretch>
            <a:fillRect/>
          </a:stretch>
        </p:blipFill>
        <p:spPr>
          <a:xfrm>
            <a:off x="290400" y="1237248"/>
            <a:ext cx="4583251" cy="17100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90000"/>
              </a:lnSpc>
              <a:spcBef>
                <a:spcPts val="0"/>
              </a:spcBef>
              <a:spcAft>
                <a:spcPts val="0"/>
              </a:spcAft>
              <a:buSzPts val="2100"/>
              <a:buNone/>
            </a:pPr>
            <a:r>
              <a:rPr lang="en"/>
              <a:t>Props and States</a:t>
            </a:r>
            <a:endParaRPr/>
          </a:p>
        </p:txBody>
      </p:sp>
      <p:sp>
        <p:nvSpPr>
          <p:cNvPr id="172" name="Google Shape;172;p27"/>
          <p:cNvSpPr txBox="1"/>
          <p:nvPr/>
        </p:nvSpPr>
        <p:spPr>
          <a:xfrm>
            <a:off x="221000" y="817625"/>
            <a:ext cx="8982300" cy="218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100">
                <a:solidFill>
                  <a:schemeClr val="dk1"/>
                </a:solidFill>
              </a:rPr>
              <a:t>Props (Properties):</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Read-only inputs passed </a:t>
            </a:r>
            <a:r>
              <a:rPr b="1" lang="en" sz="1100">
                <a:solidFill>
                  <a:schemeClr val="dk1"/>
                </a:solidFill>
              </a:rPr>
              <a:t>from parent to child</a:t>
            </a:r>
            <a:r>
              <a:rPr lang="en" sz="1100">
                <a:solidFill>
                  <a:schemeClr val="dk1"/>
                </a:solidFill>
              </a:rPr>
              <a:t> components.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Used to </a:t>
            </a:r>
            <a:r>
              <a:rPr b="1" lang="en" sz="1100">
                <a:solidFill>
                  <a:schemeClr val="dk1"/>
                </a:solidFill>
              </a:rPr>
              <a:t>configure</a:t>
            </a:r>
            <a:r>
              <a:rPr lang="en" sz="1100">
                <a:solidFill>
                  <a:schemeClr val="dk1"/>
                </a:solidFill>
              </a:rPr>
              <a:t>, </a:t>
            </a:r>
            <a:r>
              <a:rPr b="1" lang="en" sz="1100">
                <a:solidFill>
                  <a:schemeClr val="dk1"/>
                </a:solidFill>
              </a:rPr>
              <a:t>customize</a:t>
            </a:r>
            <a:r>
              <a:rPr lang="en" sz="1100">
                <a:solidFill>
                  <a:schemeClr val="dk1"/>
                </a:solidFill>
              </a:rPr>
              <a:t>, and </a:t>
            </a:r>
            <a:r>
              <a:rPr b="1" lang="en" sz="1100">
                <a:solidFill>
                  <a:schemeClr val="dk1"/>
                </a:solidFill>
              </a:rPr>
              <a:t>reuse</a:t>
            </a:r>
            <a:r>
              <a:rPr lang="en" sz="1100">
                <a:solidFill>
                  <a:schemeClr val="dk1"/>
                </a:solidFill>
              </a:rPr>
              <a:t> components.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Immutable — cannot be changed by the receiving component.</a:t>
            </a:r>
            <a:br>
              <a:rPr lang="en" sz="1100">
                <a:solidFill>
                  <a:schemeClr val="dk1"/>
                </a:solidFill>
              </a:rPr>
            </a:br>
            <a:endParaRPr sz="1100"/>
          </a:p>
          <a:p>
            <a:pPr indent="0" lvl="0" marL="0" rtl="0" algn="l">
              <a:lnSpc>
                <a:spcPct val="150000"/>
              </a:lnSpc>
              <a:spcBef>
                <a:spcPts val="1200"/>
              </a:spcBef>
              <a:spcAft>
                <a:spcPts val="0"/>
              </a:spcAft>
              <a:buNone/>
            </a:pPr>
            <a:r>
              <a:rPr b="1" lang="en" sz="1100"/>
              <a:t>State</a:t>
            </a:r>
            <a:r>
              <a:rPr lang="en" sz="1100"/>
              <a:t>: </a:t>
            </a:r>
            <a:endParaRPr sz="1100"/>
          </a:p>
          <a:p>
            <a:pPr indent="-298450" lvl="0" marL="457200" rtl="0" algn="l">
              <a:lnSpc>
                <a:spcPct val="115000"/>
              </a:lnSpc>
              <a:spcBef>
                <a:spcPts val="0"/>
              </a:spcBef>
              <a:spcAft>
                <a:spcPts val="0"/>
              </a:spcAft>
              <a:buClr>
                <a:schemeClr val="dk1"/>
              </a:buClr>
              <a:buSzPts val="1100"/>
              <a:buChar char="●"/>
            </a:pPr>
            <a:r>
              <a:rPr lang="en" sz="1100">
                <a:solidFill>
                  <a:schemeClr val="dk1"/>
                </a:solidFill>
              </a:rPr>
              <a:t>Data </a:t>
            </a:r>
            <a:r>
              <a:rPr b="1" lang="en" sz="1100">
                <a:solidFill>
                  <a:schemeClr val="dk1"/>
                </a:solidFill>
              </a:rPr>
              <a:t>owned and managed inside</a:t>
            </a:r>
            <a:r>
              <a:rPr lang="en" sz="1100">
                <a:solidFill>
                  <a:schemeClr val="dk1"/>
                </a:solidFill>
              </a:rPr>
              <a:t> a component.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Used to </a:t>
            </a:r>
            <a:r>
              <a:rPr b="1" lang="en" sz="1100">
                <a:solidFill>
                  <a:schemeClr val="dk1"/>
                </a:solidFill>
              </a:rPr>
              <a:t>store dynamic values</a:t>
            </a:r>
            <a:r>
              <a:rPr lang="en" sz="1100">
                <a:solidFill>
                  <a:schemeClr val="dk1"/>
                </a:solidFill>
              </a:rPr>
              <a:t> that change over time (like input fields, counters, toggles).</a:t>
            </a:r>
            <a:endParaRPr sz="1100">
              <a:solidFill>
                <a:schemeClr val="dk1"/>
              </a:solidFill>
            </a:endParaRPr>
          </a:p>
          <a:p>
            <a:pPr indent="-298450" lvl="0" marL="457200" rtl="0" algn="l">
              <a:lnSpc>
                <a:spcPct val="115000"/>
              </a:lnSpc>
              <a:spcBef>
                <a:spcPts val="0"/>
              </a:spcBef>
              <a:spcAft>
                <a:spcPts val="0"/>
              </a:spcAft>
              <a:buSzPts val="1100"/>
              <a:buChar char="●"/>
            </a:pPr>
            <a:r>
              <a:rPr lang="en" sz="1100">
                <a:solidFill>
                  <a:schemeClr val="dk1"/>
                </a:solidFill>
              </a:rPr>
              <a:t>Mutable — can be updated using </a:t>
            </a:r>
            <a:r>
              <a:rPr lang="en" sz="1100">
                <a:solidFill>
                  <a:srgbClr val="188038"/>
                </a:solidFill>
                <a:latin typeface="Roboto Mono"/>
                <a:ea typeface="Roboto Mono"/>
                <a:cs typeface="Roboto Mono"/>
                <a:sym typeface="Roboto Mono"/>
              </a:rPr>
              <a:t>setState</a:t>
            </a:r>
            <a:r>
              <a:rPr lang="en" sz="1100">
                <a:solidFill>
                  <a:schemeClr val="dk1"/>
                </a:solidFill>
              </a:rPr>
              <a:t> or </a:t>
            </a:r>
            <a:r>
              <a:rPr lang="en" sz="1100">
                <a:solidFill>
                  <a:srgbClr val="188038"/>
                </a:solidFill>
                <a:latin typeface="Roboto Mono"/>
                <a:ea typeface="Roboto Mono"/>
                <a:cs typeface="Roboto Mono"/>
                <a:sym typeface="Roboto Mono"/>
              </a:rPr>
              <a:t>useState</a:t>
            </a:r>
            <a:r>
              <a:rPr lang="en" sz="1100">
                <a:solidFill>
                  <a:schemeClr val="dk1"/>
                </a:solidFill>
              </a:rPr>
              <a:t>.</a:t>
            </a:r>
            <a:endParaRPr sz="1100"/>
          </a:p>
        </p:txBody>
      </p:sp>
      <p:pic>
        <p:nvPicPr>
          <p:cNvPr id="173" name="Google Shape;173;p27"/>
          <p:cNvPicPr preferRelativeResize="0"/>
          <p:nvPr/>
        </p:nvPicPr>
        <p:blipFill>
          <a:blip r:embed="rId3">
            <a:alphaModFix/>
          </a:blip>
          <a:stretch>
            <a:fillRect/>
          </a:stretch>
        </p:blipFill>
        <p:spPr>
          <a:xfrm>
            <a:off x="264425" y="3103450"/>
            <a:ext cx="4552542" cy="1659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90000"/>
              </a:lnSpc>
              <a:spcBef>
                <a:spcPts val="0"/>
              </a:spcBef>
              <a:spcAft>
                <a:spcPts val="0"/>
              </a:spcAft>
              <a:buSzPts val="2100"/>
              <a:buNone/>
            </a:pPr>
            <a:r>
              <a:rPr lang="en"/>
              <a:t>Synthetic Events</a:t>
            </a:r>
            <a:endParaRPr/>
          </a:p>
        </p:txBody>
      </p:sp>
      <p:sp>
        <p:nvSpPr>
          <p:cNvPr id="179" name="Google Shape;179;p28"/>
          <p:cNvSpPr txBox="1"/>
          <p:nvPr/>
        </p:nvSpPr>
        <p:spPr>
          <a:xfrm>
            <a:off x="221000" y="817625"/>
            <a:ext cx="8982300" cy="270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chemeClr val="dk1"/>
                </a:solidFill>
              </a:rPr>
              <a:t>What Are Synthetic Events?</a:t>
            </a:r>
            <a:endParaRPr b="1" sz="12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Synthetic Events are </a:t>
            </a:r>
            <a:r>
              <a:rPr b="1" lang="en" sz="1100">
                <a:solidFill>
                  <a:schemeClr val="dk1"/>
                </a:solidFill>
              </a:rPr>
              <a:t>React’s wrapper</a:t>
            </a:r>
            <a:r>
              <a:rPr lang="en" sz="1100">
                <a:solidFill>
                  <a:schemeClr val="dk1"/>
                </a:solidFill>
              </a:rPr>
              <a:t> around the browser’s native events.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They provide a </a:t>
            </a:r>
            <a:r>
              <a:rPr b="1" lang="en" sz="1100">
                <a:solidFill>
                  <a:schemeClr val="dk1"/>
                </a:solidFill>
              </a:rPr>
              <a:t>consistent cross-browser interface</a:t>
            </a:r>
            <a:r>
              <a:rPr lang="en" sz="1100">
                <a:solidFill>
                  <a:schemeClr val="dk1"/>
                </a:solidFill>
              </a:rPr>
              <a:t> for event handling.</a:t>
            </a:r>
            <a:endParaRPr sz="1100">
              <a:solidFill>
                <a:schemeClr val="dk1"/>
              </a:solidFill>
            </a:endParaRPr>
          </a:p>
          <a:p>
            <a:pPr indent="0" lvl="0" marL="0" rtl="0" algn="l">
              <a:lnSpc>
                <a:spcPct val="115000"/>
              </a:lnSpc>
              <a:spcBef>
                <a:spcPts val="0"/>
              </a:spcBef>
              <a:spcAft>
                <a:spcPts val="0"/>
              </a:spcAft>
              <a:buNone/>
            </a:pPr>
            <a:r>
              <a:t/>
            </a:r>
            <a:endParaRPr b="1" sz="1100">
              <a:solidFill>
                <a:schemeClr val="dk1"/>
              </a:solidFill>
            </a:endParaRPr>
          </a:p>
          <a:p>
            <a:pPr indent="0" lvl="0" marL="0" rtl="0" algn="l">
              <a:lnSpc>
                <a:spcPct val="115000"/>
              </a:lnSpc>
              <a:spcBef>
                <a:spcPts val="0"/>
              </a:spcBef>
              <a:spcAft>
                <a:spcPts val="0"/>
              </a:spcAft>
              <a:buNone/>
            </a:pPr>
            <a:r>
              <a:rPr b="1" lang="en" sz="1100">
                <a:solidFill>
                  <a:schemeClr val="dk1"/>
                </a:solidFill>
              </a:rPr>
              <a:t>Key points</a:t>
            </a:r>
            <a:endParaRPr b="1" sz="1100">
              <a:solidFill>
                <a:schemeClr val="dk1"/>
              </a:solidFill>
            </a:endParaRPr>
          </a:p>
          <a:p>
            <a:pPr indent="-298450" lvl="0" marL="457200" rtl="0" algn="l">
              <a:lnSpc>
                <a:spcPct val="115000"/>
              </a:lnSpc>
              <a:spcBef>
                <a:spcPts val="0"/>
              </a:spcBef>
              <a:spcAft>
                <a:spcPts val="0"/>
              </a:spcAft>
              <a:buSzPts val="1100"/>
              <a:buChar char="●"/>
            </a:pPr>
            <a:r>
              <a:rPr lang="en" sz="1100">
                <a:solidFill>
                  <a:schemeClr val="dk1"/>
                </a:solidFill>
              </a:rPr>
              <a:t>SyntheticEvent mimics native event — same interface (</a:t>
            </a:r>
            <a:r>
              <a:rPr lang="en" sz="1100">
                <a:solidFill>
                  <a:srgbClr val="38761D"/>
                </a:solidFill>
              </a:rPr>
              <a:t>preventDefault(), stopPropagation()</a:t>
            </a:r>
            <a:r>
              <a:rPr lang="e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React manages all events through a single listener per event type at the root.</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b="1" lang="en" sz="1100">
                <a:solidFill>
                  <a:schemeClr val="dk1"/>
                </a:solidFill>
              </a:rPr>
              <a:t>Example</a:t>
            </a:r>
            <a:br>
              <a:rPr lang="en" sz="1100">
                <a:solidFill>
                  <a:schemeClr val="dk1"/>
                </a:solidFill>
              </a:rPr>
            </a:br>
            <a:r>
              <a:rPr lang="en" sz="1100">
                <a:solidFill>
                  <a:srgbClr val="38761D"/>
                </a:solidFill>
              </a:rPr>
              <a:t>onClick, onDoubleClick, onMouseEnter, onMouseLeave, onMouseMove, onMouseDown, onMouseUp, onContextMenu, onKeyDown, onKeyPress, onKeyUp, onChange, onInput, onSubmit, onFocus, onBlur, onCopy, onCut, onPaste, onCompositionStart, onCompositionUpdate, onCompositionEnd, onDrag, onDragStart, onDragOver, onDrop, onTouchStart, onTouchMove, onTouchEnd, onPointerDown, onPointerMove, onPointerUp, onLoad, onError, onScroll, onWheel</a:t>
            </a:r>
            <a:endParaRPr sz="1100">
              <a:solidFill>
                <a:srgbClr val="38761D"/>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90000"/>
              </a:lnSpc>
              <a:spcBef>
                <a:spcPts val="0"/>
              </a:spcBef>
              <a:spcAft>
                <a:spcPts val="0"/>
              </a:spcAft>
              <a:buSzPts val="2100"/>
              <a:buNone/>
            </a:pPr>
            <a:r>
              <a:rPr lang="en"/>
              <a:t>React Hook (useState)</a:t>
            </a:r>
            <a:endParaRPr/>
          </a:p>
        </p:txBody>
      </p:sp>
      <p:sp>
        <p:nvSpPr>
          <p:cNvPr id="185" name="Google Shape;185;p29"/>
          <p:cNvSpPr txBox="1"/>
          <p:nvPr/>
        </p:nvSpPr>
        <p:spPr>
          <a:xfrm>
            <a:off x="290400" y="1066275"/>
            <a:ext cx="8563200" cy="3796200"/>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None/>
            </a:pPr>
            <a:r>
              <a:rPr b="1" lang="en" sz="1200">
                <a:solidFill>
                  <a:schemeClr val="dk1"/>
                </a:solidFill>
              </a:rPr>
              <a:t>What is </a:t>
            </a:r>
            <a:r>
              <a:rPr b="1" lang="en" sz="1200">
                <a:solidFill>
                  <a:srgbClr val="188038"/>
                </a:solidFill>
              </a:rPr>
              <a:t>useState</a:t>
            </a:r>
            <a:r>
              <a:rPr b="1" lang="en" sz="1200">
                <a:solidFill>
                  <a:schemeClr val="dk1"/>
                </a:solidFill>
              </a:rPr>
              <a:t>?</a:t>
            </a:r>
            <a:endParaRPr b="1" sz="1200">
              <a:solidFill>
                <a:schemeClr val="dk1"/>
              </a:solidFill>
            </a:endParaRPr>
          </a:p>
          <a:p>
            <a:pPr indent="-298450" lvl="0" marL="457200" rtl="0" algn="just">
              <a:lnSpc>
                <a:spcPct val="150000"/>
              </a:lnSpc>
              <a:spcBef>
                <a:spcPts val="0"/>
              </a:spcBef>
              <a:spcAft>
                <a:spcPts val="0"/>
              </a:spcAft>
              <a:buClr>
                <a:schemeClr val="dk1"/>
              </a:buClr>
              <a:buSzPts val="1100"/>
              <a:buChar char="●"/>
            </a:pPr>
            <a:r>
              <a:rPr lang="en" sz="1100">
                <a:solidFill>
                  <a:schemeClr val="dk1"/>
                </a:solidFill>
              </a:rPr>
              <a:t>A </a:t>
            </a:r>
            <a:r>
              <a:rPr b="1" lang="en" sz="1100">
                <a:solidFill>
                  <a:schemeClr val="dk1"/>
                </a:solidFill>
              </a:rPr>
              <a:t>React Hook</a:t>
            </a:r>
            <a:r>
              <a:rPr lang="en" sz="1100">
                <a:solidFill>
                  <a:schemeClr val="dk1"/>
                </a:solidFill>
              </a:rPr>
              <a:t> that lets you </a:t>
            </a:r>
            <a:r>
              <a:rPr b="1" lang="en" sz="1100">
                <a:solidFill>
                  <a:schemeClr val="dk1"/>
                </a:solidFill>
              </a:rPr>
              <a:t>add state</a:t>
            </a:r>
            <a:r>
              <a:rPr lang="en" sz="1100">
                <a:solidFill>
                  <a:schemeClr val="dk1"/>
                </a:solidFill>
              </a:rPr>
              <a:t> to functional components.</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lang="en" sz="1100">
                <a:solidFill>
                  <a:schemeClr val="dk1"/>
                </a:solidFill>
              </a:rPr>
              <a:t>It returns a </a:t>
            </a:r>
            <a:r>
              <a:rPr b="1" lang="en" sz="1100">
                <a:solidFill>
                  <a:schemeClr val="dk1"/>
                </a:solidFill>
              </a:rPr>
              <a:t>state variable</a:t>
            </a:r>
            <a:r>
              <a:rPr lang="en" sz="1100">
                <a:solidFill>
                  <a:schemeClr val="dk1"/>
                </a:solidFill>
              </a:rPr>
              <a:t> and a </a:t>
            </a:r>
            <a:r>
              <a:rPr b="1" lang="en" sz="1100">
                <a:solidFill>
                  <a:schemeClr val="dk1"/>
                </a:solidFill>
              </a:rPr>
              <a:t>function</a:t>
            </a:r>
            <a:r>
              <a:rPr lang="en" sz="1100">
                <a:solidFill>
                  <a:schemeClr val="dk1"/>
                </a:solidFill>
              </a:rPr>
              <a:t> to update it.</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lang="en" sz="1100">
                <a:solidFill>
                  <a:schemeClr val="dk1"/>
                </a:solidFill>
              </a:rPr>
              <a:t>State updates cause </a:t>
            </a:r>
            <a:r>
              <a:rPr b="1" lang="en" sz="1100">
                <a:solidFill>
                  <a:schemeClr val="dk1"/>
                </a:solidFill>
              </a:rPr>
              <a:t>re-rendering</a:t>
            </a:r>
            <a:r>
              <a:rPr lang="en" sz="1100">
                <a:solidFill>
                  <a:schemeClr val="dk1"/>
                </a:solidFill>
              </a:rPr>
              <a:t> of the component.</a:t>
            </a:r>
            <a:endParaRPr sz="1100">
              <a:solidFill>
                <a:schemeClr val="dk1"/>
              </a:solidFill>
            </a:endParaRPr>
          </a:p>
          <a:p>
            <a:pPr indent="0" lvl="0" marL="0" rtl="0" algn="just">
              <a:lnSpc>
                <a:spcPct val="150000"/>
              </a:lnSpc>
              <a:spcBef>
                <a:spcPts val="0"/>
              </a:spcBef>
              <a:spcAft>
                <a:spcPts val="0"/>
              </a:spcAft>
              <a:buNone/>
            </a:pPr>
            <a:r>
              <a:t/>
            </a:r>
            <a:endParaRPr sz="1100">
              <a:solidFill>
                <a:schemeClr val="dk1"/>
              </a:solidFill>
            </a:endParaRPr>
          </a:p>
          <a:p>
            <a:pPr indent="0" lvl="0" marL="0" rtl="0" algn="just">
              <a:lnSpc>
                <a:spcPct val="150000"/>
              </a:lnSpc>
              <a:spcBef>
                <a:spcPts val="0"/>
              </a:spcBef>
              <a:spcAft>
                <a:spcPts val="0"/>
              </a:spcAft>
              <a:buNone/>
            </a:pPr>
            <a:r>
              <a:rPr lang="en" sz="1100">
                <a:solidFill>
                  <a:schemeClr val="dk1"/>
                </a:solidFill>
              </a:rPr>
              <a:t>Example -</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lang="en" sz="1100">
                <a:solidFill>
                  <a:srgbClr val="38761D"/>
                </a:solidFill>
              </a:rPr>
              <a:t>const [state, setState] = useState(initialValue);</a:t>
            </a:r>
            <a:endParaRPr sz="1100">
              <a:solidFill>
                <a:srgbClr val="38761D"/>
              </a:solidFill>
            </a:endParaRPr>
          </a:p>
          <a:p>
            <a:pPr indent="0" lvl="0" marL="0" rtl="0" algn="just">
              <a:lnSpc>
                <a:spcPct val="150000"/>
              </a:lnSpc>
              <a:spcBef>
                <a:spcPts val="0"/>
              </a:spcBef>
              <a:spcAft>
                <a:spcPts val="0"/>
              </a:spcAft>
              <a:buClr>
                <a:schemeClr val="dk1"/>
              </a:buClr>
              <a:buSzPts val="1100"/>
              <a:buFont typeface="Arial"/>
              <a:buNone/>
            </a:pPr>
            <a:r>
              <a:t/>
            </a:r>
            <a:endParaRPr sz="1100">
              <a:solidFill>
                <a:schemeClr val="dk1"/>
              </a:solidFill>
            </a:endParaRPr>
          </a:p>
          <a:p>
            <a:pPr indent="0" lvl="0" marL="0" marR="0" rtl="0" algn="just">
              <a:lnSpc>
                <a:spcPct val="150000"/>
              </a:lnSpc>
              <a:spcBef>
                <a:spcPts val="0"/>
              </a:spcBef>
              <a:spcAft>
                <a:spcPts val="0"/>
              </a:spcAft>
              <a:buNone/>
            </a:pPr>
            <a:r>
              <a:t/>
            </a:r>
            <a:endParaRPr sz="11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90000"/>
              </a:lnSpc>
              <a:spcBef>
                <a:spcPts val="0"/>
              </a:spcBef>
              <a:spcAft>
                <a:spcPts val="0"/>
              </a:spcAft>
              <a:buSzPts val="2100"/>
              <a:buNone/>
            </a:pPr>
            <a:r>
              <a:rPr lang="en"/>
              <a:t>React Hook (useEffect)</a:t>
            </a:r>
            <a:endParaRPr/>
          </a:p>
        </p:txBody>
      </p:sp>
      <p:sp>
        <p:nvSpPr>
          <p:cNvPr id="191" name="Google Shape;191;p30"/>
          <p:cNvSpPr txBox="1"/>
          <p:nvPr/>
        </p:nvSpPr>
        <p:spPr>
          <a:xfrm>
            <a:off x="290400" y="902250"/>
            <a:ext cx="8563200" cy="3796200"/>
          </a:xfrm>
          <a:prstGeom prst="rect">
            <a:avLst/>
          </a:prstGeom>
          <a:noFill/>
          <a:ln>
            <a:noFill/>
          </a:ln>
        </p:spPr>
        <p:txBody>
          <a:bodyPr anchorCtr="0" anchor="t" bIns="0" lIns="0" spcFirstLastPara="1" rIns="0" wrap="square" tIns="0">
            <a:noAutofit/>
          </a:bodyPr>
          <a:lstStyle/>
          <a:p>
            <a:pPr indent="0" lvl="0" marL="0" rtl="0" algn="just">
              <a:lnSpc>
                <a:spcPct val="150000"/>
              </a:lnSpc>
              <a:spcBef>
                <a:spcPts val="0"/>
              </a:spcBef>
              <a:spcAft>
                <a:spcPts val="0"/>
              </a:spcAft>
              <a:buNone/>
            </a:pPr>
            <a:r>
              <a:rPr b="1" lang="en" sz="1100">
                <a:solidFill>
                  <a:schemeClr val="dk1"/>
                </a:solidFill>
              </a:rPr>
              <a:t>Hooks</a:t>
            </a:r>
            <a:r>
              <a:rPr lang="en" sz="1100">
                <a:solidFill>
                  <a:schemeClr val="dk1"/>
                </a:solidFill>
              </a:rPr>
              <a:t> are special functions that let you </a:t>
            </a:r>
            <a:r>
              <a:rPr b="1" lang="en" sz="1100">
                <a:solidFill>
                  <a:schemeClr val="dk1"/>
                </a:solidFill>
              </a:rPr>
              <a:t>“hook into” React features</a:t>
            </a:r>
            <a:r>
              <a:rPr lang="en" sz="1100">
                <a:solidFill>
                  <a:schemeClr val="dk1"/>
                </a:solidFill>
              </a:rPr>
              <a:t> (like state and lifecycle) from </a:t>
            </a:r>
            <a:r>
              <a:rPr b="1" lang="en" sz="1100">
                <a:solidFill>
                  <a:schemeClr val="dk1"/>
                </a:solidFill>
              </a:rPr>
              <a:t>functional components</a:t>
            </a:r>
            <a:r>
              <a:rPr lang="en" sz="1100">
                <a:solidFill>
                  <a:schemeClr val="dk1"/>
                </a:solidFill>
              </a:rPr>
              <a:t>.</a:t>
            </a:r>
            <a:br>
              <a:rPr lang="en" sz="1100">
                <a:solidFill>
                  <a:schemeClr val="dk1"/>
                </a:solidFill>
              </a:rPr>
            </a:br>
            <a:br>
              <a:rPr lang="en" sz="1100">
                <a:solidFill>
                  <a:schemeClr val="dk1"/>
                </a:solidFill>
              </a:rPr>
            </a:br>
            <a:r>
              <a:rPr b="1" lang="en" sz="1100">
                <a:solidFill>
                  <a:schemeClr val="dk1"/>
                </a:solidFill>
              </a:rPr>
              <a:t>What is </a:t>
            </a:r>
            <a:r>
              <a:rPr b="1" lang="en" sz="1100">
                <a:solidFill>
                  <a:srgbClr val="188038"/>
                </a:solidFill>
                <a:latin typeface="Roboto Mono"/>
                <a:ea typeface="Roboto Mono"/>
                <a:cs typeface="Roboto Mono"/>
                <a:sym typeface="Roboto Mono"/>
              </a:rPr>
              <a:t>useEffect</a:t>
            </a:r>
            <a:r>
              <a:rPr b="1" lang="en" sz="1100">
                <a:solidFill>
                  <a:schemeClr val="dk1"/>
                </a:solidFill>
              </a:rPr>
              <a:t>?</a:t>
            </a:r>
            <a:endParaRPr b="1" sz="1100">
              <a:solidFill>
                <a:schemeClr val="dk1"/>
              </a:solidFill>
            </a:endParaRPr>
          </a:p>
          <a:p>
            <a:pPr indent="-298450" lvl="0" marL="457200" rtl="0" algn="just">
              <a:lnSpc>
                <a:spcPct val="150000"/>
              </a:lnSpc>
              <a:spcBef>
                <a:spcPts val="0"/>
              </a:spcBef>
              <a:spcAft>
                <a:spcPts val="0"/>
              </a:spcAft>
              <a:buClr>
                <a:schemeClr val="dk1"/>
              </a:buClr>
              <a:buSzPts val="1100"/>
              <a:buChar char="●"/>
            </a:pPr>
            <a:r>
              <a:rPr lang="en" sz="1100">
                <a:solidFill>
                  <a:schemeClr val="dk1"/>
                </a:solidFill>
              </a:rPr>
              <a:t>A Hook for performing </a:t>
            </a:r>
            <a:r>
              <a:rPr b="1" lang="en" sz="1100">
                <a:solidFill>
                  <a:schemeClr val="dk1"/>
                </a:solidFill>
              </a:rPr>
              <a:t>side effects</a:t>
            </a:r>
            <a:r>
              <a:rPr lang="en" sz="1100">
                <a:solidFill>
                  <a:schemeClr val="dk1"/>
                </a:solidFill>
              </a:rPr>
              <a:t> in React components.</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lang="en" sz="1100">
                <a:solidFill>
                  <a:schemeClr val="dk1"/>
                </a:solidFill>
              </a:rPr>
              <a:t>Side effects are operations that affect something </a:t>
            </a:r>
            <a:r>
              <a:rPr b="1" lang="en" sz="1100">
                <a:solidFill>
                  <a:schemeClr val="dk1"/>
                </a:solidFill>
              </a:rPr>
              <a:t>outside</a:t>
            </a:r>
            <a:r>
              <a:rPr lang="en" sz="1100">
                <a:solidFill>
                  <a:schemeClr val="dk1"/>
                </a:solidFill>
              </a:rPr>
              <a:t> the component — e.g.,</a:t>
            </a:r>
            <a:br>
              <a:rPr lang="en" sz="1100">
                <a:solidFill>
                  <a:schemeClr val="dk1"/>
                </a:solidFill>
              </a:rPr>
            </a:br>
            <a:r>
              <a:rPr lang="en" sz="1100">
                <a:solidFill>
                  <a:schemeClr val="dk1"/>
                </a:solidFill>
              </a:rPr>
              <a:t> 👉 API calls, DOM manipulation, timers, subscriptions, etc.</a:t>
            </a:r>
            <a:endParaRPr sz="1100">
              <a:solidFill>
                <a:schemeClr val="dk1"/>
              </a:solidFill>
            </a:endParaRPr>
          </a:p>
          <a:p>
            <a:pPr indent="0" lvl="0" marL="0" rtl="0" algn="just">
              <a:lnSpc>
                <a:spcPct val="150000"/>
              </a:lnSpc>
              <a:spcBef>
                <a:spcPts val="0"/>
              </a:spcBef>
              <a:spcAft>
                <a:spcPts val="0"/>
              </a:spcAft>
              <a:buNone/>
            </a:pPr>
            <a:r>
              <a:t/>
            </a:r>
            <a:endParaRPr sz="1100">
              <a:solidFill>
                <a:schemeClr val="dk1"/>
              </a:solidFill>
            </a:endParaRPr>
          </a:p>
          <a:p>
            <a:pPr indent="0" lvl="0" marL="0" rtl="0" algn="just">
              <a:lnSpc>
                <a:spcPct val="150000"/>
              </a:lnSpc>
              <a:spcBef>
                <a:spcPts val="0"/>
              </a:spcBef>
              <a:spcAft>
                <a:spcPts val="0"/>
              </a:spcAft>
              <a:buNone/>
            </a:pPr>
            <a:r>
              <a:rPr b="1" lang="en" sz="1100">
                <a:solidFill>
                  <a:schemeClr val="dk1"/>
                </a:solidFill>
              </a:rPr>
              <a:t>Syntax - </a:t>
            </a:r>
            <a:endParaRPr b="1" sz="1100">
              <a:solidFill>
                <a:schemeClr val="dk1"/>
              </a:solidFill>
            </a:endParaRPr>
          </a:p>
          <a:p>
            <a:pPr indent="0" lvl="0" marL="457200" rtl="0" algn="just">
              <a:lnSpc>
                <a:spcPct val="150000"/>
              </a:lnSpc>
              <a:spcBef>
                <a:spcPts val="0"/>
              </a:spcBef>
              <a:spcAft>
                <a:spcPts val="0"/>
              </a:spcAft>
              <a:buNone/>
            </a:pPr>
            <a:r>
              <a:rPr lang="en" sz="1100">
                <a:solidFill>
                  <a:srgbClr val="38761D"/>
                </a:solidFill>
              </a:rPr>
              <a:t>useEffect(() =&gt; {</a:t>
            </a:r>
            <a:endParaRPr sz="1100">
              <a:solidFill>
                <a:srgbClr val="38761D"/>
              </a:solidFill>
            </a:endParaRPr>
          </a:p>
          <a:p>
            <a:pPr indent="0" lvl="0" marL="457200" rtl="0" algn="just">
              <a:lnSpc>
                <a:spcPct val="150000"/>
              </a:lnSpc>
              <a:spcBef>
                <a:spcPts val="0"/>
              </a:spcBef>
              <a:spcAft>
                <a:spcPts val="0"/>
              </a:spcAft>
              <a:buClr>
                <a:schemeClr val="dk1"/>
              </a:buClr>
              <a:buSzPts val="1100"/>
              <a:buFont typeface="Arial"/>
              <a:buNone/>
            </a:pPr>
            <a:r>
              <a:rPr lang="en" sz="1100">
                <a:solidFill>
                  <a:srgbClr val="38761D"/>
                </a:solidFill>
              </a:rPr>
              <a:t>  // Side effect logic here</a:t>
            </a:r>
            <a:endParaRPr sz="1100">
              <a:solidFill>
                <a:srgbClr val="38761D"/>
              </a:solidFill>
            </a:endParaRPr>
          </a:p>
          <a:p>
            <a:pPr indent="0" lvl="0" marL="457200" rtl="0" algn="just">
              <a:lnSpc>
                <a:spcPct val="150000"/>
              </a:lnSpc>
              <a:spcBef>
                <a:spcPts val="0"/>
              </a:spcBef>
              <a:spcAft>
                <a:spcPts val="0"/>
              </a:spcAft>
              <a:buClr>
                <a:schemeClr val="dk1"/>
              </a:buClr>
              <a:buSzPts val="1100"/>
              <a:buFont typeface="Arial"/>
              <a:buNone/>
            </a:pPr>
            <a:r>
              <a:rPr lang="en" sz="1100">
                <a:solidFill>
                  <a:srgbClr val="38761D"/>
                </a:solidFill>
              </a:rPr>
              <a:t>  return () =&gt; {</a:t>
            </a:r>
            <a:endParaRPr sz="1100">
              <a:solidFill>
                <a:srgbClr val="38761D"/>
              </a:solidFill>
            </a:endParaRPr>
          </a:p>
          <a:p>
            <a:pPr indent="0" lvl="0" marL="457200" rtl="0" algn="just">
              <a:lnSpc>
                <a:spcPct val="150000"/>
              </a:lnSpc>
              <a:spcBef>
                <a:spcPts val="0"/>
              </a:spcBef>
              <a:spcAft>
                <a:spcPts val="0"/>
              </a:spcAft>
              <a:buClr>
                <a:schemeClr val="dk1"/>
              </a:buClr>
              <a:buSzPts val="1100"/>
              <a:buFont typeface="Arial"/>
              <a:buNone/>
            </a:pPr>
            <a:r>
              <a:rPr lang="en" sz="1100">
                <a:solidFill>
                  <a:srgbClr val="38761D"/>
                </a:solidFill>
              </a:rPr>
              <a:t>    // Optional cleanup</a:t>
            </a:r>
            <a:endParaRPr sz="1100">
              <a:solidFill>
                <a:srgbClr val="38761D"/>
              </a:solidFill>
            </a:endParaRPr>
          </a:p>
          <a:p>
            <a:pPr indent="0" lvl="0" marL="457200" rtl="0" algn="just">
              <a:lnSpc>
                <a:spcPct val="150000"/>
              </a:lnSpc>
              <a:spcBef>
                <a:spcPts val="0"/>
              </a:spcBef>
              <a:spcAft>
                <a:spcPts val="0"/>
              </a:spcAft>
              <a:buClr>
                <a:schemeClr val="dk1"/>
              </a:buClr>
              <a:buSzPts val="1100"/>
              <a:buFont typeface="Arial"/>
              <a:buNone/>
            </a:pPr>
            <a:r>
              <a:rPr lang="en" sz="1100">
                <a:solidFill>
                  <a:srgbClr val="38761D"/>
                </a:solidFill>
              </a:rPr>
              <a:t>  };</a:t>
            </a:r>
            <a:endParaRPr sz="1100">
              <a:solidFill>
                <a:srgbClr val="38761D"/>
              </a:solidFill>
            </a:endParaRPr>
          </a:p>
          <a:p>
            <a:pPr indent="0" lvl="0" marL="457200" rtl="0" algn="just">
              <a:lnSpc>
                <a:spcPct val="150000"/>
              </a:lnSpc>
              <a:spcBef>
                <a:spcPts val="0"/>
              </a:spcBef>
              <a:spcAft>
                <a:spcPts val="0"/>
              </a:spcAft>
              <a:buClr>
                <a:schemeClr val="dk1"/>
              </a:buClr>
              <a:buSzPts val="1100"/>
              <a:buFont typeface="Arial"/>
              <a:buNone/>
            </a:pPr>
            <a:r>
              <a:rPr lang="en" sz="1100">
                <a:solidFill>
                  <a:srgbClr val="38761D"/>
                </a:solidFill>
              </a:rPr>
              <a:t>}, [dependencies]);</a:t>
            </a:r>
            <a:endParaRPr sz="1100">
              <a:solidFill>
                <a:srgbClr val="38761D"/>
              </a:solidFill>
            </a:endParaRPr>
          </a:p>
          <a:p>
            <a:pPr indent="0" lvl="0" marL="0" rtl="0" algn="just">
              <a:lnSpc>
                <a:spcPct val="150000"/>
              </a:lnSpc>
              <a:spcBef>
                <a:spcPts val="0"/>
              </a:spcBef>
              <a:spcAft>
                <a:spcPts val="0"/>
              </a:spcAft>
              <a:buNone/>
            </a:pPr>
            <a:r>
              <a:t/>
            </a:r>
            <a:endParaRPr b="1" sz="1100">
              <a:solidFill>
                <a:schemeClr val="dk1"/>
              </a:solidFill>
            </a:endParaRPr>
          </a:p>
          <a:p>
            <a:pPr indent="0" lvl="0" marL="0" marR="0" rtl="0" algn="just">
              <a:lnSpc>
                <a:spcPct val="150000"/>
              </a:lnSpc>
              <a:spcBef>
                <a:spcPts val="0"/>
              </a:spcBef>
              <a:spcAft>
                <a:spcPts val="0"/>
              </a:spcAft>
              <a:buNone/>
            </a:pPr>
            <a:r>
              <a:t/>
            </a:r>
            <a:endParaRPr sz="11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90000"/>
              </a:lnSpc>
              <a:spcBef>
                <a:spcPts val="0"/>
              </a:spcBef>
              <a:spcAft>
                <a:spcPts val="0"/>
              </a:spcAft>
              <a:buSzPts val="2100"/>
              <a:buNone/>
            </a:pPr>
            <a:r>
              <a:rPr lang="en"/>
              <a:t>React Hook (useEffect)</a:t>
            </a:r>
            <a:endParaRPr/>
          </a:p>
        </p:txBody>
      </p:sp>
      <p:sp>
        <p:nvSpPr>
          <p:cNvPr id="197" name="Google Shape;197;p31"/>
          <p:cNvSpPr txBox="1"/>
          <p:nvPr/>
        </p:nvSpPr>
        <p:spPr>
          <a:xfrm>
            <a:off x="290400" y="902250"/>
            <a:ext cx="8563200" cy="3796200"/>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None/>
            </a:pPr>
            <a:r>
              <a:rPr b="1" lang="en" sz="1100">
                <a:solidFill>
                  <a:schemeClr val="dk1"/>
                </a:solidFill>
              </a:rPr>
              <a:t>When does it run?</a:t>
            </a:r>
            <a:br>
              <a:rPr b="1" lang="en" sz="1100">
                <a:solidFill>
                  <a:schemeClr val="dk1"/>
                </a:solidFill>
              </a:rPr>
            </a:br>
            <a:endParaRPr sz="1100">
              <a:solidFill>
                <a:schemeClr val="dk1"/>
              </a:solidFill>
            </a:endParaRPr>
          </a:p>
        </p:txBody>
      </p:sp>
      <p:pic>
        <p:nvPicPr>
          <p:cNvPr id="198" name="Google Shape;198;p31"/>
          <p:cNvPicPr preferRelativeResize="0"/>
          <p:nvPr/>
        </p:nvPicPr>
        <p:blipFill>
          <a:blip r:embed="rId3">
            <a:alphaModFix/>
          </a:blip>
          <a:stretch>
            <a:fillRect/>
          </a:stretch>
        </p:blipFill>
        <p:spPr>
          <a:xfrm>
            <a:off x="290400" y="1376950"/>
            <a:ext cx="7603802" cy="16550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2"/>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90000"/>
              </a:lnSpc>
              <a:spcBef>
                <a:spcPts val="0"/>
              </a:spcBef>
              <a:spcAft>
                <a:spcPts val="0"/>
              </a:spcAft>
              <a:buSzPts val="2100"/>
              <a:buNone/>
            </a:pPr>
            <a:r>
              <a:rPr lang="en"/>
              <a:t>React Component Lifecycle</a:t>
            </a:r>
            <a:endParaRPr/>
          </a:p>
        </p:txBody>
      </p:sp>
      <p:pic>
        <p:nvPicPr>
          <p:cNvPr id="204" name="Google Shape;204;p32"/>
          <p:cNvPicPr preferRelativeResize="0"/>
          <p:nvPr/>
        </p:nvPicPr>
        <p:blipFill>
          <a:blip r:embed="rId3">
            <a:alphaModFix/>
          </a:blip>
          <a:stretch>
            <a:fillRect/>
          </a:stretch>
        </p:blipFill>
        <p:spPr>
          <a:xfrm>
            <a:off x="3138575" y="1576375"/>
            <a:ext cx="2590800" cy="19907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3"/>
          <p:cNvSpPr txBox="1"/>
          <p:nvPr/>
        </p:nvSpPr>
        <p:spPr>
          <a:xfrm>
            <a:off x="557775" y="2257500"/>
            <a:ext cx="5627100" cy="628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0"/>
              <a:buFont typeface="Arial"/>
              <a:buNone/>
            </a:pPr>
            <a:r>
              <a:rPr b="1" lang="en" sz="4000">
                <a:solidFill>
                  <a:srgbClr val="231F20"/>
                </a:solidFill>
                <a:latin typeface="Century Gothic"/>
                <a:ea typeface="Century Gothic"/>
                <a:cs typeface="Century Gothic"/>
                <a:sym typeface="Century Gothic"/>
              </a:rPr>
              <a:t>React Router</a:t>
            </a:r>
            <a:endParaRPr b="1" i="0" sz="4000" u="none" cap="none" strike="noStrike">
              <a:solidFill>
                <a:srgbClr val="000000"/>
              </a:solidFill>
              <a:latin typeface="Century Gothic"/>
              <a:ea typeface="Century Gothic"/>
              <a:cs typeface="Century Gothic"/>
              <a:sym typeface="Century Gothic"/>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4"/>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90000"/>
              </a:lnSpc>
              <a:spcBef>
                <a:spcPts val="0"/>
              </a:spcBef>
              <a:spcAft>
                <a:spcPts val="0"/>
              </a:spcAft>
              <a:buSzPts val="2100"/>
              <a:buNone/>
            </a:pPr>
            <a:r>
              <a:rPr lang="en"/>
              <a:t>Routing in React</a:t>
            </a:r>
            <a:endParaRPr/>
          </a:p>
        </p:txBody>
      </p:sp>
      <p:sp>
        <p:nvSpPr>
          <p:cNvPr id="215" name="Google Shape;215;p34"/>
          <p:cNvSpPr txBox="1"/>
          <p:nvPr/>
        </p:nvSpPr>
        <p:spPr>
          <a:xfrm>
            <a:off x="264425" y="931725"/>
            <a:ext cx="8444400" cy="2662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200"/>
              <a:t>Navigation Before SPAs</a:t>
            </a:r>
            <a:endParaRPr b="1" sz="1200"/>
          </a:p>
          <a:p>
            <a:pPr indent="-298450" lvl="0" marL="457200" rtl="0" algn="l">
              <a:lnSpc>
                <a:spcPct val="150000"/>
              </a:lnSpc>
              <a:spcBef>
                <a:spcPts val="0"/>
              </a:spcBef>
              <a:spcAft>
                <a:spcPts val="0"/>
              </a:spcAft>
              <a:buSzPts val="1100"/>
              <a:buChar char="●"/>
            </a:pPr>
            <a:r>
              <a:rPr lang="en" sz="1100"/>
              <a:t>Before SPAs, websites typically followed the </a:t>
            </a:r>
            <a:r>
              <a:rPr b="1" lang="en" sz="1100"/>
              <a:t>Multi-Page Application (MPA)</a:t>
            </a:r>
            <a:r>
              <a:rPr lang="en" sz="1100"/>
              <a:t> model, where each page had its own HTML file. Navigation was done using </a:t>
            </a:r>
            <a:r>
              <a:rPr b="1" lang="en" sz="1100"/>
              <a:t>&lt;a&gt; </a:t>
            </a:r>
            <a:r>
              <a:rPr lang="en" sz="1100"/>
              <a:t>tags, which caused a full-page reload every time a user clicked a link.</a:t>
            </a:r>
            <a:endParaRPr sz="1100"/>
          </a:p>
          <a:p>
            <a:pPr indent="0" lvl="0" marL="457200" rtl="0" algn="l">
              <a:lnSpc>
                <a:spcPct val="150000"/>
              </a:lnSpc>
              <a:spcBef>
                <a:spcPts val="0"/>
              </a:spcBef>
              <a:spcAft>
                <a:spcPts val="0"/>
              </a:spcAft>
              <a:buNone/>
            </a:pPr>
            <a:r>
              <a:rPr b="1" lang="en" sz="1100"/>
              <a:t>Methods of Navigation in Traditional Websites -&gt; </a:t>
            </a:r>
            <a:endParaRPr b="1" sz="1100"/>
          </a:p>
          <a:p>
            <a:pPr indent="-298450" lvl="1" marL="914400" rtl="0" algn="l">
              <a:lnSpc>
                <a:spcPct val="150000"/>
              </a:lnSpc>
              <a:spcBef>
                <a:spcPts val="0"/>
              </a:spcBef>
              <a:spcAft>
                <a:spcPts val="0"/>
              </a:spcAft>
              <a:buSzPts val="1100"/>
              <a:buChar char="○"/>
            </a:pPr>
            <a:r>
              <a:rPr lang="en" sz="1100"/>
              <a:t>Anchor Tags (&lt;a href="page.html"&gt;Go to Page&lt;/a&gt;)</a:t>
            </a:r>
            <a:endParaRPr sz="1100"/>
          </a:p>
          <a:p>
            <a:pPr indent="-298450" lvl="2" marL="1371600" rtl="0" algn="l">
              <a:lnSpc>
                <a:spcPct val="150000"/>
              </a:lnSpc>
              <a:spcBef>
                <a:spcPts val="0"/>
              </a:spcBef>
              <a:spcAft>
                <a:spcPts val="0"/>
              </a:spcAft>
              <a:buSzPts val="1100"/>
              <a:buChar char="■"/>
            </a:pPr>
            <a:r>
              <a:rPr lang="en" sz="1100"/>
              <a:t>Clicking an anchor tag loads a new HTML page.</a:t>
            </a:r>
            <a:endParaRPr sz="1100"/>
          </a:p>
          <a:p>
            <a:pPr indent="-298450" lvl="2" marL="1371600" rtl="0" algn="l">
              <a:lnSpc>
                <a:spcPct val="150000"/>
              </a:lnSpc>
              <a:spcBef>
                <a:spcPts val="0"/>
              </a:spcBef>
              <a:spcAft>
                <a:spcPts val="0"/>
              </a:spcAft>
              <a:buSzPts val="1100"/>
              <a:buChar char="■"/>
            </a:pPr>
            <a:r>
              <a:rPr lang="en" sz="1100"/>
              <a:t>Causes a full page reload, losing the existing state.</a:t>
            </a:r>
            <a:endParaRPr sz="1100"/>
          </a:p>
          <a:p>
            <a:pPr indent="-298450" lvl="1" marL="914400" rtl="0" algn="l">
              <a:lnSpc>
                <a:spcPct val="150000"/>
              </a:lnSpc>
              <a:spcBef>
                <a:spcPts val="0"/>
              </a:spcBef>
              <a:spcAft>
                <a:spcPts val="0"/>
              </a:spcAft>
              <a:buSzPts val="1100"/>
              <a:buChar char="○"/>
            </a:pPr>
            <a:r>
              <a:rPr lang="en" sz="1100"/>
              <a:t>Form Submission (&lt;form action="page.html" method="GET/POST"&gt;)</a:t>
            </a:r>
            <a:endParaRPr sz="1100"/>
          </a:p>
          <a:p>
            <a:pPr indent="-298450" lvl="2" marL="1371600" rtl="0" algn="l">
              <a:lnSpc>
                <a:spcPct val="150000"/>
              </a:lnSpc>
              <a:spcBef>
                <a:spcPts val="0"/>
              </a:spcBef>
              <a:spcAft>
                <a:spcPts val="0"/>
              </a:spcAft>
              <a:buSzPts val="1100"/>
              <a:buChar char="■"/>
            </a:pPr>
            <a:r>
              <a:rPr lang="en" sz="1100"/>
              <a:t>Used to send user input to another page.</a:t>
            </a:r>
            <a:endParaRPr sz="1100"/>
          </a:p>
          <a:p>
            <a:pPr indent="-298450" lvl="2" marL="1371600" rtl="0" algn="l">
              <a:lnSpc>
                <a:spcPct val="150000"/>
              </a:lnSpc>
              <a:spcBef>
                <a:spcPts val="0"/>
              </a:spcBef>
              <a:spcAft>
                <a:spcPts val="0"/>
              </a:spcAft>
              <a:buSzPts val="1100"/>
              <a:buChar char="■"/>
            </a:pPr>
            <a:r>
              <a:rPr lang="en" sz="1100"/>
              <a:t>Results in a new page load.</a:t>
            </a:r>
            <a:endParaRPr sz="1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5"/>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chemeClr val="dk1"/>
              </a:buClr>
              <a:buSzPts val="1100"/>
              <a:buFont typeface="Arial"/>
              <a:buNone/>
            </a:pPr>
            <a:r>
              <a:rPr lang="en"/>
              <a:t>Navigating Between Pages Using JavaScript</a:t>
            </a:r>
            <a:endParaRPr/>
          </a:p>
          <a:p>
            <a:pPr indent="0" lvl="0" marL="0" rtl="0" algn="l">
              <a:spcBef>
                <a:spcPts val="0"/>
              </a:spcBef>
              <a:spcAft>
                <a:spcPts val="0"/>
              </a:spcAft>
              <a:buNone/>
            </a:pPr>
            <a:r>
              <a:t/>
            </a:r>
            <a:endParaRPr/>
          </a:p>
        </p:txBody>
      </p:sp>
      <p:sp>
        <p:nvSpPr>
          <p:cNvPr id="221" name="Google Shape;221;p35"/>
          <p:cNvSpPr txBox="1"/>
          <p:nvPr/>
        </p:nvSpPr>
        <p:spPr>
          <a:xfrm>
            <a:off x="290400" y="1066275"/>
            <a:ext cx="8563200" cy="3796200"/>
          </a:xfrm>
          <a:prstGeom prst="rect">
            <a:avLst/>
          </a:prstGeom>
          <a:noFill/>
          <a:ln>
            <a:noFill/>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100"/>
              <a:buFont typeface="Arial"/>
              <a:buNone/>
            </a:pPr>
            <a:r>
              <a:rPr lang="en" sz="1100"/>
              <a:t>Before React Router, JavaScript allowed navigation using the window.location object and the History API.</a:t>
            </a:r>
            <a:endParaRPr sz="1100"/>
          </a:p>
          <a:p>
            <a:pPr indent="0" lvl="0" marL="0" rtl="0" algn="just">
              <a:lnSpc>
                <a:spcPct val="150000"/>
              </a:lnSpc>
              <a:spcBef>
                <a:spcPts val="0"/>
              </a:spcBef>
              <a:spcAft>
                <a:spcPts val="0"/>
              </a:spcAft>
              <a:buClr>
                <a:schemeClr val="dk1"/>
              </a:buClr>
              <a:buSzPts val="1100"/>
              <a:buFont typeface="Arial"/>
              <a:buNone/>
            </a:pPr>
            <a:r>
              <a:t/>
            </a:r>
            <a:endParaRPr b="1" sz="1200"/>
          </a:p>
          <a:p>
            <a:pPr indent="-304800" lvl="0" marL="457200" rtl="0" algn="just">
              <a:lnSpc>
                <a:spcPct val="150000"/>
              </a:lnSpc>
              <a:spcBef>
                <a:spcPts val="0"/>
              </a:spcBef>
              <a:spcAft>
                <a:spcPts val="0"/>
              </a:spcAft>
              <a:buSzPts val="1200"/>
              <a:buChar char="●"/>
            </a:pPr>
            <a:r>
              <a:rPr b="1" lang="en" sz="1200"/>
              <a:t>Using window.location for Navigation</a:t>
            </a:r>
            <a:endParaRPr b="1" sz="1200"/>
          </a:p>
          <a:p>
            <a:pPr indent="0" lvl="0" marL="457200" rtl="0" algn="just">
              <a:lnSpc>
                <a:spcPct val="150000"/>
              </a:lnSpc>
              <a:spcBef>
                <a:spcPts val="0"/>
              </a:spcBef>
              <a:spcAft>
                <a:spcPts val="0"/>
              </a:spcAft>
              <a:buClr>
                <a:schemeClr val="dk1"/>
              </a:buClr>
              <a:buSzPts val="1100"/>
              <a:buFont typeface="Arial"/>
              <a:buNone/>
            </a:pPr>
            <a:r>
              <a:rPr b="1" lang="en" sz="1200"/>
              <a:t>	</a:t>
            </a:r>
            <a:r>
              <a:rPr lang="en" sz="1100"/>
              <a:t>window.location.href = "https://example.com/new-page";</a:t>
            </a:r>
            <a:endParaRPr sz="1100"/>
          </a:p>
          <a:p>
            <a:pPr indent="0" lvl="0" marL="457200" rtl="0" algn="just">
              <a:lnSpc>
                <a:spcPct val="150000"/>
              </a:lnSpc>
              <a:spcBef>
                <a:spcPts val="0"/>
              </a:spcBef>
              <a:spcAft>
                <a:spcPts val="0"/>
              </a:spcAft>
              <a:buClr>
                <a:schemeClr val="dk1"/>
              </a:buClr>
              <a:buSzPts val="1100"/>
              <a:buFont typeface="Arial"/>
              <a:buNone/>
            </a:pPr>
            <a:r>
              <a:rPr lang="en" sz="1100"/>
              <a:t>	This redirects to another page but causes a full reload.</a:t>
            </a:r>
            <a:endParaRPr sz="1100"/>
          </a:p>
          <a:p>
            <a:pPr indent="-304800" lvl="0" marL="457200" rtl="0" algn="just">
              <a:lnSpc>
                <a:spcPct val="150000"/>
              </a:lnSpc>
              <a:spcBef>
                <a:spcPts val="0"/>
              </a:spcBef>
              <a:spcAft>
                <a:spcPts val="0"/>
              </a:spcAft>
              <a:buSzPts val="1200"/>
              <a:buChar char="●"/>
            </a:pPr>
            <a:r>
              <a:rPr b="1" lang="en" sz="1200"/>
              <a:t>Using the History API for Navigation</a:t>
            </a:r>
            <a:endParaRPr b="1" sz="1200"/>
          </a:p>
          <a:p>
            <a:pPr indent="0" lvl="0" marL="457200" rtl="0" algn="just">
              <a:lnSpc>
                <a:spcPct val="150000"/>
              </a:lnSpc>
              <a:spcBef>
                <a:spcPts val="0"/>
              </a:spcBef>
              <a:spcAft>
                <a:spcPts val="0"/>
              </a:spcAft>
              <a:buNone/>
            </a:pPr>
            <a:r>
              <a:rPr lang="en" sz="1100"/>
              <a:t>Modern browsers introduced the History API, which allows developers to change the URL dynamically without reloading the page.</a:t>
            </a:r>
            <a:endParaRPr sz="1100"/>
          </a:p>
          <a:p>
            <a:pPr indent="457200" lvl="0" marL="0" rtl="0" algn="just">
              <a:lnSpc>
                <a:spcPct val="150000"/>
              </a:lnSpc>
              <a:spcBef>
                <a:spcPts val="0"/>
              </a:spcBef>
              <a:spcAft>
                <a:spcPts val="0"/>
              </a:spcAft>
              <a:buClr>
                <a:schemeClr val="dk1"/>
              </a:buClr>
              <a:buSzPts val="1100"/>
              <a:buFont typeface="Arial"/>
              <a:buNone/>
            </a:pPr>
            <a:r>
              <a:rPr b="1" lang="en" sz="1100"/>
              <a:t>Example</a:t>
            </a:r>
            <a:r>
              <a:rPr b="1" lang="en" sz="1200"/>
              <a:t>: </a:t>
            </a:r>
            <a:r>
              <a:rPr lang="en" sz="1100">
                <a:solidFill>
                  <a:srgbClr val="38761D"/>
                </a:solidFill>
              </a:rPr>
              <a:t> history.pushState({ data: "someData" }, "New Page", "/new-page");</a:t>
            </a:r>
            <a:endParaRPr sz="1100">
              <a:solidFill>
                <a:srgbClr val="38761D"/>
              </a:solidFill>
            </a:endParaRPr>
          </a:p>
          <a:p>
            <a:pPr indent="457200" lvl="0" marL="0" rtl="0" algn="just">
              <a:lnSpc>
                <a:spcPct val="150000"/>
              </a:lnSpc>
              <a:spcBef>
                <a:spcPts val="0"/>
              </a:spcBef>
              <a:spcAft>
                <a:spcPts val="0"/>
              </a:spcAft>
              <a:buClr>
                <a:schemeClr val="dk1"/>
              </a:buClr>
              <a:buSzPts val="1100"/>
              <a:buFont typeface="Arial"/>
              <a:buNone/>
            </a:pPr>
            <a:r>
              <a:rPr lang="en" sz="1100"/>
              <a:t>Updates the URL and allows users to navigate back and forth using the browser buttons.</a:t>
            </a:r>
            <a:endParaRPr sz="1100"/>
          </a:p>
          <a:p>
            <a:pPr indent="0" lvl="0" marL="457200" rtl="0" algn="just">
              <a:lnSpc>
                <a:spcPct val="150000"/>
              </a:lnSpc>
              <a:spcBef>
                <a:spcPts val="0"/>
              </a:spcBef>
              <a:spcAft>
                <a:spcPts val="0"/>
              </a:spcAft>
              <a:buClr>
                <a:schemeClr val="dk1"/>
              </a:buClr>
              <a:buSzPts val="1100"/>
              <a:buFont typeface="Arial"/>
              <a:buNone/>
            </a:pPr>
            <a:r>
              <a:rPr lang="en" sz="1100">
                <a:solidFill>
                  <a:srgbClr val="38761D"/>
                </a:solidFill>
              </a:rPr>
              <a:t>window.onpopstate = (event) =&gt; {</a:t>
            </a:r>
            <a:endParaRPr sz="1100">
              <a:solidFill>
                <a:srgbClr val="38761D"/>
              </a:solidFill>
            </a:endParaRPr>
          </a:p>
          <a:p>
            <a:pPr indent="0" lvl="0" marL="457200" rtl="0" algn="just">
              <a:lnSpc>
                <a:spcPct val="150000"/>
              </a:lnSpc>
              <a:spcBef>
                <a:spcPts val="0"/>
              </a:spcBef>
              <a:spcAft>
                <a:spcPts val="0"/>
              </a:spcAft>
              <a:buClr>
                <a:schemeClr val="dk1"/>
              </a:buClr>
              <a:buSzPts val="1100"/>
              <a:buFont typeface="Arial"/>
              <a:buNone/>
            </a:pPr>
            <a:r>
              <a:rPr lang="en" sz="1100">
                <a:solidFill>
                  <a:srgbClr val="38761D"/>
                </a:solidFill>
              </a:rPr>
              <a:t>  console.log("User navigated back!", event.state);</a:t>
            </a:r>
            <a:endParaRPr sz="1100">
              <a:solidFill>
                <a:srgbClr val="38761D"/>
              </a:solidFill>
            </a:endParaRPr>
          </a:p>
          <a:p>
            <a:pPr indent="0" lvl="0" marL="457200" rtl="0" algn="just">
              <a:lnSpc>
                <a:spcPct val="150000"/>
              </a:lnSpc>
              <a:spcBef>
                <a:spcPts val="0"/>
              </a:spcBef>
              <a:spcAft>
                <a:spcPts val="0"/>
              </a:spcAft>
              <a:buClr>
                <a:schemeClr val="dk1"/>
              </a:buClr>
              <a:buSzPts val="1100"/>
              <a:buFont typeface="Arial"/>
              <a:buNone/>
            </a:pPr>
            <a:r>
              <a:rPr lang="en" sz="1100">
                <a:solidFill>
                  <a:srgbClr val="38761D"/>
                </a:solidFill>
              </a:rPr>
              <a:t>};</a:t>
            </a:r>
            <a:endParaRPr sz="1100">
              <a:solidFill>
                <a:srgbClr val="38761D"/>
              </a:solidFill>
            </a:endParaRPr>
          </a:p>
          <a:p>
            <a:pPr indent="0" lvl="0" marL="0" rtl="0" algn="just">
              <a:lnSpc>
                <a:spcPct val="150000"/>
              </a:lnSpc>
              <a:spcBef>
                <a:spcPts val="0"/>
              </a:spcBef>
              <a:spcAft>
                <a:spcPts val="0"/>
              </a:spcAft>
              <a:buClr>
                <a:schemeClr val="dk1"/>
              </a:buClr>
              <a:buSzPts val="1100"/>
              <a:buFont typeface="Arial"/>
              <a:buNone/>
            </a:pPr>
            <a:r>
              <a:t/>
            </a:r>
            <a:endParaRPr b="1" sz="1200"/>
          </a:p>
          <a:p>
            <a:pPr indent="0" lvl="0" marL="0" marR="0" rtl="0" algn="just">
              <a:lnSpc>
                <a:spcPct val="150000"/>
              </a:lnSpc>
              <a:spcBef>
                <a:spcPts val="0"/>
              </a:spcBef>
              <a:spcAft>
                <a:spcPts val="0"/>
              </a:spcAft>
              <a:buNone/>
            </a:pPr>
            <a:r>
              <a:t/>
            </a:r>
            <a:endParaRPr b="1" sz="12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6"/>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Why React Router?</a:t>
            </a:r>
            <a:endParaRPr/>
          </a:p>
        </p:txBody>
      </p:sp>
      <p:sp>
        <p:nvSpPr>
          <p:cNvPr id="227" name="Google Shape;227;p36"/>
          <p:cNvSpPr txBox="1"/>
          <p:nvPr/>
        </p:nvSpPr>
        <p:spPr>
          <a:xfrm>
            <a:off x="290400" y="902250"/>
            <a:ext cx="8563200" cy="3796200"/>
          </a:xfrm>
          <a:prstGeom prst="rect">
            <a:avLst/>
          </a:prstGeom>
          <a:noFill/>
          <a:ln>
            <a:noFill/>
          </a:ln>
        </p:spPr>
        <p:txBody>
          <a:bodyPr anchorCtr="0" anchor="t" bIns="0" lIns="0" spcFirstLastPara="1" rIns="0" wrap="square" tIns="0">
            <a:noAutofit/>
          </a:bodyPr>
          <a:lstStyle/>
          <a:p>
            <a:pPr indent="0" lvl="0" marL="0" rtl="0" algn="just">
              <a:lnSpc>
                <a:spcPct val="150000"/>
              </a:lnSpc>
              <a:spcBef>
                <a:spcPts val="0"/>
              </a:spcBef>
              <a:spcAft>
                <a:spcPts val="0"/>
              </a:spcAft>
              <a:buNone/>
            </a:pPr>
            <a:r>
              <a:rPr lang="en" sz="1100">
                <a:solidFill>
                  <a:schemeClr val="dk1"/>
                </a:solidFill>
              </a:rPr>
              <a:t>While JavaScript methods like window.location and history.pushState allow navigation, they have limitations:</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b="1" lang="en" sz="1100">
                <a:solidFill>
                  <a:schemeClr val="dk1"/>
                </a:solidFill>
              </a:rPr>
              <a:t>No built-in state management:</a:t>
            </a:r>
            <a:r>
              <a:rPr lang="en" sz="1100">
                <a:solidFill>
                  <a:schemeClr val="dk1"/>
                </a:solidFill>
              </a:rPr>
              <a:t> Passing data between routes requires workarounds.</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b="1" lang="en" sz="1100">
                <a:solidFill>
                  <a:schemeClr val="dk1"/>
                </a:solidFill>
              </a:rPr>
              <a:t>Manual event listeners:</a:t>
            </a:r>
            <a:r>
              <a:rPr lang="en" sz="1100">
                <a:solidFill>
                  <a:schemeClr val="dk1"/>
                </a:solidFill>
              </a:rPr>
              <a:t> Developers need to manually handle navigation changes.</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b="1" lang="en" sz="1100">
                <a:solidFill>
                  <a:schemeClr val="dk1"/>
                </a:solidFill>
              </a:rPr>
              <a:t>No declarative routing:</a:t>
            </a:r>
            <a:r>
              <a:rPr lang="en" sz="1100">
                <a:solidFill>
                  <a:schemeClr val="dk1"/>
                </a:solidFill>
              </a:rPr>
              <a:t> Traditional navigation is imperative, making it harder to manage in large applications.</a:t>
            </a:r>
            <a:endParaRPr sz="1100">
              <a:solidFill>
                <a:schemeClr val="dk1"/>
              </a:solidFill>
            </a:endParaRPr>
          </a:p>
          <a:p>
            <a:pPr indent="0" lvl="0" marL="0" rtl="0" algn="just">
              <a:lnSpc>
                <a:spcPct val="150000"/>
              </a:lnSpc>
              <a:spcBef>
                <a:spcPts val="0"/>
              </a:spcBef>
              <a:spcAft>
                <a:spcPts val="0"/>
              </a:spcAft>
              <a:buNone/>
            </a:pPr>
            <a:r>
              <a:t/>
            </a:r>
            <a:endParaRPr sz="1100">
              <a:solidFill>
                <a:schemeClr val="dk1"/>
              </a:solidFill>
            </a:endParaRPr>
          </a:p>
          <a:p>
            <a:pPr indent="0" lvl="0" marL="0" rtl="0" algn="just">
              <a:lnSpc>
                <a:spcPct val="150000"/>
              </a:lnSpc>
              <a:spcBef>
                <a:spcPts val="0"/>
              </a:spcBef>
              <a:spcAft>
                <a:spcPts val="0"/>
              </a:spcAft>
              <a:buNone/>
            </a:pPr>
            <a:r>
              <a:rPr b="1" lang="en" sz="1100">
                <a:solidFill>
                  <a:schemeClr val="dk1"/>
                </a:solidFill>
              </a:rPr>
              <a:t>How React Router Solves These Issues</a:t>
            </a:r>
            <a:endParaRPr b="1" sz="1100">
              <a:solidFill>
                <a:schemeClr val="dk1"/>
              </a:solidFill>
            </a:endParaRPr>
          </a:p>
          <a:p>
            <a:pPr indent="-298450" lvl="0" marL="457200" rtl="0" algn="just">
              <a:lnSpc>
                <a:spcPct val="150000"/>
              </a:lnSpc>
              <a:spcBef>
                <a:spcPts val="0"/>
              </a:spcBef>
              <a:spcAft>
                <a:spcPts val="0"/>
              </a:spcAft>
              <a:buClr>
                <a:schemeClr val="dk1"/>
              </a:buClr>
              <a:buSzPts val="1100"/>
              <a:buChar char="●"/>
            </a:pPr>
            <a:r>
              <a:rPr b="1" lang="en" sz="1100">
                <a:solidFill>
                  <a:schemeClr val="dk1"/>
                </a:solidFill>
              </a:rPr>
              <a:t>Declarative Routing:</a:t>
            </a:r>
            <a:r>
              <a:rPr lang="en" sz="1100">
                <a:solidFill>
                  <a:schemeClr val="dk1"/>
                </a:solidFill>
              </a:rPr>
              <a:t> Define routes in JSX instead of handling navigation manually.</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b="1" lang="en" sz="1100">
                <a:solidFill>
                  <a:schemeClr val="dk1"/>
                </a:solidFill>
              </a:rPr>
              <a:t>Preserves Component State:</a:t>
            </a:r>
            <a:r>
              <a:rPr lang="en" sz="1100">
                <a:solidFill>
                  <a:schemeClr val="dk1"/>
                </a:solidFill>
              </a:rPr>
              <a:t> Navigating between routes doesn’t unmount components.</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b="1" lang="en" sz="1100">
                <a:solidFill>
                  <a:schemeClr val="dk1"/>
                </a:solidFill>
              </a:rPr>
              <a:t>Easy Parameter Handling:</a:t>
            </a:r>
            <a:r>
              <a:rPr lang="en" sz="1100">
                <a:solidFill>
                  <a:schemeClr val="dk1"/>
                </a:solidFill>
              </a:rPr>
              <a:t> URL parameters and query strings are managed effortlessly.</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b="1" lang="en" sz="1100">
                <a:solidFill>
                  <a:schemeClr val="dk1"/>
                </a:solidFill>
              </a:rPr>
              <a:t>Supports Nested Routing: </a:t>
            </a:r>
            <a:r>
              <a:rPr lang="en" sz="1100">
                <a:solidFill>
                  <a:schemeClr val="dk1"/>
                </a:solidFill>
              </a:rPr>
              <a:t>Complex apps with multiple layouts benefit from structured navigation.</a:t>
            </a:r>
            <a:endParaRPr sz="1100">
              <a:solidFill>
                <a:schemeClr val="dk1"/>
              </a:solidFill>
            </a:endParaRPr>
          </a:p>
          <a:p>
            <a:pPr indent="0" lvl="0" marL="0" rtl="0" algn="just">
              <a:lnSpc>
                <a:spcPct val="150000"/>
              </a:lnSpc>
              <a:spcBef>
                <a:spcPts val="0"/>
              </a:spcBef>
              <a:spcAft>
                <a:spcPts val="0"/>
              </a:spcAft>
              <a:buNone/>
            </a:pPr>
            <a:r>
              <a:t/>
            </a:r>
            <a:endParaRPr sz="1100">
              <a:solidFill>
                <a:schemeClr val="dk1"/>
              </a:solidFill>
            </a:endParaRPr>
          </a:p>
          <a:p>
            <a:pPr indent="0" lvl="0" marL="0" rtl="0" algn="just">
              <a:lnSpc>
                <a:spcPct val="150000"/>
              </a:lnSpc>
              <a:spcBef>
                <a:spcPts val="0"/>
              </a:spcBef>
              <a:spcAft>
                <a:spcPts val="0"/>
              </a:spcAft>
              <a:buNone/>
            </a:pPr>
            <a:r>
              <a:rPr lang="en" sz="1100">
                <a:solidFill>
                  <a:schemeClr val="dk1"/>
                </a:solidFill>
              </a:rPr>
              <a:t>npm i react-router-dom</a:t>
            </a:r>
            <a:endParaRPr sz="11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7"/>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Essential Elements to create a route</a:t>
            </a:r>
            <a:endParaRPr/>
          </a:p>
        </p:txBody>
      </p:sp>
      <p:sp>
        <p:nvSpPr>
          <p:cNvPr id="233" name="Google Shape;233;p37"/>
          <p:cNvSpPr txBox="1"/>
          <p:nvPr/>
        </p:nvSpPr>
        <p:spPr>
          <a:xfrm>
            <a:off x="264425" y="817650"/>
            <a:ext cx="8529900" cy="11160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Clr>
                <a:schemeClr val="dk1"/>
              </a:buClr>
              <a:buSzPts val="1100"/>
              <a:buChar char="●"/>
            </a:pPr>
            <a:r>
              <a:rPr b="1" lang="en" sz="1100">
                <a:solidFill>
                  <a:schemeClr val="dk1"/>
                </a:solidFill>
              </a:rPr>
              <a:t>&lt;BrowserRouter&gt;:</a:t>
            </a:r>
            <a:r>
              <a:rPr lang="en" sz="1100">
                <a:solidFill>
                  <a:schemeClr val="dk1"/>
                </a:solidFill>
              </a:rPr>
              <a:t> Wraps the application to enable routing.</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b="1" lang="en" sz="1100">
                <a:solidFill>
                  <a:schemeClr val="dk1"/>
                </a:solidFill>
              </a:rPr>
              <a:t>&lt;Routes&gt;: </a:t>
            </a:r>
            <a:r>
              <a:rPr lang="en" sz="1100">
                <a:solidFill>
                  <a:schemeClr val="dk1"/>
                </a:solidFill>
              </a:rPr>
              <a:t>Contains all route definitions.</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b="1" lang="en" sz="1100">
                <a:solidFill>
                  <a:schemeClr val="dk1"/>
                </a:solidFill>
              </a:rPr>
              <a:t>&lt;Route&gt;:</a:t>
            </a:r>
            <a:r>
              <a:rPr lang="en" sz="1100">
                <a:solidFill>
                  <a:schemeClr val="dk1"/>
                </a:solidFill>
              </a:rPr>
              <a:t> Defines a path and its corresponding component.</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b="1" lang="en" sz="1100">
                <a:solidFill>
                  <a:schemeClr val="dk1"/>
                </a:solidFill>
              </a:rPr>
              <a:t>&lt;Link&gt;: </a:t>
            </a:r>
            <a:r>
              <a:rPr lang="en" sz="1100">
                <a:solidFill>
                  <a:schemeClr val="dk1"/>
                </a:solidFill>
              </a:rPr>
              <a:t>Prevents full-page reload while navigating.</a:t>
            </a:r>
            <a:endParaRPr sz="1100">
              <a:solidFill>
                <a:schemeClr val="dk1"/>
              </a:solidFill>
            </a:endParaRPr>
          </a:p>
        </p:txBody>
      </p:sp>
      <p:pic>
        <p:nvPicPr>
          <p:cNvPr id="234" name="Google Shape;234;p37"/>
          <p:cNvPicPr preferRelativeResize="0"/>
          <p:nvPr/>
        </p:nvPicPr>
        <p:blipFill>
          <a:blip r:embed="rId3">
            <a:alphaModFix/>
          </a:blip>
          <a:stretch>
            <a:fillRect/>
          </a:stretch>
        </p:blipFill>
        <p:spPr>
          <a:xfrm>
            <a:off x="863600" y="2109803"/>
            <a:ext cx="6339124" cy="1227300"/>
          </a:xfrm>
          <a:prstGeom prst="rect">
            <a:avLst/>
          </a:prstGeom>
          <a:noFill/>
          <a:ln>
            <a:noFill/>
          </a:ln>
        </p:spPr>
      </p:pic>
      <p:sp>
        <p:nvSpPr>
          <p:cNvPr id="235" name="Google Shape;235;p37"/>
          <p:cNvSpPr txBox="1"/>
          <p:nvPr/>
        </p:nvSpPr>
        <p:spPr>
          <a:xfrm>
            <a:off x="264425" y="3513250"/>
            <a:ext cx="7339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200"/>
              <a:t>Wrapping parent level component with &lt;BrowserRouter&gt; allows us to use routing features at child level.</a:t>
            </a:r>
            <a:endParaRPr sz="1200"/>
          </a:p>
          <a:p>
            <a:pPr indent="0" lvl="0" marL="0" rtl="0" algn="l">
              <a:spcBef>
                <a:spcPts val="0"/>
              </a:spcBef>
              <a:spcAft>
                <a:spcPts val="0"/>
              </a:spcAft>
              <a:buNone/>
            </a:pPr>
            <a:r>
              <a:rPr lang="en" sz="1200"/>
              <a:t>To tell react which component to use at a specified path </a:t>
            </a:r>
            <a:r>
              <a:rPr b="1" lang="en" sz="1200"/>
              <a:t>element</a:t>
            </a:r>
            <a:r>
              <a:rPr lang="en" sz="1200"/>
              <a:t> prop is used.</a:t>
            </a:r>
            <a:endParaRPr sz="12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8"/>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Link Tag</a:t>
            </a:r>
            <a:endParaRPr/>
          </a:p>
        </p:txBody>
      </p:sp>
      <p:sp>
        <p:nvSpPr>
          <p:cNvPr id="241" name="Google Shape;241;p38"/>
          <p:cNvSpPr txBox="1"/>
          <p:nvPr/>
        </p:nvSpPr>
        <p:spPr>
          <a:xfrm>
            <a:off x="313750" y="742950"/>
            <a:ext cx="85092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100">
                <a:solidFill>
                  <a:srgbClr val="38761D"/>
                </a:solidFill>
              </a:rPr>
              <a:t>&lt;Link&gt; </a:t>
            </a:r>
            <a:r>
              <a:rPr lang="en" sz="1100"/>
              <a:t>component is essential for enabling client-side navigation in your React applications. It serves as an enhanced </a:t>
            </a:r>
            <a:r>
              <a:rPr lang="en" sz="1100">
                <a:solidFill>
                  <a:srgbClr val="38761D"/>
                </a:solidFill>
              </a:rPr>
              <a:t>&lt;a&gt;</a:t>
            </a:r>
            <a:r>
              <a:rPr lang="en" sz="1100"/>
              <a:t> tag, allowing users to navigate between different routes without causing a full page reload.</a:t>
            </a:r>
            <a:endParaRPr sz="1100"/>
          </a:p>
          <a:p>
            <a:pPr indent="0" lvl="0" marL="0" rtl="0" algn="l">
              <a:spcBef>
                <a:spcPts val="0"/>
              </a:spcBef>
              <a:spcAft>
                <a:spcPts val="0"/>
              </a:spcAft>
              <a:buNone/>
            </a:pPr>
            <a:r>
              <a:t/>
            </a:r>
            <a:endParaRPr sz="1100"/>
          </a:p>
        </p:txBody>
      </p:sp>
      <p:pic>
        <p:nvPicPr>
          <p:cNvPr id="242" name="Google Shape;242;p38"/>
          <p:cNvPicPr preferRelativeResize="0"/>
          <p:nvPr/>
        </p:nvPicPr>
        <p:blipFill>
          <a:blip r:embed="rId3">
            <a:alphaModFix/>
          </a:blip>
          <a:stretch>
            <a:fillRect/>
          </a:stretch>
        </p:blipFill>
        <p:spPr>
          <a:xfrm>
            <a:off x="390100" y="1336100"/>
            <a:ext cx="4324775" cy="1235650"/>
          </a:xfrm>
          <a:prstGeom prst="rect">
            <a:avLst/>
          </a:prstGeom>
          <a:noFill/>
          <a:ln>
            <a:noFill/>
          </a:ln>
        </p:spPr>
      </p:pic>
      <p:sp>
        <p:nvSpPr>
          <p:cNvPr id="243" name="Google Shape;243;p38"/>
          <p:cNvSpPr txBox="1"/>
          <p:nvPr/>
        </p:nvSpPr>
        <p:spPr>
          <a:xfrm>
            <a:off x="390100" y="2800350"/>
            <a:ext cx="7824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The to prop can also accept an object, allowing for more complex navigation scenarios, such as including search parameters</a:t>
            </a:r>
            <a:endParaRPr/>
          </a:p>
        </p:txBody>
      </p:sp>
      <p:pic>
        <p:nvPicPr>
          <p:cNvPr id="244" name="Google Shape;244;p38"/>
          <p:cNvPicPr preferRelativeResize="0"/>
          <p:nvPr/>
        </p:nvPicPr>
        <p:blipFill>
          <a:blip r:embed="rId4">
            <a:alphaModFix/>
          </a:blip>
          <a:stretch>
            <a:fillRect/>
          </a:stretch>
        </p:blipFill>
        <p:spPr>
          <a:xfrm>
            <a:off x="390100" y="3437925"/>
            <a:ext cx="6495175" cy="13918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9"/>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Nested Route</a:t>
            </a:r>
            <a:endParaRPr/>
          </a:p>
        </p:txBody>
      </p:sp>
      <p:sp>
        <p:nvSpPr>
          <p:cNvPr id="250" name="Google Shape;250;p39"/>
          <p:cNvSpPr txBox="1"/>
          <p:nvPr/>
        </p:nvSpPr>
        <p:spPr>
          <a:xfrm>
            <a:off x="290400" y="990075"/>
            <a:ext cx="8563200" cy="3796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100">
                <a:highlight>
                  <a:srgbClr val="FFFFFF"/>
                </a:highlight>
              </a:rPr>
              <a:t>A nested route is a route at which the component defined on that route is rendered as well as the component defined on its parent route is rendered.</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rPr lang="en" sz="1100">
                <a:highlight>
                  <a:srgbClr val="FFFFFF"/>
                </a:highlight>
              </a:rPr>
              <a:t>Ex.</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rPr lang="en" sz="1100">
                <a:highlight>
                  <a:srgbClr val="FFFFFF"/>
                </a:highlight>
              </a:rPr>
              <a:t>	</a:t>
            </a:r>
            <a:r>
              <a:rPr lang="en" sz="1100">
                <a:solidFill>
                  <a:srgbClr val="38761D"/>
                </a:solidFill>
                <a:highlight>
                  <a:srgbClr val="FFFFFF"/>
                </a:highlight>
              </a:rPr>
              <a:t>&lt;Route path=’/parent’ element={&lt;Parent /&gt;} &gt;</a:t>
            </a:r>
            <a:endParaRPr sz="1100">
              <a:solidFill>
                <a:srgbClr val="38761D"/>
              </a:solidFill>
              <a:highlight>
                <a:srgbClr val="FFFFFF"/>
              </a:highlight>
            </a:endParaRPr>
          </a:p>
          <a:p>
            <a:pPr indent="0" lvl="0" marL="0" rtl="0" algn="just">
              <a:lnSpc>
                <a:spcPct val="115000"/>
              </a:lnSpc>
              <a:spcBef>
                <a:spcPts val="0"/>
              </a:spcBef>
              <a:spcAft>
                <a:spcPts val="0"/>
              </a:spcAft>
              <a:buClr>
                <a:schemeClr val="dk1"/>
              </a:buClr>
              <a:buSzPts val="1100"/>
              <a:buFont typeface="Arial"/>
              <a:buNone/>
            </a:pPr>
            <a:r>
              <a:rPr lang="en" sz="1100">
                <a:solidFill>
                  <a:srgbClr val="38761D"/>
                </a:solidFill>
                <a:highlight>
                  <a:srgbClr val="FFFFFF"/>
                </a:highlight>
              </a:rPr>
              <a:t>		&lt;Route path=’child’ element={&lt;Child /&gt; /}</a:t>
            </a:r>
            <a:endParaRPr sz="1100">
              <a:solidFill>
                <a:srgbClr val="38761D"/>
              </a:solidFill>
              <a:highlight>
                <a:srgbClr val="FFFFFF"/>
              </a:highlight>
            </a:endParaRPr>
          </a:p>
          <a:p>
            <a:pPr indent="0" lvl="0" marL="0" rtl="0" algn="just">
              <a:lnSpc>
                <a:spcPct val="115000"/>
              </a:lnSpc>
              <a:spcBef>
                <a:spcPts val="0"/>
              </a:spcBef>
              <a:spcAft>
                <a:spcPts val="0"/>
              </a:spcAft>
              <a:buClr>
                <a:schemeClr val="dk1"/>
              </a:buClr>
              <a:buSzPts val="1100"/>
              <a:buFont typeface="Arial"/>
              <a:buNone/>
            </a:pPr>
            <a:r>
              <a:rPr lang="en" sz="1100">
                <a:solidFill>
                  <a:srgbClr val="38761D"/>
                </a:solidFill>
                <a:highlight>
                  <a:srgbClr val="FFFFFF"/>
                </a:highlight>
              </a:rPr>
              <a:t>	&lt;/Route&gt;</a:t>
            </a:r>
            <a:endParaRPr sz="1100">
              <a:solidFill>
                <a:srgbClr val="38761D"/>
              </a:solidFill>
              <a:highlight>
                <a:srgbClr val="FFFFFF"/>
              </a:highlight>
            </a:endParaRPr>
          </a:p>
          <a:p>
            <a:pPr indent="0" lvl="0" marL="0" rtl="0" algn="just">
              <a:lnSpc>
                <a:spcPct val="115000"/>
              </a:lnSpc>
              <a:spcBef>
                <a:spcPts val="0"/>
              </a:spcBef>
              <a:spcAft>
                <a:spcPts val="0"/>
              </a:spcAft>
              <a:buClr>
                <a:schemeClr val="dk1"/>
              </a:buClr>
              <a:buSzPts val="1100"/>
              <a:buFont typeface="Arial"/>
              <a:buNone/>
            </a:pPr>
            <a:r>
              <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rPr lang="en" sz="1100">
                <a:highlight>
                  <a:srgbClr val="FFFFFF"/>
                </a:highlight>
              </a:rPr>
              <a:t>Here, </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rPr lang="en" sz="1100">
                <a:highlight>
                  <a:srgbClr val="FFFFFF"/>
                </a:highlight>
              </a:rPr>
              <a:t>The path of the parent route is automatically included in the child, so this config creates both </a:t>
            </a:r>
            <a:r>
              <a:rPr lang="en" sz="1100">
                <a:solidFill>
                  <a:srgbClr val="38761D"/>
                </a:solidFill>
                <a:highlight>
                  <a:srgbClr val="FFFFFF"/>
                </a:highlight>
              </a:rPr>
              <a:t>"/parent" </a:t>
            </a:r>
            <a:r>
              <a:rPr lang="en" sz="1100">
                <a:highlight>
                  <a:srgbClr val="FFFFFF"/>
                </a:highlight>
              </a:rPr>
              <a:t>and </a:t>
            </a:r>
            <a:r>
              <a:rPr lang="en" sz="1100">
                <a:solidFill>
                  <a:srgbClr val="38761D"/>
                </a:solidFill>
                <a:highlight>
                  <a:srgbClr val="FFFFFF"/>
                </a:highlight>
              </a:rPr>
              <a:t>"/parent/child"</a:t>
            </a:r>
            <a:r>
              <a:rPr lang="en" sz="1100">
                <a:highlight>
                  <a:srgbClr val="FFFFFF"/>
                </a:highlight>
              </a:rPr>
              <a:t> URLs.</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rPr b="1" lang="en" sz="1100">
                <a:highlight>
                  <a:srgbClr val="FFFFFF"/>
                </a:highlight>
              </a:rPr>
              <a:t>Outlet</a:t>
            </a:r>
            <a:endParaRPr b="1"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rPr lang="en" sz="1100">
                <a:highlight>
                  <a:srgbClr val="FFFFFF"/>
                </a:highlight>
              </a:rPr>
              <a:t>Here, when browser is on path /parent/child then both parent and child components will be rendered. The position of child component in UI is decided by Outlet component which is placed inside parent component.</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rPr b="1" lang="en" sz="1100">
                <a:highlight>
                  <a:srgbClr val="FFFFFF"/>
                </a:highlight>
              </a:rPr>
              <a:t> </a:t>
            </a:r>
            <a:endParaRPr b="1" sz="1100">
              <a:highlight>
                <a:srgbClr val="FFFFFF"/>
              </a:highlight>
            </a:endParaRPr>
          </a:p>
          <a:p>
            <a:pPr indent="0" lvl="0" marL="0" rtl="0" algn="just">
              <a:lnSpc>
                <a:spcPct val="115000"/>
              </a:lnSpc>
              <a:spcBef>
                <a:spcPts val="0"/>
              </a:spcBef>
              <a:spcAft>
                <a:spcPts val="0"/>
              </a:spcAft>
              <a:buNone/>
            </a:pPr>
            <a:r>
              <a:rPr lang="en" sz="1100">
                <a:highlight>
                  <a:srgbClr val="FFFFFF"/>
                </a:highlight>
              </a:rPr>
              <a:t>Suppose we want the child component to be rendered as well on parent route and not on separate route. Then we can achieve that by using index prop on that child route</a:t>
            </a:r>
            <a:endParaRPr sz="1100">
              <a:highlight>
                <a:srgbClr val="FFFFFF"/>
              </a:high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0"/>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Layout Routes</a:t>
            </a:r>
            <a:endParaRPr/>
          </a:p>
        </p:txBody>
      </p:sp>
      <p:sp>
        <p:nvSpPr>
          <p:cNvPr id="256" name="Google Shape;256;p40"/>
          <p:cNvSpPr txBox="1"/>
          <p:nvPr/>
        </p:nvSpPr>
        <p:spPr>
          <a:xfrm>
            <a:off x="290400" y="990075"/>
            <a:ext cx="8563200" cy="3796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100">
                <a:highlight>
                  <a:srgbClr val="FFFFFF"/>
                </a:highlight>
              </a:rPr>
              <a:t>Routes without a path create new nesting for their children, but they don't add any segments to the URL.</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rPr lang="en" sz="1100">
                <a:highlight>
                  <a:srgbClr val="FFFFFF"/>
                </a:highlight>
              </a:rPr>
              <a:t>Consider a scenario where, we want to render some components on every route. For example, Header component. Each page in the app should have Header component. Now we can achieve that using nested routes.</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rPr b="1" lang="en" sz="1100">
                <a:highlight>
                  <a:srgbClr val="FFFFFF"/>
                </a:highlight>
              </a:rPr>
              <a:t>Ex </a:t>
            </a:r>
            <a:endParaRPr b="1"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rPr lang="en" sz="1100">
                <a:solidFill>
                  <a:srgbClr val="38761D"/>
                </a:solidFill>
                <a:highlight>
                  <a:srgbClr val="FFFFFF"/>
                </a:highlight>
              </a:rPr>
              <a:t>&lt;Route path=’/header element={&lt;Header /&gt;} &gt;</a:t>
            </a:r>
            <a:endParaRPr sz="1100">
              <a:solidFill>
                <a:srgbClr val="38761D"/>
              </a:solidFill>
              <a:highlight>
                <a:srgbClr val="FFFFFF"/>
              </a:highlight>
            </a:endParaRPr>
          </a:p>
          <a:p>
            <a:pPr indent="0" lvl="0" marL="0" rtl="0" algn="just">
              <a:lnSpc>
                <a:spcPct val="115000"/>
              </a:lnSpc>
              <a:spcBef>
                <a:spcPts val="0"/>
              </a:spcBef>
              <a:spcAft>
                <a:spcPts val="0"/>
              </a:spcAft>
              <a:buClr>
                <a:schemeClr val="dk1"/>
              </a:buClr>
              <a:buSzPts val="1100"/>
              <a:buFont typeface="Arial"/>
              <a:buNone/>
            </a:pPr>
            <a:r>
              <a:rPr lang="en" sz="1100">
                <a:solidFill>
                  <a:srgbClr val="38761D"/>
                </a:solidFill>
                <a:highlight>
                  <a:srgbClr val="FFFFFF"/>
                </a:highlight>
              </a:rPr>
              <a:t>	&lt;Route path=’child1’ element={&lt;Child1 /&gt; }/&gt;</a:t>
            </a:r>
            <a:endParaRPr sz="1100">
              <a:solidFill>
                <a:srgbClr val="38761D"/>
              </a:solidFill>
              <a:highlight>
                <a:srgbClr val="FFFFFF"/>
              </a:highlight>
            </a:endParaRPr>
          </a:p>
          <a:p>
            <a:pPr indent="0" lvl="0" marL="457200" rtl="0" algn="just">
              <a:lnSpc>
                <a:spcPct val="115000"/>
              </a:lnSpc>
              <a:spcBef>
                <a:spcPts val="0"/>
              </a:spcBef>
              <a:spcAft>
                <a:spcPts val="0"/>
              </a:spcAft>
              <a:buClr>
                <a:schemeClr val="dk1"/>
              </a:buClr>
              <a:buSzPts val="1100"/>
              <a:buFont typeface="Arial"/>
              <a:buNone/>
            </a:pPr>
            <a:r>
              <a:rPr lang="en" sz="1100">
                <a:solidFill>
                  <a:srgbClr val="38761D"/>
                </a:solidFill>
                <a:highlight>
                  <a:srgbClr val="FFFFFF"/>
                </a:highlight>
              </a:rPr>
              <a:t>&lt;Route path=’child2’ element={&lt;Child2 /&gt; }/&gt;</a:t>
            </a:r>
            <a:endParaRPr sz="1100">
              <a:solidFill>
                <a:srgbClr val="38761D"/>
              </a:solidFill>
              <a:highlight>
                <a:srgbClr val="FFFFFF"/>
              </a:highlight>
            </a:endParaRPr>
          </a:p>
          <a:p>
            <a:pPr indent="0" lvl="0" marL="457200" rtl="0" algn="just">
              <a:lnSpc>
                <a:spcPct val="115000"/>
              </a:lnSpc>
              <a:spcBef>
                <a:spcPts val="0"/>
              </a:spcBef>
              <a:spcAft>
                <a:spcPts val="0"/>
              </a:spcAft>
              <a:buClr>
                <a:schemeClr val="dk1"/>
              </a:buClr>
              <a:buSzPts val="1100"/>
              <a:buFont typeface="Arial"/>
              <a:buNone/>
            </a:pPr>
            <a:r>
              <a:rPr lang="en" sz="1100">
                <a:solidFill>
                  <a:srgbClr val="38761D"/>
                </a:solidFill>
                <a:highlight>
                  <a:srgbClr val="FFFFFF"/>
                </a:highlight>
              </a:rPr>
              <a:t>&lt;Route path=’child3’ element={&lt;Child3 /&gt; }/&gt;</a:t>
            </a:r>
            <a:endParaRPr sz="1100">
              <a:solidFill>
                <a:srgbClr val="38761D"/>
              </a:solidFill>
              <a:highlight>
                <a:srgbClr val="FFFFFF"/>
              </a:highlight>
            </a:endParaRPr>
          </a:p>
          <a:p>
            <a:pPr indent="0" lvl="0" marL="0" rtl="0" algn="just">
              <a:lnSpc>
                <a:spcPct val="115000"/>
              </a:lnSpc>
              <a:spcBef>
                <a:spcPts val="0"/>
              </a:spcBef>
              <a:spcAft>
                <a:spcPts val="0"/>
              </a:spcAft>
              <a:buClr>
                <a:schemeClr val="dk1"/>
              </a:buClr>
              <a:buSzPts val="1100"/>
              <a:buFont typeface="Arial"/>
              <a:buNone/>
            </a:pPr>
            <a:r>
              <a:rPr lang="en" sz="1100">
                <a:solidFill>
                  <a:srgbClr val="38761D"/>
                </a:solidFill>
                <a:highlight>
                  <a:srgbClr val="FFFFFF"/>
                </a:highlight>
              </a:rPr>
              <a:t>&lt;/Route&gt;</a:t>
            </a:r>
            <a:endParaRPr sz="1100">
              <a:solidFill>
                <a:srgbClr val="38761D"/>
              </a:solidFill>
              <a:highlight>
                <a:srgbClr val="FFFFFF"/>
              </a:highlight>
            </a:endParaRPr>
          </a:p>
          <a:p>
            <a:pPr indent="0" lvl="0" marL="0" rtl="0" algn="just">
              <a:lnSpc>
                <a:spcPct val="115000"/>
              </a:lnSpc>
              <a:spcBef>
                <a:spcPts val="0"/>
              </a:spcBef>
              <a:spcAft>
                <a:spcPts val="0"/>
              </a:spcAft>
              <a:buClr>
                <a:schemeClr val="dk1"/>
              </a:buClr>
              <a:buSzPts val="1100"/>
              <a:buFont typeface="Arial"/>
              <a:buNone/>
            </a:pPr>
            <a:r>
              <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rPr lang="en" sz="1100">
                <a:highlight>
                  <a:srgbClr val="FFFFFF"/>
                </a:highlight>
              </a:rPr>
              <a:t>The issue here that for navigating to different page, url must have </a:t>
            </a:r>
            <a:r>
              <a:rPr lang="en" sz="1100">
                <a:solidFill>
                  <a:srgbClr val="38761D"/>
                </a:solidFill>
                <a:highlight>
                  <a:srgbClr val="FFFFFF"/>
                </a:highlight>
              </a:rPr>
              <a:t>/header</a:t>
            </a:r>
            <a:r>
              <a:rPr lang="en" sz="1100">
                <a:highlight>
                  <a:srgbClr val="FFFFFF"/>
                </a:highlight>
              </a:rPr>
              <a:t> ex, </a:t>
            </a:r>
            <a:r>
              <a:rPr lang="en" sz="1100">
                <a:solidFill>
                  <a:srgbClr val="38761D"/>
                </a:solidFill>
                <a:highlight>
                  <a:srgbClr val="FFFFFF"/>
                </a:highlight>
              </a:rPr>
              <a:t>/header/child1</a:t>
            </a:r>
            <a:r>
              <a:rPr lang="en" sz="1100">
                <a:highlight>
                  <a:srgbClr val="FFFFFF"/>
                </a:highlight>
              </a:rPr>
              <a:t>, </a:t>
            </a:r>
            <a:r>
              <a:rPr lang="en" sz="1100">
                <a:solidFill>
                  <a:srgbClr val="38761D"/>
                </a:solidFill>
                <a:highlight>
                  <a:srgbClr val="FFFFFF"/>
                </a:highlight>
              </a:rPr>
              <a:t>header/child2</a:t>
            </a:r>
            <a:r>
              <a:rPr lang="en" sz="1100">
                <a:highlight>
                  <a:srgbClr val="FFFFFF"/>
                </a:highlight>
              </a:rPr>
              <a:t> etc.</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rPr lang="en" sz="1100">
                <a:highlight>
                  <a:srgbClr val="FFFFFF"/>
                </a:highlight>
              </a:rPr>
              <a:t>This occurrence of header in url is unnecessary, so to avoid that we can remove path from header route, which ensures that for every child route, header component will be there but there will be no /header in url.</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t/>
            </a:r>
            <a:endParaRPr sz="1100">
              <a:highlight>
                <a:srgbClr val="FFFFFF"/>
              </a:highlight>
            </a:endParaRPr>
          </a:p>
          <a:p>
            <a:pPr indent="0" lvl="0" marL="0" rtl="0" algn="just">
              <a:lnSpc>
                <a:spcPct val="115000"/>
              </a:lnSpc>
              <a:spcBef>
                <a:spcPts val="0"/>
              </a:spcBef>
              <a:spcAft>
                <a:spcPts val="0"/>
              </a:spcAft>
              <a:buNone/>
            </a:pPr>
            <a:r>
              <a:t/>
            </a:r>
            <a:endParaRPr sz="1100">
              <a:highlight>
                <a:srgbClr val="FFFFFF"/>
              </a:high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1"/>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Dynamic Segments</a:t>
            </a:r>
            <a:endParaRPr/>
          </a:p>
        </p:txBody>
      </p:sp>
      <p:sp>
        <p:nvSpPr>
          <p:cNvPr id="262" name="Google Shape;262;p41"/>
          <p:cNvSpPr txBox="1"/>
          <p:nvPr/>
        </p:nvSpPr>
        <p:spPr>
          <a:xfrm>
            <a:off x="290400" y="864700"/>
            <a:ext cx="8563200" cy="2681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100">
                <a:highlight>
                  <a:srgbClr val="FFFFFF"/>
                </a:highlight>
              </a:rPr>
              <a:t>If a path segment starts with </a:t>
            </a:r>
            <a:r>
              <a:rPr lang="en" sz="1100">
                <a:highlight>
                  <a:srgbClr val="BF9000"/>
                </a:highlight>
              </a:rPr>
              <a:t>:</a:t>
            </a:r>
            <a:r>
              <a:rPr lang="en" sz="1100">
                <a:highlight>
                  <a:srgbClr val="FFFFFF"/>
                </a:highlight>
              </a:rPr>
              <a:t> then it becomes a </a:t>
            </a:r>
            <a:r>
              <a:rPr b="1" lang="en" sz="1100">
                <a:highlight>
                  <a:srgbClr val="FFFFFF"/>
                </a:highlight>
              </a:rPr>
              <a:t>"dynamic segment"</a:t>
            </a:r>
            <a:r>
              <a:rPr lang="en" sz="1100">
                <a:highlight>
                  <a:srgbClr val="FFFFFF"/>
                </a:highlight>
              </a:rPr>
              <a:t>. When the route matches the URL, the dynamic segment will be parsed from the URL and provided as params to other router APIs like </a:t>
            </a:r>
            <a:r>
              <a:rPr b="1" lang="en" sz="1100">
                <a:highlight>
                  <a:srgbClr val="FFFFFF"/>
                </a:highlight>
              </a:rPr>
              <a:t>useParams</a:t>
            </a:r>
            <a:endParaRPr b="1" sz="1100">
              <a:highlight>
                <a:srgbClr val="FFFFFF"/>
              </a:highlight>
              <a:latin typeface="Century Gothic"/>
              <a:ea typeface="Century Gothic"/>
              <a:cs typeface="Century Gothic"/>
              <a:sym typeface="Century Gothic"/>
            </a:endParaRPr>
          </a:p>
        </p:txBody>
      </p:sp>
      <p:pic>
        <p:nvPicPr>
          <p:cNvPr id="263" name="Google Shape;263;p41"/>
          <p:cNvPicPr preferRelativeResize="0"/>
          <p:nvPr/>
        </p:nvPicPr>
        <p:blipFill>
          <a:blip r:embed="rId3">
            <a:alphaModFix/>
          </a:blip>
          <a:stretch>
            <a:fillRect/>
          </a:stretch>
        </p:blipFill>
        <p:spPr>
          <a:xfrm>
            <a:off x="290400" y="1395900"/>
            <a:ext cx="5249301" cy="1998250"/>
          </a:xfrm>
          <a:prstGeom prst="rect">
            <a:avLst/>
          </a:prstGeom>
          <a:noFill/>
          <a:ln>
            <a:noFill/>
          </a:ln>
        </p:spPr>
      </p:pic>
      <p:sp>
        <p:nvSpPr>
          <p:cNvPr id="264" name="Google Shape;264;p41"/>
          <p:cNvSpPr txBox="1"/>
          <p:nvPr/>
        </p:nvSpPr>
        <p:spPr>
          <a:xfrm>
            <a:off x="370800" y="3479700"/>
            <a:ext cx="6103800" cy="142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t>There can be multiple dynamic segments in one path. Ex </a:t>
            </a:r>
            <a:endParaRPr sz="1100"/>
          </a:p>
          <a:p>
            <a:pPr indent="0" lvl="0" marL="0" rtl="0" algn="l">
              <a:spcBef>
                <a:spcPts val="0"/>
              </a:spcBef>
              <a:spcAft>
                <a:spcPts val="0"/>
              </a:spcAft>
              <a:buClr>
                <a:schemeClr val="dk1"/>
              </a:buClr>
              <a:buSzPts val="1100"/>
              <a:buFont typeface="Arial"/>
              <a:buNone/>
            </a:pPr>
            <a:r>
              <a:rPr lang="en" sz="1100">
                <a:highlight>
                  <a:schemeClr val="accent5"/>
                </a:highlight>
              </a:rPr>
              <a:t>/home/:productId/:skuId</a:t>
            </a:r>
            <a:endParaRPr sz="1100">
              <a:highlight>
                <a:schemeClr val="accent5"/>
              </a:highlight>
            </a:endParaRPr>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 sz="1100"/>
              <a:t>Same will be accessible in the component using useParams() hook</a:t>
            </a:r>
            <a:endParaRPr sz="11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None/>
            </a:pPr>
            <a:r>
              <a:t/>
            </a:r>
            <a:endParaRPr sz="13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2"/>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No Route is Found</a:t>
            </a:r>
            <a:endParaRPr/>
          </a:p>
        </p:txBody>
      </p:sp>
      <p:sp>
        <p:nvSpPr>
          <p:cNvPr id="270" name="Google Shape;270;p42"/>
          <p:cNvSpPr txBox="1"/>
          <p:nvPr/>
        </p:nvSpPr>
        <p:spPr>
          <a:xfrm>
            <a:off x="290400" y="864700"/>
            <a:ext cx="8563200" cy="2681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100">
                <a:highlight>
                  <a:srgbClr val="FFFFFF"/>
                </a:highlight>
              </a:rPr>
              <a:t>React router works top to bottom and matches the route, if none of the route is matched, then we can render any general not found component. This can be done by mention a route with path “*”. This is called a catch all routes, which will match any route.</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t/>
            </a:r>
            <a:endParaRPr sz="1100">
              <a:highlight>
                <a:srgbClr val="FFFFFF"/>
              </a:highlight>
            </a:endParaRPr>
          </a:p>
          <a:p>
            <a:pPr indent="0" lvl="0" marL="0" rtl="0" algn="just">
              <a:lnSpc>
                <a:spcPct val="115000"/>
              </a:lnSpc>
              <a:spcBef>
                <a:spcPts val="0"/>
              </a:spcBef>
              <a:spcAft>
                <a:spcPts val="0"/>
              </a:spcAft>
              <a:buNone/>
            </a:pPr>
            <a:r>
              <a:t/>
            </a:r>
            <a:endParaRPr sz="1100">
              <a:highlight>
                <a:srgbClr val="FFFFFF"/>
              </a:highlight>
            </a:endParaRPr>
          </a:p>
        </p:txBody>
      </p:sp>
      <p:sp>
        <p:nvSpPr>
          <p:cNvPr id="271" name="Google Shape;271;p42"/>
          <p:cNvSpPr txBox="1"/>
          <p:nvPr/>
        </p:nvSpPr>
        <p:spPr>
          <a:xfrm>
            <a:off x="370800" y="3479700"/>
            <a:ext cx="8337900" cy="142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t>Here, in browser if user navigate to any other route apart from / and /about then </a:t>
            </a:r>
            <a:r>
              <a:rPr lang="en" sz="1100">
                <a:solidFill>
                  <a:srgbClr val="38761D"/>
                </a:solidFill>
              </a:rPr>
              <a:t>&lt;NotFound /&gt;</a:t>
            </a:r>
            <a:r>
              <a:rPr lang="en" sz="1100"/>
              <a:t> component will be rendered.</a:t>
            </a:r>
            <a:endParaRPr sz="1100"/>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None/>
            </a:pPr>
            <a:r>
              <a:t/>
            </a:r>
            <a:endParaRPr sz="1100"/>
          </a:p>
        </p:txBody>
      </p:sp>
      <p:pic>
        <p:nvPicPr>
          <p:cNvPr id="272" name="Google Shape;272;p42"/>
          <p:cNvPicPr preferRelativeResize="0"/>
          <p:nvPr/>
        </p:nvPicPr>
        <p:blipFill>
          <a:blip r:embed="rId3">
            <a:alphaModFix/>
          </a:blip>
          <a:stretch>
            <a:fillRect/>
          </a:stretch>
        </p:blipFill>
        <p:spPr>
          <a:xfrm>
            <a:off x="290405" y="1446475"/>
            <a:ext cx="5640500" cy="159836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3"/>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Navlink</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78" name="Google Shape;278;p43"/>
          <p:cNvSpPr txBox="1"/>
          <p:nvPr/>
        </p:nvSpPr>
        <p:spPr>
          <a:xfrm>
            <a:off x="290400" y="864700"/>
            <a:ext cx="8563200" cy="837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100">
                <a:highlight>
                  <a:srgbClr val="FFFFFF"/>
                </a:highlight>
              </a:rPr>
              <a:t>Same as Link component, but this Navlink component comes in handy when we to style our anchor tag based on if it is active.</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rPr lang="en" sz="1100">
                <a:highlight>
                  <a:srgbClr val="FFFFFF"/>
                </a:highlight>
              </a:rPr>
              <a:t>In className we can write a callback function which will have access to keyword </a:t>
            </a:r>
            <a:r>
              <a:rPr b="1" lang="en" sz="1100">
                <a:highlight>
                  <a:srgbClr val="FFFFFF"/>
                </a:highlight>
              </a:rPr>
              <a:t>isActive</a:t>
            </a:r>
            <a:r>
              <a:rPr lang="en" sz="1100">
                <a:highlight>
                  <a:srgbClr val="FFFFFF"/>
                </a:highlight>
              </a:rPr>
              <a:t>, which can be used to conditionally style our anchor tags.</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t/>
            </a:r>
            <a:endParaRPr sz="1100">
              <a:highlight>
                <a:srgbClr val="FFFFFF"/>
              </a:highlight>
            </a:endParaRPr>
          </a:p>
          <a:p>
            <a:pPr indent="0" lvl="0" marL="0" rtl="0" algn="just">
              <a:lnSpc>
                <a:spcPct val="115000"/>
              </a:lnSpc>
              <a:spcBef>
                <a:spcPts val="0"/>
              </a:spcBef>
              <a:spcAft>
                <a:spcPts val="0"/>
              </a:spcAft>
              <a:buNone/>
            </a:pPr>
            <a:r>
              <a:t/>
            </a:r>
            <a:endParaRPr sz="1100">
              <a:highlight>
                <a:srgbClr val="FFFFFF"/>
              </a:highlight>
            </a:endParaRPr>
          </a:p>
        </p:txBody>
      </p:sp>
      <p:pic>
        <p:nvPicPr>
          <p:cNvPr id="279" name="Google Shape;279;p43"/>
          <p:cNvPicPr preferRelativeResize="0"/>
          <p:nvPr/>
        </p:nvPicPr>
        <p:blipFill>
          <a:blip r:embed="rId3">
            <a:alphaModFix/>
          </a:blip>
          <a:stretch>
            <a:fillRect/>
          </a:stretch>
        </p:blipFill>
        <p:spPr>
          <a:xfrm>
            <a:off x="290400" y="1701700"/>
            <a:ext cx="5956625" cy="27474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4"/>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Navigation</a:t>
            </a:r>
            <a:endParaRPr/>
          </a:p>
        </p:txBody>
      </p:sp>
      <p:sp>
        <p:nvSpPr>
          <p:cNvPr id="285" name="Google Shape;285;p44"/>
          <p:cNvSpPr txBox="1"/>
          <p:nvPr/>
        </p:nvSpPr>
        <p:spPr>
          <a:xfrm>
            <a:off x="290400" y="864700"/>
            <a:ext cx="8563200" cy="2348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100">
                <a:highlight>
                  <a:srgbClr val="FFFFFF"/>
                </a:highlight>
              </a:rPr>
              <a:t>This hook allows the programmer to navigate the user to a new page without the user interacting.</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rPr lang="en" sz="1100">
                <a:highlight>
                  <a:srgbClr val="FFFFFF"/>
                </a:highlight>
              </a:rPr>
              <a:t>For normal navigation, it's best to use </a:t>
            </a:r>
            <a:r>
              <a:rPr b="1" lang="en" sz="1100">
                <a:highlight>
                  <a:srgbClr val="FFFFFF"/>
                </a:highlight>
              </a:rPr>
              <a:t>Link</a:t>
            </a:r>
            <a:r>
              <a:rPr lang="en" sz="1100">
                <a:highlight>
                  <a:srgbClr val="FFFFFF"/>
                </a:highlight>
              </a:rPr>
              <a:t> or </a:t>
            </a:r>
            <a:r>
              <a:rPr b="1" lang="en" sz="1100">
                <a:highlight>
                  <a:srgbClr val="FFFFFF"/>
                </a:highlight>
              </a:rPr>
              <a:t>NavLink</a:t>
            </a:r>
            <a:r>
              <a:rPr lang="en" sz="1100">
                <a:highlight>
                  <a:srgbClr val="FFFFFF"/>
                </a:highlight>
              </a:rPr>
              <a:t>. They provide a better default user experience like keyboard events, accessibility labeling, "open in new window", right click context menus, etc.</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rPr lang="en" sz="1100">
                <a:highlight>
                  <a:srgbClr val="FFFFFF"/>
                </a:highlight>
              </a:rPr>
              <a:t>Reserve usage of </a:t>
            </a:r>
            <a:r>
              <a:rPr b="1" lang="en" sz="1100">
                <a:highlight>
                  <a:srgbClr val="FFFFFF"/>
                </a:highlight>
              </a:rPr>
              <a:t>useNavigate</a:t>
            </a:r>
            <a:r>
              <a:rPr lang="en" sz="1100">
                <a:highlight>
                  <a:srgbClr val="FFFFFF"/>
                </a:highlight>
              </a:rPr>
              <a:t> to situations where the user is not interacting but you need to navigate, for example:</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t/>
            </a:r>
            <a:endParaRPr sz="1100">
              <a:highlight>
                <a:srgbClr val="FFFFFF"/>
              </a:highlight>
            </a:endParaRPr>
          </a:p>
          <a:p>
            <a:pPr indent="-298450" lvl="0" marL="457200" rtl="0" algn="just">
              <a:lnSpc>
                <a:spcPct val="115000"/>
              </a:lnSpc>
              <a:spcBef>
                <a:spcPts val="0"/>
              </a:spcBef>
              <a:spcAft>
                <a:spcPts val="0"/>
              </a:spcAft>
              <a:buSzPts val="1100"/>
              <a:buChar char="●"/>
            </a:pPr>
            <a:r>
              <a:rPr lang="en" sz="1100">
                <a:highlight>
                  <a:srgbClr val="FFFFFF"/>
                </a:highlight>
              </a:rPr>
              <a:t>After a form submission completes</a:t>
            </a:r>
            <a:endParaRPr sz="1100">
              <a:highlight>
                <a:srgbClr val="FFFFFF"/>
              </a:highlight>
            </a:endParaRPr>
          </a:p>
          <a:p>
            <a:pPr indent="-298450" lvl="0" marL="457200" rtl="0" algn="just">
              <a:lnSpc>
                <a:spcPct val="115000"/>
              </a:lnSpc>
              <a:spcBef>
                <a:spcPts val="0"/>
              </a:spcBef>
              <a:spcAft>
                <a:spcPts val="0"/>
              </a:spcAft>
              <a:buSzPts val="1100"/>
              <a:buChar char="●"/>
            </a:pPr>
            <a:r>
              <a:rPr lang="en" sz="1100">
                <a:highlight>
                  <a:srgbClr val="FFFFFF"/>
                </a:highlight>
              </a:rPr>
              <a:t>Logging them out after inactivity</a:t>
            </a:r>
            <a:endParaRPr sz="1100">
              <a:highlight>
                <a:srgbClr val="FFFFFF"/>
              </a:highlight>
            </a:endParaRPr>
          </a:p>
          <a:p>
            <a:pPr indent="-298450" lvl="0" marL="457200" rtl="0" algn="just">
              <a:lnSpc>
                <a:spcPct val="115000"/>
              </a:lnSpc>
              <a:spcBef>
                <a:spcPts val="0"/>
              </a:spcBef>
              <a:spcAft>
                <a:spcPts val="0"/>
              </a:spcAft>
              <a:buSzPts val="1100"/>
              <a:buChar char="●"/>
            </a:pPr>
            <a:r>
              <a:rPr lang="en" sz="1100">
                <a:highlight>
                  <a:srgbClr val="FFFFFF"/>
                </a:highlight>
              </a:rPr>
              <a:t>Timed UIs like quizzes, etc.</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t/>
            </a:r>
            <a:endParaRPr sz="1100">
              <a:highlight>
                <a:srgbClr val="FFFFFF"/>
              </a:highlight>
            </a:endParaRPr>
          </a:p>
          <a:p>
            <a:pPr indent="0" lvl="0" marL="0" rtl="0" algn="just">
              <a:lnSpc>
                <a:spcPct val="115000"/>
              </a:lnSpc>
              <a:spcBef>
                <a:spcPts val="0"/>
              </a:spcBef>
              <a:spcAft>
                <a:spcPts val="0"/>
              </a:spcAft>
              <a:buNone/>
            </a:pPr>
            <a:r>
              <a:t/>
            </a:r>
            <a:endParaRPr sz="1100">
              <a:highlight>
                <a:srgbClr val="FFFFFF"/>
              </a:high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5"/>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Protected Routes</a:t>
            </a:r>
            <a:endParaRPr/>
          </a:p>
        </p:txBody>
      </p:sp>
      <p:sp>
        <p:nvSpPr>
          <p:cNvPr id="291" name="Google Shape;291;p45"/>
          <p:cNvSpPr txBox="1"/>
          <p:nvPr/>
        </p:nvSpPr>
        <p:spPr>
          <a:xfrm>
            <a:off x="290400" y="864700"/>
            <a:ext cx="8563200" cy="1882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100">
                <a:highlight>
                  <a:srgbClr val="FFFFFF"/>
                </a:highlight>
              </a:rPr>
              <a:t>These are the routes which are available only to authenticated users, for example a dashboard component. This component wont be available to guest users. To ensure that guest user dont end up on this route and see dashboard component. What we can do is make the dashboard component nested inside a protected route.</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rPr lang="en" sz="1100">
                <a:highlight>
                  <a:srgbClr val="FFFFFF"/>
                </a:highlight>
              </a:rPr>
              <a:t>What will happen when user lands on </a:t>
            </a:r>
            <a:r>
              <a:rPr b="1" lang="en" sz="1100">
                <a:highlight>
                  <a:srgbClr val="FFFFFF"/>
                </a:highlight>
              </a:rPr>
              <a:t>/dashbord</a:t>
            </a:r>
            <a:r>
              <a:rPr lang="en" sz="1100">
                <a:highlight>
                  <a:srgbClr val="FFFFFF"/>
                </a:highlight>
              </a:rPr>
              <a:t> route, first parent component will be rendered, there we will check if the user is logged in or not. If user is logged in then we will renderer the &lt;Outlet /&gt; component meaning the dashboard component, otherwise we will redirect him to other route which can be login page for example.</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rPr lang="en" sz="1100">
                <a:highlight>
                  <a:srgbClr val="FFFFFF"/>
                </a:highlight>
              </a:rPr>
              <a:t>Ex.</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t/>
            </a:r>
            <a:endParaRPr sz="1100">
              <a:highlight>
                <a:srgbClr val="FFFFFF"/>
              </a:highlight>
            </a:endParaRPr>
          </a:p>
          <a:p>
            <a:pPr indent="0" lvl="0" marL="0" rtl="0" algn="just">
              <a:lnSpc>
                <a:spcPct val="115000"/>
              </a:lnSpc>
              <a:spcBef>
                <a:spcPts val="0"/>
              </a:spcBef>
              <a:spcAft>
                <a:spcPts val="0"/>
              </a:spcAft>
              <a:buClr>
                <a:schemeClr val="dk1"/>
              </a:buClr>
              <a:buSzPts val="1100"/>
              <a:buFont typeface="Arial"/>
              <a:buNone/>
            </a:pPr>
            <a:r>
              <a:t/>
            </a:r>
            <a:endParaRPr sz="1100">
              <a:highlight>
                <a:srgbClr val="FFFFFF"/>
              </a:highlight>
            </a:endParaRPr>
          </a:p>
          <a:p>
            <a:pPr indent="0" lvl="0" marL="0" rtl="0" algn="just">
              <a:lnSpc>
                <a:spcPct val="115000"/>
              </a:lnSpc>
              <a:spcBef>
                <a:spcPts val="0"/>
              </a:spcBef>
              <a:spcAft>
                <a:spcPts val="0"/>
              </a:spcAft>
              <a:buNone/>
            </a:pPr>
            <a:r>
              <a:t/>
            </a:r>
            <a:endParaRPr sz="1100">
              <a:highlight>
                <a:srgbClr val="FFFFFF"/>
              </a:highlight>
            </a:endParaRPr>
          </a:p>
        </p:txBody>
      </p:sp>
      <p:pic>
        <p:nvPicPr>
          <p:cNvPr id="292" name="Google Shape;292;p45"/>
          <p:cNvPicPr preferRelativeResize="0"/>
          <p:nvPr/>
        </p:nvPicPr>
        <p:blipFill>
          <a:blip r:embed="rId3">
            <a:alphaModFix/>
          </a:blip>
          <a:stretch>
            <a:fillRect/>
          </a:stretch>
        </p:blipFill>
        <p:spPr>
          <a:xfrm>
            <a:off x="290400" y="2800350"/>
            <a:ext cx="5278186" cy="18828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6"/>
          <p:cNvSpPr txBox="1"/>
          <p:nvPr/>
        </p:nvSpPr>
        <p:spPr>
          <a:xfrm>
            <a:off x="557775" y="2257500"/>
            <a:ext cx="5627100" cy="628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0"/>
              <a:buFont typeface="Arial"/>
              <a:buNone/>
            </a:pPr>
            <a:r>
              <a:rPr b="1" lang="en" sz="4000">
                <a:solidFill>
                  <a:srgbClr val="231F20"/>
                </a:solidFill>
                <a:latin typeface="Century Gothic"/>
                <a:ea typeface="Century Gothic"/>
                <a:cs typeface="Century Gothic"/>
                <a:sym typeface="Century Gothic"/>
              </a:rPr>
              <a:t>ESLint</a:t>
            </a:r>
            <a:endParaRPr b="1" i="0" sz="4000" u="none" cap="none" strike="noStrike">
              <a:solidFill>
                <a:srgbClr val="000000"/>
              </a:solidFill>
              <a:latin typeface="Century Gothic"/>
              <a:ea typeface="Century Gothic"/>
              <a:cs typeface="Century Gothic"/>
              <a:sym typeface="Century Gothic"/>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7"/>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Introduction to ESLint?</a:t>
            </a:r>
            <a:endParaRPr/>
          </a:p>
        </p:txBody>
      </p:sp>
      <p:sp>
        <p:nvSpPr>
          <p:cNvPr id="303" name="Google Shape;303;p47"/>
          <p:cNvSpPr txBox="1"/>
          <p:nvPr/>
        </p:nvSpPr>
        <p:spPr>
          <a:xfrm>
            <a:off x="264425" y="874675"/>
            <a:ext cx="8501400" cy="1856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highlight>
                  <a:schemeClr val="lt1"/>
                </a:highlight>
              </a:rPr>
              <a:t>What is ESLint?</a:t>
            </a:r>
            <a:endParaRPr b="1" sz="1200">
              <a:solidFill>
                <a:schemeClr val="dk1"/>
              </a:solidFill>
              <a:highlight>
                <a:schemeClr val="lt1"/>
              </a:highlight>
            </a:endParaRPr>
          </a:p>
          <a:p>
            <a:pPr indent="-304800" lvl="0" marL="457200" rtl="0" algn="just">
              <a:lnSpc>
                <a:spcPct val="115000"/>
              </a:lnSpc>
              <a:spcBef>
                <a:spcPts val="0"/>
              </a:spcBef>
              <a:spcAft>
                <a:spcPts val="0"/>
              </a:spcAft>
              <a:buClr>
                <a:schemeClr val="dk1"/>
              </a:buClr>
              <a:buSzPts val="1200"/>
              <a:buChar char="●"/>
            </a:pPr>
            <a:r>
              <a:rPr lang="en" sz="1200">
                <a:solidFill>
                  <a:schemeClr val="dk1"/>
                </a:solidFill>
                <a:highlight>
                  <a:schemeClr val="lt1"/>
                </a:highlight>
              </a:rPr>
              <a:t>A static code analysis tool for identifying and fixing problems in JavaScript code.</a:t>
            </a:r>
            <a:endParaRPr sz="1200">
              <a:solidFill>
                <a:schemeClr val="dk1"/>
              </a:solidFill>
              <a:highlight>
                <a:schemeClr val="lt1"/>
              </a:highlight>
            </a:endParaRPr>
          </a:p>
          <a:p>
            <a:pPr indent="-304800" lvl="0" marL="457200" rtl="0" algn="just">
              <a:lnSpc>
                <a:spcPct val="115000"/>
              </a:lnSpc>
              <a:spcBef>
                <a:spcPts val="0"/>
              </a:spcBef>
              <a:spcAft>
                <a:spcPts val="0"/>
              </a:spcAft>
              <a:buClr>
                <a:schemeClr val="dk1"/>
              </a:buClr>
              <a:buSzPts val="1200"/>
              <a:buChar char="●"/>
            </a:pPr>
            <a:r>
              <a:rPr lang="en" sz="1200">
                <a:solidFill>
                  <a:schemeClr val="dk1"/>
                </a:solidFill>
                <a:highlight>
                  <a:schemeClr val="lt1"/>
                </a:highlight>
              </a:rPr>
              <a:t>Helps enforce coding standards and best practices.</a:t>
            </a:r>
            <a:endParaRPr sz="1200">
              <a:solidFill>
                <a:schemeClr val="dk1"/>
              </a:solidFill>
              <a:highlight>
                <a:schemeClr val="lt1"/>
              </a:highlight>
            </a:endParaRPr>
          </a:p>
          <a:p>
            <a:pPr indent="0" lvl="0" marL="0" rtl="0" algn="just">
              <a:lnSpc>
                <a:spcPct val="115000"/>
              </a:lnSpc>
              <a:spcBef>
                <a:spcPts val="0"/>
              </a:spcBef>
              <a:spcAft>
                <a:spcPts val="0"/>
              </a:spcAft>
              <a:buClr>
                <a:schemeClr val="dk1"/>
              </a:buClr>
              <a:buSzPts val="1100"/>
              <a:buFont typeface="Arial"/>
              <a:buNone/>
            </a:pPr>
            <a:r>
              <a:t/>
            </a:r>
            <a:endParaRPr b="1" sz="1200">
              <a:solidFill>
                <a:schemeClr val="dk1"/>
              </a:solidFill>
              <a:highlight>
                <a:schemeClr val="lt1"/>
              </a:highlight>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highlight>
                  <a:schemeClr val="lt1"/>
                </a:highlight>
              </a:rPr>
              <a:t>Why Use ESLint?</a:t>
            </a:r>
            <a:endParaRPr b="1" sz="1200">
              <a:solidFill>
                <a:schemeClr val="dk1"/>
              </a:solidFill>
              <a:highlight>
                <a:schemeClr val="lt1"/>
              </a:highlight>
            </a:endParaRPr>
          </a:p>
          <a:p>
            <a:pPr indent="-304800" lvl="0" marL="457200" rtl="0" algn="just">
              <a:lnSpc>
                <a:spcPct val="115000"/>
              </a:lnSpc>
              <a:spcBef>
                <a:spcPts val="0"/>
              </a:spcBef>
              <a:spcAft>
                <a:spcPts val="0"/>
              </a:spcAft>
              <a:buClr>
                <a:schemeClr val="dk1"/>
              </a:buClr>
              <a:buSzPts val="1200"/>
              <a:buChar char="●"/>
            </a:pPr>
            <a:r>
              <a:rPr lang="en" sz="1200">
                <a:solidFill>
                  <a:schemeClr val="dk1"/>
                </a:solidFill>
                <a:highlight>
                  <a:schemeClr val="lt1"/>
                </a:highlight>
              </a:rPr>
              <a:t>Improve code quality and consistency.</a:t>
            </a:r>
            <a:endParaRPr sz="1200">
              <a:solidFill>
                <a:schemeClr val="dk1"/>
              </a:solidFill>
              <a:highlight>
                <a:schemeClr val="lt1"/>
              </a:highlight>
            </a:endParaRPr>
          </a:p>
          <a:p>
            <a:pPr indent="-304800" lvl="0" marL="457200" rtl="0" algn="just">
              <a:lnSpc>
                <a:spcPct val="115000"/>
              </a:lnSpc>
              <a:spcBef>
                <a:spcPts val="0"/>
              </a:spcBef>
              <a:spcAft>
                <a:spcPts val="0"/>
              </a:spcAft>
              <a:buClr>
                <a:schemeClr val="dk1"/>
              </a:buClr>
              <a:buSzPts val="1200"/>
              <a:buChar char="●"/>
            </a:pPr>
            <a:r>
              <a:rPr lang="en" sz="1200">
                <a:solidFill>
                  <a:schemeClr val="dk1"/>
                </a:solidFill>
                <a:highlight>
                  <a:schemeClr val="lt1"/>
                </a:highlight>
              </a:rPr>
              <a:t>Prevents potential bugs</a:t>
            </a:r>
            <a:endParaRPr sz="1200">
              <a:solidFill>
                <a:schemeClr val="dk1"/>
              </a:solidFill>
              <a:highlight>
                <a:schemeClr val="lt1"/>
              </a:highlight>
            </a:endParaRPr>
          </a:p>
          <a:p>
            <a:pPr indent="-304800" lvl="0" marL="457200" rtl="0" algn="just">
              <a:lnSpc>
                <a:spcPct val="115000"/>
              </a:lnSpc>
              <a:spcBef>
                <a:spcPts val="0"/>
              </a:spcBef>
              <a:spcAft>
                <a:spcPts val="0"/>
              </a:spcAft>
              <a:buClr>
                <a:schemeClr val="dk1"/>
              </a:buClr>
              <a:buSzPts val="1200"/>
              <a:buChar char="●"/>
            </a:pPr>
            <a:r>
              <a:rPr lang="en" sz="1200">
                <a:solidFill>
                  <a:schemeClr val="dk1"/>
                </a:solidFill>
                <a:highlight>
                  <a:schemeClr val="lt1"/>
                </a:highlight>
              </a:rPr>
              <a:t>Highly Customizable</a:t>
            </a:r>
            <a:endParaRPr sz="1200">
              <a:solidFill>
                <a:schemeClr val="dk1"/>
              </a:solidFill>
              <a:highlight>
                <a:schemeClr val="lt1"/>
              </a:high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8"/>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chemeClr val="dk1"/>
              </a:buClr>
              <a:buSzPts val="1100"/>
              <a:buFont typeface="Arial"/>
              <a:buNone/>
            </a:pPr>
            <a:r>
              <a:rPr lang="en"/>
              <a:t>Key Features of</a:t>
            </a:r>
            <a:r>
              <a:rPr lang="en"/>
              <a:t> </a:t>
            </a:r>
            <a:r>
              <a:rPr lang="en"/>
              <a:t>ESLint</a:t>
            </a:r>
            <a:endParaRPr/>
          </a:p>
          <a:p>
            <a:pPr indent="0" lvl="0" marL="0" rtl="0" algn="l">
              <a:spcBef>
                <a:spcPts val="0"/>
              </a:spcBef>
              <a:spcAft>
                <a:spcPts val="0"/>
              </a:spcAft>
              <a:buNone/>
            </a:pPr>
            <a:r>
              <a:t/>
            </a:r>
            <a:endParaRPr/>
          </a:p>
        </p:txBody>
      </p:sp>
      <p:sp>
        <p:nvSpPr>
          <p:cNvPr id="309" name="Google Shape;309;p48"/>
          <p:cNvSpPr txBox="1"/>
          <p:nvPr/>
        </p:nvSpPr>
        <p:spPr>
          <a:xfrm>
            <a:off x="264425" y="874675"/>
            <a:ext cx="8501400" cy="1477500"/>
          </a:xfrm>
          <a:prstGeom prst="rect">
            <a:avLst/>
          </a:prstGeom>
          <a:noFill/>
          <a:ln>
            <a:noFill/>
          </a:ln>
        </p:spPr>
        <p:txBody>
          <a:bodyPr anchorCtr="0" anchor="t" bIns="91425" lIns="91425" spcFirstLastPara="1" rIns="91425" wrap="square" tIns="91425">
            <a:spAutoFit/>
          </a:bodyPr>
          <a:lstStyle/>
          <a:p>
            <a:pPr indent="-304800" lvl="0" marL="457200" rtl="0" algn="just">
              <a:lnSpc>
                <a:spcPct val="150000"/>
              </a:lnSpc>
              <a:spcBef>
                <a:spcPts val="0"/>
              </a:spcBef>
              <a:spcAft>
                <a:spcPts val="0"/>
              </a:spcAft>
              <a:buClr>
                <a:schemeClr val="dk1"/>
              </a:buClr>
              <a:buSzPts val="1200"/>
              <a:buChar char="●"/>
            </a:pPr>
            <a:r>
              <a:rPr b="1" lang="en" sz="1200">
                <a:solidFill>
                  <a:schemeClr val="dk1"/>
                </a:solidFill>
                <a:highlight>
                  <a:schemeClr val="lt1"/>
                </a:highlight>
              </a:rPr>
              <a:t>Static Code Analysis - </a:t>
            </a:r>
            <a:r>
              <a:rPr lang="en" sz="1200">
                <a:solidFill>
                  <a:schemeClr val="dk1"/>
                </a:solidFill>
                <a:highlight>
                  <a:schemeClr val="lt1"/>
                </a:highlight>
              </a:rPr>
              <a:t>Detects potential errors and bugs in your code without executing it. </a:t>
            </a:r>
            <a:endParaRPr sz="1200">
              <a:solidFill>
                <a:schemeClr val="dk1"/>
              </a:solidFill>
              <a:highlight>
                <a:schemeClr val="lt1"/>
              </a:highlight>
            </a:endParaRPr>
          </a:p>
          <a:p>
            <a:pPr indent="-304800" lvl="0" marL="457200" rtl="0" algn="just">
              <a:lnSpc>
                <a:spcPct val="150000"/>
              </a:lnSpc>
              <a:spcBef>
                <a:spcPts val="0"/>
              </a:spcBef>
              <a:spcAft>
                <a:spcPts val="0"/>
              </a:spcAft>
              <a:buClr>
                <a:schemeClr val="dk1"/>
              </a:buClr>
              <a:buSzPts val="1200"/>
              <a:buChar char="●"/>
            </a:pPr>
            <a:r>
              <a:rPr b="1" lang="en" sz="1200">
                <a:solidFill>
                  <a:schemeClr val="dk1"/>
                </a:solidFill>
                <a:highlight>
                  <a:schemeClr val="lt1"/>
                </a:highlight>
              </a:rPr>
              <a:t>Customizable Rules - </a:t>
            </a:r>
            <a:r>
              <a:rPr lang="en" sz="1200">
                <a:solidFill>
                  <a:schemeClr val="dk1"/>
                </a:solidFill>
                <a:highlight>
                  <a:schemeClr val="lt1"/>
                </a:highlight>
              </a:rPr>
              <a:t>Allows you to configure rules to match your coding standards.</a:t>
            </a:r>
            <a:endParaRPr sz="1200">
              <a:solidFill>
                <a:schemeClr val="dk1"/>
              </a:solidFill>
              <a:highlight>
                <a:schemeClr val="lt1"/>
              </a:highlight>
            </a:endParaRPr>
          </a:p>
          <a:p>
            <a:pPr indent="-304800" lvl="0" marL="457200" rtl="0" algn="just">
              <a:lnSpc>
                <a:spcPct val="150000"/>
              </a:lnSpc>
              <a:spcBef>
                <a:spcPts val="0"/>
              </a:spcBef>
              <a:spcAft>
                <a:spcPts val="0"/>
              </a:spcAft>
              <a:buClr>
                <a:schemeClr val="dk1"/>
              </a:buClr>
              <a:buSzPts val="1200"/>
              <a:buChar char="●"/>
            </a:pPr>
            <a:r>
              <a:rPr b="1" lang="en" sz="1200">
                <a:solidFill>
                  <a:schemeClr val="dk1"/>
                </a:solidFill>
                <a:highlight>
                  <a:schemeClr val="lt1"/>
                </a:highlight>
              </a:rPr>
              <a:t>Plugin Support - </a:t>
            </a:r>
            <a:r>
              <a:rPr lang="en" sz="1200">
                <a:solidFill>
                  <a:schemeClr val="dk1"/>
                </a:solidFill>
                <a:highlight>
                  <a:schemeClr val="lt1"/>
                </a:highlight>
              </a:rPr>
              <a:t>Extends functionality with plugins for frameworks like React, Vue, Angular, etc.</a:t>
            </a:r>
            <a:endParaRPr sz="1200">
              <a:solidFill>
                <a:schemeClr val="dk1"/>
              </a:solidFill>
              <a:highlight>
                <a:schemeClr val="lt1"/>
              </a:highlight>
            </a:endParaRPr>
          </a:p>
          <a:p>
            <a:pPr indent="-304800" lvl="0" marL="457200" rtl="0" algn="just">
              <a:lnSpc>
                <a:spcPct val="150000"/>
              </a:lnSpc>
              <a:spcBef>
                <a:spcPts val="0"/>
              </a:spcBef>
              <a:spcAft>
                <a:spcPts val="0"/>
              </a:spcAft>
              <a:buClr>
                <a:schemeClr val="dk1"/>
              </a:buClr>
              <a:buSzPts val="1200"/>
              <a:buChar char="●"/>
            </a:pPr>
            <a:r>
              <a:rPr b="1" lang="en" sz="1200">
                <a:solidFill>
                  <a:schemeClr val="dk1"/>
                </a:solidFill>
                <a:highlight>
                  <a:schemeClr val="lt1"/>
                </a:highlight>
              </a:rPr>
              <a:t>Auto-fix - </a:t>
            </a:r>
            <a:r>
              <a:rPr lang="en" sz="1200">
                <a:solidFill>
                  <a:schemeClr val="dk1"/>
                </a:solidFill>
                <a:highlight>
                  <a:schemeClr val="lt1"/>
                </a:highlight>
              </a:rPr>
              <a:t>Automatically fixes some errors and formatting issues.</a:t>
            </a:r>
            <a:endParaRPr sz="1200">
              <a:solidFill>
                <a:schemeClr val="dk1"/>
              </a:solidFill>
              <a:highlight>
                <a:schemeClr val="lt1"/>
              </a:highlight>
            </a:endParaRPr>
          </a:p>
          <a:p>
            <a:pPr indent="-304800" lvl="0" marL="457200" rtl="0" algn="just">
              <a:lnSpc>
                <a:spcPct val="150000"/>
              </a:lnSpc>
              <a:spcBef>
                <a:spcPts val="0"/>
              </a:spcBef>
              <a:spcAft>
                <a:spcPts val="0"/>
              </a:spcAft>
              <a:buClr>
                <a:schemeClr val="dk1"/>
              </a:buClr>
              <a:buSzPts val="1200"/>
              <a:buChar char="●"/>
            </a:pPr>
            <a:r>
              <a:rPr b="1" lang="en" sz="1200">
                <a:solidFill>
                  <a:schemeClr val="dk1"/>
                </a:solidFill>
                <a:highlight>
                  <a:schemeClr val="lt1"/>
                </a:highlight>
              </a:rPr>
              <a:t>Integration - </a:t>
            </a:r>
            <a:r>
              <a:rPr lang="en" sz="1200">
                <a:solidFill>
                  <a:schemeClr val="dk1"/>
                </a:solidFill>
                <a:highlight>
                  <a:schemeClr val="lt1"/>
                </a:highlight>
              </a:rPr>
              <a:t>Works seamlessly with IDEs, build tools</a:t>
            </a:r>
            <a:endParaRPr sz="1200">
              <a:solidFill>
                <a:schemeClr val="dk1"/>
              </a:solidFill>
              <a:highlight>
                <a:schemeClr val="lt1"/>
              </a:highligh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9"/>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How ESLint Works?</a:t>
            </a:r>
            <a:endParaRPr/>
          </a:p>
        </p:txBody>
      </p:sp>
      <p:sp>
        <p:nvSpPr>
          <p:cNvPr id="315" name="Google Shape;315;p49"/>
          <p:cNvSpPr txBox="1"/>
          <p:nvPr/>
        </p:nvSpPr>
        <p:spPr>
          <a:xfrm>
            <a:off x="264425" y="874675"/>
            <a:ext cx="8501400" cy="11160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100"/>
              <a:buFont typeface="Arial"/>
              <a:buNone/>
            </a:pPr>
            <a:r>
              <a:rPr b="1" lang="en" sz="1100">
                <a:solidFill>
                  <a:schemeClr val="dk1"/>
                </a:solidFill>
              </a:rPr>
              <a:t>Parsing: </a:t>
            </a:r>
            <a:r>
              <a:rPr lang="en" sz="1100">
                <a:solidFill>
                  <a:schemeClr val="dk1"/>
                </a:solidFill>
              </a:rPr>
              <a:t>ESLint parses your JavaScript code into an Abstract Syntax Tree (AST).</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b="1" lang="en" sz="1100">
                <a:solidFill>
                  <a:schemeClr val="dk1"/>
                </a:solidFill>
              </a:rPr>
              <a:t>Traversing: </a:t>
            </a:r>
            <a:r>
              <a:rPr lang="en" sz="1100">
                <a:solidFill>
                  <a:schemeClr val="dk1"/>
                </a:solidFill>
              </a:rPr>
              <a:t>It traverses the AST to analyze the code structure.</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b="1" lang="en" sz="1100">
                <a:solidFill>
                  <a:schemeClr val="dk1"/>
                </a:solidFill>
              </a:rPr>
              <a:t>Linting: </a:t>
            </a:r>
            <a:r>
              <a:rPr lang="en" sz="1100">
                <a:solidFill>
                  <a:schemeClr val="dk1"/>
                </a:solidFill>
              </a:rPr>
              <a:t>It applies rules to detect issues or enforce coding standards.</a:t>
            </a:r>
            <a:endParaRPr sz="1100">
              <a:solidFill>
                <a:schemeClr val="dk1"/>
              </a:solidFill>
            </a:endParaRPr>
          </a:p>
          <a:p>
            <a:pPr indent="0" lvl="0" marL="0" rtl="0" algn="just">
              <a:lnSpc>
                <a:spcPct val="150000"/>
              </a:lnSpc>
              <a:spcBef>
                <a:spcPts val="0"/>
              </a:spcBef>
              <a:spcAft>
                <a:spcPts val="0"/>
              </a:spcAft>
              <a:buNone/>
            </a:pPr>
            <a:r>
              <a:rPr b="1" lang="en" sz="1100">
                <a:solidFill>
                  <a:schemeClr val="dk1"/>
                </a:solidFill>
              </a:rPr>
              <a:t>Reporting: </a:t>
            </a:r>
            <a:r>
              <a:rPr lang="en" sz="1100">
                <a:solidFill>
                  <a:schemeClr val="dk1"/>
                </a:solidFill>
              </a:rPr>
              <a:t>It outputs errors, warnings, or suggestions.</a:t>
            </a:r>
            <a:endParaRPr b="1" sz="1100">
              <a:solidFill>
                <a:schemeClr val="dk1"/>
              </a:solidFill>
            </a:endParaRPr>
          </a:p>
        </p:txBody>
      </p:sp>
      <p:pic>
        <p:nvPicPr>
          <p:cNvPr id="316" name="Google Shape;316;p49"/>
          <p:cNvPicPr preferRelativeResize="0"/>
          <p:nvPr/>
        </p:nvPicPr>
        <p:blipFill>
          <a:blip r:embed="rId3">
            <a:alphaModFix/>
          </a:blip>
          <a:stretch>
            <a:fillRect/>
          </a:stretch>
        </p:blipFill>
        <p:spPr>
          <a:xfrm>
            <a:off x="323525" y="2166956"/>
            <a:ext cx="4642800" cy="19117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0"/>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Configuring ESLint</a:t>
            </a:r>
            <a:endParaRPr/>
          </a:p>
        </p:txBody>
      </p:sp>
      <p:sp>
        <p:nvSpPr>
          <p:cNvPr id="322" name="Google Shape;322;p50"/>
          <p:cNvSpPr txBox="1"/>
          <p:nvPr/>
        </p:nvSpPr>
        <p:spPr>
          <a:xfrm>
            <a:off x="264425" y="874675"/>
            <a:ext cx="8501400" cy="2639700"/>
          </a:xfrm>
          <a:prstGeom prst="rect">
            <a:avLst/>
          </a:prstGeom>
          <a:noFill/>
          <a:ln>
            <a:noFill/>
          </a:ln>
        </p:spPr>
        <p:txBody>
          <a:bodyPr anchorCtr="0" anchor="t" bIns="91425" lIns="91425" spcFirstLastPara="1" rIns="91425" wrap="square" tIns="91425">
            <a:spAutoFit/>
          </a:bodyPr>
          <a:lstStyle/>
          <a:p>
            <a:pPr indent="-298450" lvl="0" marL="457200" rtl="0" algn="just">
              <a:lnSpc>
                <a:spcPct val="150000"/>
              </a:lnSpc>
              <a:spcBef>
                <a:spcPts val="0"/>
              </a:spcBef>
              <a:spcAft>
                <a:spcPts val="0"/>
              </a:spcAft>
              <a:buClr>
                <a:schemeClr val="dk1"/>
              </a:buClr>
              <a:buSzPts val="1100"/>
              <a:buChar char="●"/>
            </a:pPr>
            <a:r>
              <a:rPr b="1" lang="en" sz="1100">
                <a:solidFill>
                  <a:schemeClr val="dk1"/>
                </a:solidFill>
              </a:rPr>
              <a:t>eslint.config.js -&gt;</a:t>
            </a:r>
            <a:endParaRPr b="1" sz="1100">
              <a:solidFill>
                <a:schemeClr val="dk1"/>
              </a:solidFill>
            </a:endParaRPr>
          </a:p>
          <a:p>
            <a:pPr indent="-298450" lvl="1" marL="914400" rtl="0" algn="just">
              <a:lnSpc>
                <a:spcPct val="150000"/>
              </a:lnSpc>
              <a:spcBef>
                <a:spcPts val="0"/>
              </a:spcBef>
              <a:spcAft>
                <a:spcPts val="0"/>
              </a:spcAft>
              <a:buClr>
                <a:schemeClr val="dk1"/>
              </a:buClr>
              <a:buSzPts val="1100"/>
              <a:buChar char="○"/>
            </a:pPr>
            <a:r>
              <a:rPr lang="en" sz="1100">
                <a:solidFill>
                  <a:schemeClr val="dk1"/>
                </a:solidFill>
              </a:rPr>
              <a:t>ESLint Config JS file</a:t>
            </a:r>
            <a:endParaRPr sz="1100">
              <a:solidFill>
                <a:schemeClr val="dk1"/>
              </a:solidFill>
            </a:endParaRPr>
          </a:p>
          <a:p>
            <a:pPr indent="-298450" lvl="1" marL="914400" rtl="0" algn="just">
              <a:lnSpc>
                <a:spcPct val="150000"/>
              </a:lnSpc>
              <a:spcBef>
                <a:spcPts val="0"/>
              </a:spcBef>
              <a:spcAft>
                <a:spcPts val="0"/>
              </a:spcAft>
              <a:buClr>
                <a:schemeClr val="dk1"/>
              </a:buClr>
              <a:buSzPts val="1100"/>
              <a:buChar char="○"/>
            </a:pPr>
            <a:r>
              <a:rPr lang="en" sz="1100">
                <a:solidFill>
                  <a:schemeClr val="dk1"/>
                </a:solidFill>
              </a:rPr>
              <a:t>Contains global settings and rules to enforce.</a:t>
            </a:r>
            <a:br>
              <a:rPr lang="en" sz="1100">
                <a:solidFill>
                  <a:schemeClr val="dk1"/>
                </a:solidFill>
              </a:rPr>
            </a:br>
            <a:endParaRPr b="1" sz="1100">
              <a:solidFill>
                <a:schemeClr val="dk1"/>
              </a:solidFill>
            </a:endParaRPr>
          </a:p>
          <a:p>
            <a:pPr indent="-298450" lvl="0" marL="457200" rtl="0" algn="just">
              <a:lnSpc>
                <a:spcPct val="150000"/>
              </a:lnSpc>
              <a:spcBef>
                <a:spcPts val="0"/>
              </a:spcBef>
              <a:spcAft>
                <a:spcPts val="0"/>
              </a:spcAft>
              <a:buClr>
                <a:schemeClr val="dk1"/>
              </a:buClr>
              <a:buSzPts val="1100"/>
              <a:buChar char="●"/>
            </a:pPr>
            <a:r>
              <a:rPr b="1" lang="en" sz="1100">
                <a:solidFill>
                  <a:schemeClr val="dk1"/>
                </a:solidFill>
              </a:rPr>
              <a:t>Configuring Rules -&gt; can be configured in three ways:</a:t>
            </a:r>
            <a:endParaRPr b="1" sz="1100">
              <a:solidFill>
                <a:schemeClr val="dk1"/>
              </a:solidFill>
            </a:endParaRPr>
          </a:p>
          <a:p>
            <a:pPr indent="-298450" lvl="1" marL="914400" rtl="0" algn="just">
              <a:lnSpc>
                <a:spcPct val="150000"/>
              </a:lnSpc>
              <a:spcBef>
                <a:spcPts val="0"/>
              </a:spcBef>
              <a:spcAft>
                <a:spcPts val="0"/>
              </a:spcAft>
              <a:buClr>
                <a:schemeClr val="dk1"/>
              </a:buClr>
              <a:buSzPts val="1100"/>
              <a:buChar char="○"/>
            </a:pPr>
            <a:r>
              <a:rPr lang="en" sz="1100">
                <a:solidFill>
                  <a:schemeClr val="dk1"/>
                </a:solidFill>
              </a:rPr>
              <a:t>"off" | 0 : Disable the rule.</a:t>
            </a:r>
            <a:endParaRPr sz="1100">
              <a:solidFill>
                <a:schemeClr val="dk1"/>
              </a:solidFill>
            </a:endParaRPr>
          </a:p>
          <a:p>
            <a:pPr indent="-298450" lvl="1" marL="914400" rtl="0" algn="just">
              <a:lnSpc>
                <a:spcPct val="150000"/>
              </a:lnSpc>
              <a:spcBef>
                <a:spcPts val="0"/>
              </a:spcBef>
              <a:spcAft>
                <a:spcPts val="0"/>
              </a:spcAft>
              <a:buClr>
                <a:schemeClr val="dk1"/>
              </a:buClr>
              <a:buSzPts val="1100"/>
              <a:buChar char="○"/>
            </a:pPr>
            <a:r>
              <a:rPr lang="en" sz="1100">
                <a:solidFill>
                  <a:schemeClr val="dk1"/>
                </a:solidFill>
              </a:rPr>
              <a:t>"warn" | 1: Warn about the rule violation.</a:t>
            </a:r>
            <a:endParaRPr sz="1100">
              <a:solidFill>
                <a:schemeClr val="dk1"/>
              </a:solidFill>
            </a:endParaRPr>
          </a:p>
          <a:p>
            <a:pPr indent="-298450" lvl="1" marL="914400" rtl="0" algn="just">
              <a:lnSpc>
                <a:spcPct val="150000"/>
              </a:lnSpc>
              <a:spcBef>
                <a:spcPts val="0"/>
              </a:spcBef>
              <a:spcAft>
                <a:spcPts val="0"/>
              </a:spcAft>
              <a:buClr>
                <a:schemeClr val="dk1"/>
              </a:buClr>
              <a:buSzPts val="1100"/>
              <a:buChar char="○"/>
            </a:pPr>
            <a:r>
              <a:rPr lang="en" sz="1100">
                <a:solidFill>
                  <a:schemeClr val="dk1"/>
                </a:solidFill>
              </a:rPr>
              <a:t>"error" | 2: Report as an error.</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t/>
            </a:r>
            <a:endParaRPr b="1"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t/>
            </a:r>
            <a:endParaRPr b="1" sz="110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1"/>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Plugins</a:t>
            </a:r>
            <a:endParaRPr/>
          </a:p>
        </p:txBody>
      </p:sp>
      <p:sp>
        <p:nvSpPr>
          <p:cNvPr id="328" name="Google Shape;328;p51"/>
          <p:cNvSpPr txBox="1"/>
          <p:nvPr/>
        </p:nvSpPr>
        <p:spPr>
          <a:xfrm>
            <a:off x="264425" y="874675"/>
            <a:ext cx="8501400" cy="861900"/>
          </a:xfrm>
          <a:prstGeom prst="rect">
            <a:avLst/>
          </a:prstGeom>
          <a:noFill/>
          <a:ln>
            <a:noFill/>
          </a:ln>
        </p:spPr>
        <p:txBody>
          <a:bodyPr anchorCtr="0" anchor="t" bIns="91425" lIns="91425" spcFirstLastPara="1" rIns="91425" wrap="square" tIns="91425">
            <a:spAutoFit/>
          </a:bodyPr>
          <a:lstStyle/>
          <a:p>
            <a:pPr indent="-298450" lvl="0" marL="457200" rtl="0" algn="just">
              <a:lnSpc>
                <a:spcPct val="150000"/>
              </a:lnSpc>
              <a:spcBef>
                <a:spcPts val="0"/>
              </a:spcBef>
              <a:spcAft>
                <a:spcPts val="0"/>
              </a:spcAft>
              <a:buClr>
                <a:schemeClr val="dk1"/>
              </a:buClr>
              <a:buSzPts val="1100"/>
              <a:buChar char="●"/>
            </a:pPr>
            <a:r>
              <a:rPr lang="en" sz="1100">
                <a:solidFill>
                  <a:schemeClr val="dk1"/>
                </a:solidFill>
              </a:rPr>
              <a:t>A plugin in ESLint is an extra set of rules and configurations that ESLint doesn’t provide by default.</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lang="en" sz="1100">
                <a:solidFill>
                  <a:schemeClr val="dk1"/>
                </a:solidFill>
              </a:rPr>
              <a:t>If you need framework-specific rules (like React or Vue) or additional best practices, you need plugins.</a:t>
            </a:r>
            <a:endParaRPr sz="1100">
              <a:solidFill>
                <a:schemeClr val="dk1"/>
              </a:solidFill>
            </a:endParaRPr>
          </a:p>
          <a:p>
            <a:pPr indent="0" lvl="0" marL="0" rtl="0" algn="just">
              <a:lnSpc>
                <a:spcPct val="150000"/>
              </a:lnSpc>
              <a:spcBef>
                <a:spcPts val="0"/>
              </a:spcBef>
              <a:spcAft>
                <a:spcPts val="0"/>
              </a:spcAft>
              <a:buNone/>
            </a:pPr>
            <a:r>
              <a:t/>
            </a:r>
            <a:endParaRPr sz="1100">
              <a:solidFill>
                <a:schemeClr val="dk1"/>
              </a:solidFill>
            </a:endParaRPr>
          </a:p>
        </p:txBody>
      </p:sp>
      <p:pic>
        <p:nvPicPr>
          <p:cNvPr id="329" name="Google Shape;329;p51"/>
          <p:cNvPicPr preferRelativeResize="0"/>
          <p:nvPr/>
        </p:nvPicPr>
        <p:blipFill>
          <a:blip r:embed="rId3">
            <a:alphaModFix/>
          </a:blip>
          <a:stretch>
            <a:fillRect/>
          </a:stretch>
        </p:blipFill>
        <p:spPr>
          <a:xfrm>
            <a:off x="460400" y="1584725"/>
            <a:ext cx="7335674" cy="21554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2"/>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Using ESLint with Code Editors</a:t>
            </a:r>
            <a:endParaRPr/>
          </a:p>
        </p:txBody>
      </p:sp>
      <p:sp>
        <p:nvSpPr>
          <p:cNvPr id="335" name="Google Shape;335;p52"/>
          <p:cNvSpPr txBox="1"/>
          <p:nvPr/>
        </p:nvSpPr>
        <p:spPr>
          <a:xfrm>
            <a:off x="264425" y="874675"/>
            <a:ext cx="8501400" cy="3540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t/>
            </a:r>
            <a:endParaRPr sz="1100">
              <a:solidFill>
                <a:schemeClr val="dk1"/>
              </a:solidFill>
            </a:endParaRPr>
          </a:p>
        </p:txBody>
      </p:sp>
      <p:pic>
        <p:nvPicPr>
          <p:cNvPr id="336" name="Google Shape;336;p52"/>
          <p:cNvPicPr preferRelativeResize="0"/>
          <p:nvPr/>
        </p:nvPicPr>
        <p:blipFill>
          <a:blip r:embed="rId3">
            <a:alphaModFix/>
          </a:blip>
          <a:stretch>
            <a:fillRect/>
          </a:stretch>
        </p:blipFill>
        <p:spPr>
          <a:xfrm>
            <a:off x="1929063" y="1481125"/>
            <a:ext cx="5019675" cy="21812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3"/>
          <p:cNvSpPr txBox="1"/>
          <p:nvPr/>
        </p:nvSpPr>
        <p:spPr>
          <a:xfrm>
            <a:off x="557775" y="2257500"/>
            <a:ext cx="5627100" cy="628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0"/>
              <a:buFont typeface="Arial"/>
              <a:buNone/>
            </a:pPr>
            <a:r>
              <a:rPr b="1" lang="en" sz="4000">
                <a:solidFill>
                  <a:srgbClr val="231F20"/>
                </a:solidFill>
                <a:latin typeface="Century Gothic"/>
                <a:ea typeface="Century Gothic"/>
                <a:cs typeface="Century Gothic"/>
                <a:sym typeface="Century Gothic"/>
              </a:rPr>
              <a:t>Exercise</a:t>
            </a:r>
            <a:endParaRPr b="1" i="0" sz="4000" u="none" cap="none" strike="noStrike">
              <a:solidFill>
                <a:srgbClr val="000000"/>
              </a:solidFill>
              <a:latin typeface="Century Gothic"/>
              <a:ea typeface="Century Gothic"/>
              <a:cs typeface="Century Gothic"/>
              <a:sym typeface="Century Gothic"/>
            </a:endParaRPr>
          </a:p>
        </p:txBody>
      </p:sp>
      <p:sp>
        <p:nvSpPr>
          <p:cNvPr id="342" name="Google Shape;342;p53"/>
          <p:cNvSpPr txBox="1"/>
          <p:nvPr/>
        </p:nvSpPr>
        <p:spPr>
          <a:xfrm>
            <a:off x="557775" y="2886000"/>
            <a:ext cx="7910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3"/>
              </a:rPr>
              <a:t>https://docs.google.com/document/d/11lssqncmATsdPIY1JJBQzVzEwO-1vedTZ5ViCrGZYc0/edit?tab=t.0</a:t>
            </a:r>
            <a:endParaRPr sz="1100"/>
          </a:p>
          <a:p>
            <a:pPr indent="0" lvl="0" marL="0" rtl="0" algn="l">
              <a:spcBef>
                <a:spcPts val="0"/>
              </a:spcBef>
              <a:spcAft>
                <a:spcPts val="0"/>
              </a:spcAft>
              <a:buNone/>
            </a:pPr>
            <a:r>
              <a:t/>
            </a:r>
            <a:endParaRPr sz="11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4"/>
          <p:cNvSpPr txBox="1"/>
          <p:nvPr/>
        </p:nvSpPr>
        <p:spPr>
          <a:xfrm>
            <a:off x="557775" y="2257500"/>
            <a:ext cx="5627100" cy="628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0"/>
              <a:buFont typeface="Arial"/>
              <a:buNone/>
            </a:pPr>
            <a:r>
              <a:rPr b="1" lang="en" sz="4000">
                <a:solidFill>
                  <a:srgbClr val="231F20"/>
                </a:solidFill>
                <a:latin typeface="Century Gothic"/>
                <a:ea typeface="Century Gothic"/>
                <a:cs typeface="Century Gothic"/>
                <a:sym typeface="Century Gothic"/>
              </a:rPr>
              <a:t>Feedback</a:t>
            </a:r>
            <a:endParaRPr b="1" i="0" sz="4000" u="none" cap="none" strike="noStrike">
              <a:solidFill>
                <a:srgbClr val="000000"/>
              </a:solidFill>
              <a:latin typeface="Century Gothic"/>
              <a:ea typeface="Century Gothic"/>
              <a:cs typeface="Century Gothic"/>
              <a:sym typeface="Century Gothic"/>
            </a:endParaRPr>
          </a:p>
        </p:txBody>
      </p:sp>
      <p:sp>
        <p:nvSpPr>
          <p:cNvPr id="348" name="Google Shape;348;p54"/>
          <p:cNvSpPr txBox="1"/>
          <p:nvPr/>
        </p:nvSpPr>
        <p:spPr>
          <a:xfrm>
            <a:off x="557775" y="2886000"/>
            <a:ext cx="7910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5"/>
          <p:cNvSpPr txBox="1"/>
          <p:nvPr/>
        </p:nvSpPr>
        <p:spPr>
          <a:xfrm>
            <a:off x="557775" y="2257500"/>
            <a:ext cx="3464700" cy="628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0"/>
              <a:buFont typeface="Arial"/>
              <a:buNone/>
            </a:pPr>
            <a:r>
              <a:rPr b="1" i="0" lang="en" sz="4000" u="none" cap="none" strike="noStrike">
                <a:solidFill>
                  <a:srgbClr val="231F20"/>
                </a:solidFill>
                <a:latin typeface="Century Gothic"/>
                <a:ea typeface="Century Gothic"/>
                <a:cs typeface="Century Gothic"/>
                <a:sym typeface="Century Gothic"/>
              </a:rPr>
              <a:t>Thank You</a:t>
            </a:r>
            <a:endParaRPr b="1" i="0" sz="4000" u="none" cap="none" strike="noStrike">
              <a:solidFill>
                <a:srgbClr val="000000"/>
              </a:solidFill>
              <a:latin typeface="Century Gothic"/>
              <a:ea typeface="Century Gothic"/>
              <a:cs typeface="Century Gothic"/>
              <a:sym typeface="Century Gothic"/>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in Master">
  <a:themeElements>
    <a:clrScheme name="TTN - Final1">
      <a:dk1>
        <a:srgbClr val="000000"/>
      </a:dk1>
      <a:lt1>
        <a:srgbClr val="FFFFFF"/>
      </a:lt1>
      <a:dk2>
        <a:srgbClr val="595959"/>
      </a:dk2>
      <a:lt2>
        <a:srgbClr val="EEEEEE"/>
      </a:lt2>
      <a:accent1>
        <a:srgbClr val="D8187F"/>
      </a:accent1>
      <a:accent2>
        <a:srgbClr val="314162"/>
      </a:accent2>
      <a:accent3>
        <a:srgbClr val="5A3794"/>
      </a:accent3>
      <a:accent4>
        <a:srgbClr val="0097A7"/>
      </a:accent4>
      <a:accent5>
        <a:srgbClr val="FFAB40"/>
      </a:accent5>
      <a:accent6>
        <a:srgbClr val="12A5DF"/>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