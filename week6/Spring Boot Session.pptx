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Tahoma"/>
      <p:regular r:id="rId37"/>
      <p:bold r:id="rId38"/>
    </p:embeddedFont>
    <p:embeddedFont>
      <p:font typeface="Century Gothic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.fntdata"/><Relationship Id="rId20" Type="http://schemas.openxmlformats.org/officeDocument/2006/relationships/slide" Target="slides/slide15.xml"/><Relationship Id="rId42" Type="http://schemas.openxmlformats.org/officeDocument/2006/relationships/font" Target="fonts/CenturyGothic-boldItalic.fntdata"/><Relationship Id="rId41" Type="http://schemas.openxmlformats.org/officeDocument/2006/relationships/font" Target="fonts/CenturyGothic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Tahoma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CenturyGothic-regular.fntdata"/><Relationship Id="rId16" Type="http://schemas.openxmlformats.org/officeDocument/2006/relationships/slide" Target="slides/slide11.xml"/><Relationship Id="rId38" Type="http://schemas.openxmlformats.org/officeDocument/2006/relationships/font" Target="fonts/Tahom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3ccfdc3b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33ccfdc3b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0c96d44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30c96d44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0c96d441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30c96d441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0c96d441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30c96d441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dbacdc24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3dbacdc24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dbacdc2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3dbacdc2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dbacdc24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dbacdc2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dbacdc24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dbacdc24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dbacdc24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dbacdc24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dbacdc24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dbacdc24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dbacdc24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dbacdc24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dbacdc24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dbacdc24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dbacdc24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dbacdc24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dbacdc24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dbacdc24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dbacdc24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dbacdc24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dbacdc24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dbacdc24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dbacdc24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dbacdc24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dbacdc24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dbacdc24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dbacdc24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3dbacdc24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dbacdc24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dbacdc24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dbacdc24c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dbacdc24c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dbacdc24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dbacdc24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dbacdc24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3dbacdc24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dbacdc24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3dbacdc24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dbacdc24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dbacdc24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dbacdc24c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dbacdc24c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dbacdc24c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3dbacdc24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3dbacdc24c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3dbacdc24c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">
  <p:cSld name="CUSTOM_1_1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 b="30492" l="0" r="0" t="0"/>
          <a:stretch/>
        </p:blipFill>
        <p:spPr>
          <a:xfrm>
            <a:off x="556524" y="977750"/>
            <a:ext cx="3825572" cy="88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2"/>
          <p:cNvCxnSpPr/>
          <p:nvPr/>
        </p:nvCxnSpPr>
        <p:spPr>
          <a:xfrm>
            <a:off x="556513" y="2146371"/>
            <a:ext cx="6787200" cy="0"/>
          </a:xfrm>
          <a:prstGeom prst="straightConnector1">
            <a:avLst/>
          </a:prstGeom>
          <a:noFill/>
          <a:ln cap="flat" cmpd="sng" w="9525">
            <a:solidFill>
              <a:srgbClr val="D646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56525" y="2491850"/>
            <a:ext cx="67872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1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lide with black logo 1 3">
  <p:cSld name="TITLE_AND_TWO_COLUMNS_1_6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cxnSp>
        <p:nvCxnSpPr>
          <p:cNvPr id="14" name="Google Shape;14;p3"/>
          <p:cNvCxnSpPr/>
          <p:nvPr/>
        </p:nvCxnSpPr>
        <p:spPr>
          <a:xfrm>
            <a:off x="0" y="640900"/>
            <a:ext cx="156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diamond"/>
          </a:ln>
        </p:spPr>
      </p:cxnSp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38380" l="0" r="0" t="37945"/>
          <a:stretch/>
        </p:blipFill>
        <p:spPr>
          <a:xfrm>
            <a:off x="7548480" y="127007"/>
            <a:ext cx="1463649" cy="346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Black logo 1 1 1 1 1 1 1 2 1 2 1 1 2">
  <p:cSld name="CUSTOM_6_1_1_1_1_1_1_1_2_1_2_1_1_2">
    <p:bg>
      <p:bgPr>
        <a:noFill/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623"/>
            <a:ext cx="9144000" cy="514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38380" l="0" r="0" t="37945"/>
          <a:stretch/>
        </p:blipFill>
        <p:spPr>
          <a:xfrm>
            <a:off x="7548480" y="127007"/>
            <a:ext cx="1463649" cy="346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without Title">
  <p:cSld name="Title Slid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2">
            <a:alphaModFix/>
          </a:blip>
          <a:srcRect b="38380" l="0" r="0" t="37945"/>
          <a:stretch/>
        </p:blipFill>
        <p:spPr>
          <a:xfrm>
            <a:off x="7548480" y="127007"/>
            <a:ext cx="1463649" cy="346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Template 1">
  <p:cSld name="2020 LI_Title and Content_1_1_1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9193541" y="4838318"/>
            <a:ext cx="0" cy="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6"/>
          <p:cNvPicPr preferRelativeResize="0"/>
          <p:nvPr/>
        </p:nvPicPr>
        <p:blipFill rotWithShape="1">
          <a:blip r:embed="rId3">
            <a:alphaModFix/>
          </a:blip>
          <a:srcRect b="38380" l="0" r="0" t="37945"/>
          <a:stretch/>
        </p:blipFill>
        <p:spPr>
          <a:xfrm>
            <a:off x="7548480" y="127007"/>
            <a:ext cx="1463649" cy="3465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cxnSp>
        <p:nvCxnSpPr>
          <p:cNvPr id="27" name="Google Shape;27;p6"/>
          <p:cNvCxnSpPr/>
          <p:nvPr/>
        </p:nvCxnSpPr>
        <p:spPr>
          <a:xfrm>
            <a:off x="0" y="640900"/>
            <a:ext cx="156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diamon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-you Slide 1">
  <p:cSld name="TITLE_AND_TWO_COLUMNS_2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7"/>
          <p:cNvPicPr preferRelativeResize="0"/>
          <p:nvPr/>
        </p:nvPicPr>
        <p:blipFill rotWithShape="1">
          <a:blip r:embed="rId4">
            <a:alphaModFix/>
          </a:blip>
          <a:srcRect b="38380" l="0" r="0" t="37945"/>
          <a:stretch/>
        </p:blipFill>
        <p:spPr>
          <a:xfrm>
            <a:off x="7548480" y="127007"/>
            <a:ext cx="1463649" cy="346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Black logo 1 1 1 1 1 1 1 2 1 2 1 1 2 1">
  <p:cSld name="CUSTOM_6_1_1_1_1_1_1_1_2_1_2_1_1_2_1">
    <p:bg>
      <p:bgPr>
        <a:noFill/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623"/>
            <a:ext cx="9144000" cy="514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9"/>
          <p:cNvPicPr preferRelativeResize="0"/>
          <p:nvPr/>
        </p:nvPicPr>
        <p:blipFill rotWithShape="1">
          <a:blip r:embed="rId3">
            <a:alphaModFix/>
          </a:blip>
          <a:srcRect b="38380" l="0" r="0" t="37945"/>
          <a:stretch/>
        </p:blipFill>
        <p:spPr>
          <a:xfrm>
            <a:off x="7548480" y="127007"/>
            <a:ext cx="1463649" cy="34652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/>
          <p:nvPr>
            <p:ph type="ctrTitle"/>
          </p:nvPr>
        </p:nvSpPr>
        <p:spPr>
          <a:xfrm>
            <a:off x="1178400" y="2310825"/>
            <a:ext cx="67872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3F66"/>
              </a:buClr>
              <a:buSzPts val="3200"/>
              <a:buFont typeface="Century Gothic"/>
              <a:buNone/>
              <a:defRPr b="1" i="0" sz="3200" u="none" cap="none" strike="noStrike">
                <a:solidFill>
                  <a:srgbClr val="183F6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Logo, Footer &amp; Body 1">
  <p:cSld name="TITLE_AND_TWO_COLUMNS_1_3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9193541" y="4838318"/>
            <a:ext cx="0" cy="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F26B43"/>
          </p15:clr>
        </p15:guide>
        <p15:guide id="2" pos="5628">
          <p15:clr>
            <a:srgbClr val="F26B43"/>
          </p15:clr>
        </p15:guide>
        <p15:guide id="3" pos="1864">
          <p15:clr>
            <a:srgbClr val="F26B43"/>
          </p15:clr>
        </p15:guide>
        <p15:guide id="4" pos="2880">
          <p15:clr>
            <a:srgbClr val="F26B43"/>
          </p15:clr>
        </p15:guide>
        <p15:guide id="5" pos="3736">
          <p15:clr>
            <a:srgbClr val="F26B43"/>
          </p15:clr>
        </p15:guide>
        <p15:guide id="6" pos="3896">
          <p15:clr>
            <a:srgbClr val="F26B43"/>
          </p15:clr>
        </p15:guide>
        <p15:guide id="7" orient="horz" pos="468">
          <p15:clr>
            <a:srgbClr val="F26B43"/>
          </p15:clr>
        </p15:guide>
        <p15:guide id="8" orient="horz" pos="2936">
          <p15:clr>
            <a:srgbClr val="F26B43"/>
          </p15:clr>
        </p15:guide>
        <p15:guide id="9" orient="horz" pos="1638">
          <p15:clr>
            <a:srgbClr val="F26B43"/>
          </p15:clr>
        </p15:guide>
        <p15:guide id="10" orient="horz" pos="1764">
          <p15:clr>
            <a:srgbClr val="F26B43"/>
          </p15:clr>
        </p15:guide>
        <p15:guide id="11" pos="200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1" Type="http://schemas.openxmlformats.org/officeDocument/2006/relationships/image" Target="../media/image24.png"/><Relationship Id="rId10" Type="http://schemas.openxmlformats.org/officeDocument/2006/relationships/image" Target="../media/image15.png"/><Relationship Id="rId9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tart.spring.io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ctrTitle"/>
          </p:nvPr>
        </p:nvSpPr>
        <p:spPr>
          <a:xfrm>
            <a:off x="556525" y="2491850"/>
            <a:ext cx="67872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45" name="Google Shape;45;p11"/>
          <p:cNvPicPr preferRelativeResize="0"/>
          <p:nvPr/>
        </p:nvPicPr>
        <p:blipFill rotWithShape="1">
          <a:blip r:embed="rId3">
            <a:alphaModFix/>
          </a:blip>
          <a:srcRect b="0" l="0" r="44858" t="0"/>
          <a:stretch/>
        </p:blipFill>
        <p:spPr>
          <a:xfrm>
            <a:off x="6141446" y="166727"/>
            <a:ext cx="491889" cy="51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9647" y="267041"/>
            <a:ext cx="1031154" cy="315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1"/>
          <p:cNvPicPr preferRelativeResize="0"/>
          <p:nvPr/>
        </p:nvPicPr>
        <p:blipFill rotWithShape="1">
          <a:blip r:embed="rId5">
            <a:alphaModFix/>
          </a:blip>
          <a:srcRect b="31347" l="13737" r="14489" t="30974"/>
          <a:stretch/>
        </p:blipFill>
        <p:spPr>
          <a:xfrm>
            <a:off x="6740916" y="302133"/>
            <a:ext cx="1031151" cy="245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11"/>
          <p:cNvGrpSpPr/>
          <p:nvPr/>
        </p:nvGrpSpPr>
        <p:grpSpPr>
          <a:xfrm>
            <a:off x="3433374" y="4727449"/>
            <a:ext cx="5477414" cy="197700"/>
            <a:chOff x="3433374" y="4727449"/>
            <a:chExt cx="5477414" cy="197700"/>
          </a:xfrm>
        </p:grpSpPr>
        <p:sp>
          <p:nvSpPr>
            <p:cNvPr id="49" name="Google Shape;49;p11"/>
            <p:cNvSpPr txBox="1"/>
            <p:nvPr/>
          </p:nvSpPr>
          <p:spPr>
            <a:xfrm>
              <a:off x="3433374" y="4727449"/>
              <a:ext cx="1227900" cy="1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0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Proudly recognized by</a:t>
              </a:r>
              <a:endParaRPr b="1" i="0" sz="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50" name="Google Shape;50;p11"/>
            <p:cNvCxnSpPr/>
            <p:nvPr/>
          </p:nvCxnSpPr>
          <p:spPr>
            <a:xfrm>
              <a:off x="4631412" y="4826299"/>
              <a:ext cx="282300" cy="0"/>
            </a:xfrm>
            <a:prstGeom prst="straightConnector1">
              <a:avLst/>
            </a:prstGeom>
            <a:noFill/>
            <a:ln cap="flat" cmpd="sng" w="9525">
              <a:solidFill>
                <a:srgbClr val="D6469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1" name="Google Shape;51;p11"/>
            <p:cNvCxnSpPr/>
            <p:nvPr/>
          </p:nvCxnSpPr>
          <p:spPr>
            <a:xfrm>
              <a:off x="5345857" y="4751899"/>
              <a:ext cx="0" cy="1488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2" name="Google Shape;52;p11"/>
            <p:cNvCxnSpPr/>
            <p:nvPr/>
          </p:nvCxnSpPr>
          <p:spPr>
            <a:xfrm>
              <a:off x="6029754" y="4751899"/>
              <a:ext cx="0" cy="1488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</p:cxnSp>
        <p:pic>
          <p:nvPicPr>
            <p:cNvPr id="53" name="Google Shape;53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40706" y="4751946"/>
              <a:ext cx="490692" cy="148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27578" y="4732311"/>
              <a:ext cx="182546" cy="18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57426" y="4758380"/>
              <a:ext cx="590648" cy="13583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6" name="Google Shape;56;p11"/>
            <p:cNvCxnSpPr/>
            <p:nvPr/>
          </p:nvCxnSpPr>
          <p:spPr>
            <a:xfrm>
              <a:off x="7132075" y="4751899"/>
              <a:ext cx="0" cy="1488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</p:cxnSp>
        <p:pic>
          <p:nvPicPr>
            <p:cNvPr id="57" name="Google Shape;57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050490" y="4751948"/>
              <a:ext cx="860298" cy="148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8" name="Google Shape;58;p11"/>
            <p:cNvCxnSpPr/>
            <p:nvPr/>
          </p:nvCxnSpPr>
          <p:spPr>
            <a:xfrm>
              <a:off x="7956968" y="4751899"/>
              <a:ext cx="0" cy="1488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</p:cxnSp>
        <p:pic>
          <p:nvPicPr>
            <p:cNvPr id="59" name="Google Shape;59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110048" y="4743760"/>
              <a:ext cx="941727" cy="16507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" name="Google Shape;60;p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6525" y="2308275"/>
            <a:ext cx="7559201" cy="185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/>
        </p:nvSpPr>
        <p:spPr>
          <a:xfrm>
            <a:off x="557775" y="2257500"/>
            <a:ext cx="2366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31F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b="1" i="0" sz="4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3617525" y="1705025"/>
            <a:ext cx="40005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Introduction to Spring Boot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Why Spring Boot?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MVC 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Spring Initializer &amp; Project Setup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Folder Structure &amp; Naming Conventions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Application Properties &amp; YAML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Core Annotations &amp; Use Cases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Profiles &amp; Environment Configurations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Restful Service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Spring AOP &amp; Controllers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Live Demo &amp; Q&amp;A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Introduction to spring boot</a:t>
            </a:r>
            <a:endParaRPr/>
          </a:p>
        </p:txBody>
      </p:sp>
      <p:sp>
        <p:nvSpPr>
          <p:cNvPr id="72" name="Google Shape;72;p13"/>
          <p:cNvSpPr txBox="1"/>
          <p:nvPr/>
        </p:nvSpPr>
        <p:spPr>
          <a:xfrm>
            <a:off x="264425" y="1046925"/>
            <a:ext cx="8548200" cy="361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Spring Boot is an extension of the Spring framework that simplifies application development.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Reduces boilerplate code and configuration.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Embedded server support (Tomcat, Jetty, Undertow).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Production-ready features like monitoring, metrics, and health checks.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Convention over configuration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Understanding Convention Over Configuration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64425" y="774950"/>
            <a:ext cx="8548200" cy="400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Embedded Servers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Convention</a:t>
            </a:r>
            <a:r>
              <a:rPr lang="en" sz="1100">
                <a:solidFill>
                  <a:schemeClr val="dk1"/>
                </a:solidFill>
              </a:rPr>
              <a:t>: Spring Boot ships with an embedded </a:t>
            </a:r>
            <a:r>
              <a:rPr b="1" lang="en" sz="1100">
                <a:solidFill>
                  <a:schemeClr val="dk1"/>
                </a:solidFill>
              </a:rPr>
              <a:t>Tomcat, Jetty, or Undertow</a:t>
            </a:r>
            <a:r>
              <a:rPr lang="en" sz="1100">
                <a:solidFill>
                  <a:schemeClr val="dk1"/>
                </a:solidFill>
              </a:rPr>
              <a:t> server.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Configuration (if needed)</a:t>
            </a:r>
            <a:r>
              <a:rPr lang="en" sz="1100">
                <a:solidFill>
                  <a:schemeClr val="dk1"/>
                </a:solidFill>
              </a:rPr>
              <a:t>: You can override it in application.properties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Auto Configuration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Convention: </a:t>
            </a:r>
            <a:r>
              <a:rPr lang="en" sz="1100">
                <a:solidFill>
                  <a:schemeClr val="dk1"/>
                </a:solidFill>
              </a:rPr>
              <a:t>Spring Boot automatically configures beans based on classpath dependencies.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Example</a:t>
            </a:r>
            <a:r>
              <a:rPr lang="en" sz="1100">
                <a:solidFill>
                  <a:schemeClr val="dk1"/>
                </a:solidFill>
              </a:rPr>
              <a:t>: If spring-boot-starter-data-jpa is present, Spring Boot auto-configures Hibernate &amp; a DataSource.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Configuration: </a:t>
            </a:r>
            <a:r>
              <a:rPr lang="en" sz="1100">
                <a:solidFill>
                  <a:schemeClr val="dk1"/>
                </a:solidFill>
              </a:rPr>
              <a:t>You can override it in application.properties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194425" y="1863375"/>
            <a:ext cx="5820600" cy="4002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server.port=8081</a:t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1194425" y="3463000"/>
            <a:ext cx="5820600" cy="12036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spring.datasource.url=jdbc:mysql://localhost:3306/mydb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spring.datasource.username=root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spring.datasource.password=pass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Why Spring Boot?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0" y="1765150"/>
            <a:ext cx="9144000" cy="10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Auto Configuration:</a:t>
            </a:r>
            <a:r>
              <a:rPr lang="en" sz="1100">
                <a:solidFill>
                  <a:schemeClr val="dk1"/>
                </a:solidFill>
              </a:rPr>
              <a:t> No need for complex XML configurations.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Microservices Friendly:</a:t>
            </a:r>
            <a:r>
              <a:rPr lang="en" sz="1100">
                <a:solidFill>
                  <a:schemeClr val="dk1"/>
                </a:solidFill>
              </a:rPr>
              <a:t> Easily scalable and deployable.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Embedded Server:</a:t>
            </a:r>
            <a:r>
              <a:rPr lang="en" sz="1100">
                <a:solidFill>
                  <a:schemeClr val="dk1"/>
                </a:solidFill>
              </a:rPr>
              <a:t> Runs without external server setup.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Spring Ecosystem Integration:</a:t>
            </a:r>
            <a:r>
              <a:rPr lang="en" sz="1100">
                <a:solidFill>
                  <a:schemeClr val="dk1"/>
                </a:solidFill>
              </a:rPr>
              <a:t> Works well with Spring Security, JPA, Kafka, RabbitMQ, etc.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Actuator &amp; Monitoring:</a:t>
            </a:r>
            <a:r>
              <a:rPr lang="en" sz="1100">
                <a:solidFill>
                  <a:schemeClr val="dk1"/>
                </a:solidFill>
              </a:rPr>
              <a:t> Provides built-in monitoring endpoints.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MVC Architecture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701900" y="962925"/>
            <a:ext cx="4514400" cy="16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Model-View-Controller (MVC) Pattern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Model:</a:t>
            </a:r>
            <a:r>
              <a:rPr lang="en" sz="1100">
                <a:solidFill>
                  <a:schemeClr val="dk1"/>
                </a:solidFill>
              </a:rPr>
              <a:t> Represents business logic &amp; data (e.g., Service Layer, DTOs, Entities).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View:</a:t>
            </a:r>
            <a:r>
              <a:rPr lang="en" sz="1100">
                <a:solidFill>
                  <a:schemeClr val="dk1"/>
                </a:solidFill>
              </a:rPr>
              <a:t> Handles UI representation (not covered in backend API design).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Controller:</a:t>
            </a:r>
            <a:r>
              <a:rPr lang="en" sz="1100">
                <a:solidFill>
                  <a:schemeClr val="dk1"/>
                </a:solidFill>
              </a:rPr>
              <a:t> Handles user requests and delegates logic to the service layer.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Spring Boot MVC Flow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701900" y="962925"/>
            <a:ext cx="4514400" cy="388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Spring Boot MVC Flow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Client Request</a:t>
            </a:r>
            <a:r>
              <a:rPr lang="en" sz="1100">
                <a:solidFill>
                  <a:schemeClr val="dk1"/>
                </a:solidFill>
              </a:rPr>
              <a:t>: A client (browser, mobile app, or API client) sends an HTTP request.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Request passes through </a:t>
            </a:r>
            <a:r>
              <a:rPr b="1" lang="en" sz="1100">
                <a:solidFill>
                  <a:schemeClr val="dk1"/>
                </a:solidFill>
              </a:rPr>
              <a:t>Filters.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The request first reaches </a:t>
            </a:r>
            <a:r>
              <a:rPr b="1" lang="en" sz="1100">
                <a:solidFill>
                  <a:schemeClr val="dk1"/>
                </a:solidFill>
              </a:rPr>
              <a:t>Spring’s DispatcherServlet</a:t>
            </a:r>
            <a:r>
              <a:rPr lang="en" sz="1100">
                <a:solidFill>
                  <a:schemeClr val="dk1"/>
                </a:solidFill>
              </a:rPr>
              <a:t>, which acts as a front controller.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The DispatcherServlet consults the </a:t>
            </a:r>
            <a:r>
              <a:rPr b="1" lang="en" sz="1100">
                <a:solidFill>
                  <a:schemeClr val="dk1"/>
                </a:solidFill>
              </a:rPr>
              <a:t>HandlerMapping</a:t>
            </a:r>
            <a:r>
              <a:rPr lang="en" sz="1100">
                <a:solidFill>
                  <a:schemeClr val="dk1"/>
                </a:solidFill>
              </a:rPr>
              <a:t> to determine the appropriate </a:t>
            </a:r>
            <a:r>
              <a:rPr b="1" lang="en" sz="1100">
                <a:solidFill>
                  <a:schemeClr val="dk1"/>
                </a:solidFill>
              </a:rPr>
              <a:t>Controller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The request is passed to the corresponding </a:t>
            </a:r>
            <a:r>
              <a:rPr b="1" lang="en" sz="1100">
                <a:solidFill>
                  <a:schemeClr val="dk1"/>
                </a:solidFill>
              </a:rPr>
              <a:t>Controller</a:t>
            </a:r>
            <a:r>
              <a:rPr lang="en" sz="1100">
                <a:solidFill>
                  <a:schemeClr val="dk1"/>
                </a:solidFill>
              </a:rPr>
              <a:t> method.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The Controller may call a </a:t>
            </a:r>
            <a:r>
              <a:rPr b="1" lang="en" sz="1100">
                <a:solidFill>
                  <a:schemeClr val="dk1"/>
                </a:solidFill>
              </a:rPr>
              <a:t>Service Layer</a:t>
            </a:r>
            <a:r>
              <a:rPr lang="en" sz="1100">
                <a:solidFill>
                  <a:schemeClr val="dk1"/>
                </a:solidFill>
              </a:rPr>
              <a:t> method for business logic.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The Service Layer may interact with the </a:t>
            </a:r>
            <a:r>
              <a:rPr b="1" lang="en" sz="1100">
                <a:solidFill>
                  <a:schemeClr val="dk1"/>
                </a:solidFill>
              </a:rPr>
              <a:t>Repository/DAO</a:t>
            </a:r>
            <a:r>
              <a:rPr lang="en" sz="1100">
                <a:solidFill>
                  <a:schemeClr val="dk1"/>
                </a:solidFill>
              </a:rPr>
              <a:t> to fetch/update data from the database.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The Controller returns a </a:t>
            </a:r>
            <a:r>
              <a:rPr b="1" lang="en" sz="1100">
                <a:solidFill>
                  <a:schemeClr val="dk1"/>
                </a:solidFill>
              </a:rPr>
              <a:t>View (Thymeleaf, JSP) or JSON (REST API)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If it’s a web app, the ViewResolver resolves the correct view template.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The response is sent back to the client.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Spring Boot MVC Flow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900" y="799050"/>
            <a:ext cx="5432782" cy="42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Spring Initializer &amp; Project Setup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1459100" y="919575"/>
            <a:ext cx="51720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Spring Initializer</a:t>
            </a:r>
            <a:r>
              <a:rPr lang="en" sz="1100">
                <a:solidFill>
                  <a:schemeClr val="dk1"/>
                </a:solidFill>
              </a:rPr>
              <a:t> to generate a boilerplate project.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Select dependencies: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Spring Web</a:t>
            </a:r>
            <a:r>
              <a:rPr lang="en" sz="1100">
                <a:solidFill>
                  <a:schemeClr val="dk1"/>
                </a:solidFill>
              </a:rPr>
              <a:t> (for REST API development)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Spring Boot Actuator</a:t>
            </a:r>
            <a:r>
              <a:rPr lang="en" sz="1100">
                <a:solidFill>
                  <a:schemeClr val="dk1"/>
                </a:solidFill>
              </a:rPr>
              <a:t> (for monitoring)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Spring Data JPA</a:t>
            </a:r>
            <a:r>
              <a:rPr lang="en" sz="1100">
                <a:solidFill>
                  <a:schemeClr val="dk1"/>
                </a:solidFill>
              </a:rPr>
              <a:t> (for database operations)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Spring Security</a:t>
            </a:r>
            <a:r>
              <a:rPr lang="en" sz="1100">
                <a:solidFill>
                  <a:schemeClr val="dk1"/>
                </a:solidFill>
              </a:rPr>
              <a:t> (for authentication and authorization)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Spring AOP</a:t>
            </a:r>
            <a:r>
              <a:rPr lang="en" sz="1100">
                <a:solidFill>
                  <a:schemeClr val="dk1"/>
                </a:solidFill>
              </a:rPr>
              <a:t> (for aspect-oriented programming)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300">
                <a:solidFill>
                  <a:schemeClr val="dk1"/>
                </a:solidFill>
              </a:rPr>
              <a:t>Build Tool: Gradle</a:t>
            </a:r>
            <a:endParaRPr b="1" sz="13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./gradlew bootRun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Boot Folder Structure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975" y="663900"/>
            <a:ext cx="5846488" cy="427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Application.properties Vs Application.Yaml</a:t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757900" y="909475"/>
            <a:ext cx="55395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1. Configuration Formats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Spring Boot supports two formats for configuration: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application.properties</a:t>
            </a:r>
            <a:r>
              <a:rPr lang="en" sz="1100">
                <a:solidFill>
                  <a:schemeClr val="dk1"/>
                </a:solidFill>
              </a:rPr>
              <a:t> (Key-Value Format)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application.yml</a:t>
            </a:r>
            <a:r>
              <a:rPr lang="en" sz="1100">
                <a:solidFill>
                  <a:schemeClr val="dk1"/>
                </a:solidFill>
              </a:rPr>
              <a:t> (Hierarchical Format)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50" y="2401050"/>
            <a:ext cx="6888648" cy="252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Application.properties Vs Application.Yaml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8200"/>
            <a:ext cx="8512550" cy="289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Boot Annotation Overview </a:t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4425" y="990300"/>
            <a:ext cx="8235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Use Annotations?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Annotations in Spring Boot simplify configuration and enable powerful features like dependency injection, web services, and database integration.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264425" y="2021025"/>
            <a:ext cx="84786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Core Annotations Categories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1.	</a:t>
            </a:r>
            <a:r>
              <a:rPr b="1" lang="en" sz="1100">
                <a:solidFill>
                  <a:schemeClr val="dk1"/>
                </a:solidFill>
              </a:rPr>
              <a:t>Application-Level</a:t>
            </a:r>
            <a:r>
              <a:rPr lang="en" sz="1100">
                <a:solidFill>
                  <a:schemeClr val="dk1"/>
                </a:solidFill>
              </a:rPr>
              <a:t> (e.g., @SpringBootApplication)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2.	</a:t>
            </a:r>
            <a:r>
              <a:rPr b="1" lang="en" sz="1100">
                <a:solidFill>
                  <a:schemeClr val="dk1"/>
                </a:solidFill>
              </a:rPr>
              <a:t>Component Scanning &amp; Dependency Injection</a:t>
            </a:r>
            <a:r>
              <a:rPr lang="en" sz="1100">
                <a:solidFill>
                  <a:schemeClr val="dk1"/>
                </a:solidFill>
              </a:rPr>
              <a:t> (e.g., @Component, @Service, @Repository)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3.	</a:t>
            </a:r>
            <a:r>
              <a:rPr b="1" lang="en" sz="1100">
                <a:solidFill>
                  <a:schemeClr val="dk1"/>
                </a:solidFill>
              </a:rPr>
              <a:t>Web &amp; REST API</a:t>
            </a:r>
            <a:r>
              <a:rPr lang="en" sz="1100">
                <a:solidFill>
                  <a:schemeClr val="dk1"/>
                </a:solidFill>
              </a:rPr>
              <a:t> (e.g., @RestController, @RequestMapping, @GetMapping)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4.	</a:t>
            </a:r>
            <a:r>
              <a:rPr b="1" lang="en" sz="1100">
                <a:solidFill>
                  <a:schemeClr val="dk1"/>
                </a:solidFill>
              </a:rPr>
              <a:t>Configuration &amp; Profiles</a:t>
            </a:r>
            <a:r>
              <a:rPr lang="en" sz="1100">
                <a:solidFill>
                  <a:schemeClr val="dk1"/>
                </a:solidFill>
              </a:rPr>
              <a:t> (e.g., @Configuration, @Profile)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Level Annotation</a:t>
            </a:r>
            <a:endParaRPr/>
          </a:p>
        </p:txBody>
      </p:sp>
      <p:sp>
        <p:nvSpPr>
          <p:cNvPr id="142" name="Google Shape;142;p24"/>
          <p:cNvSpPr txBox="1"/>
          <p:nvPr/>
        </p:nvSpPr>
        <p:spPr>
          <a:xfrm>
            <a:off x="264425" y="899350"/>
            <a:ext cx="76197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1. @SpringBootApplication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Entry point of a Spring Boot application.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Combines @Configuration, @EnableAutoConfiguration, and @ComponentScan.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Example: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51550"/>
            <a:ext cx="8839203" cy="1673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Annotation Continue….</a:t>
            </a:r>
            <a:endParaRPr/>
          </a:p>
        </p:txBody>
      </p:sp>
      <p:sp>
        <p:nvSpPr>
          <p:cNvPr id="149" name="Google Shape;149;p25"/>
          <p:cNvSpPr txBox="1"/>
          <p:nvPr/>
        </p:nvSpPr>
        <p:spPr>
          <a:xfrm>
            <a:off x="186125" y="798300"/>
            <a:ext cx="83547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@ComponentScan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Scans specified packages for Spring-managed beans (@Component, @Service, @Repository).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25" y="1682950"/>
            <a:ext cx="8839203" cy="101635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264425" y="2890050"/>
            <a:ext cx="8094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@EntityScan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Scans specified packages for JPA entity classes.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745050"/>
            <a:ext cx="8839203" cy="1016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&amp; </a:t>
            </a:r>
            <a:r>
              <a:rPr lang="en"/>
              <a:t>Dependency</a:t>
            </a:r>
            <a:r>
              <a:rPr lang="en"/>
              <a:t> Injection</a:t>
            </a:r>
            <a:endParaRPr/>
          </a:p>
        </p:txBody>
      </p:sp>
      <p:sp>
        <p:nvSpPr>
          <p:cNvPr id="158" name="Google Shape;158;p26"/>
          <p:cNvSpPr txBox="1"/>
          <p:nvPr/>
        </p:nvSpPr>
        <p:spPr>
          <a:xfrm>
            <a:off x="228600" y="1000400"/>
            <a:ext cx="8069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@Component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Marks a generic Spring-managed bean.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5400"/>
            <a:ext cx="8839203" cy="101635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/>
        </p:nvSpPr>
        <p:spPr>
          <a:xfrm>
            <a:off x="228600" y="3100700"/>
            <a:ext cx="77583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@Service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Specialized @Component used for service layer logic.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955700"/>
            <a:ext cx="8839203" cy="995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Annotation Continue…</a:t>
            </a:r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264425" y="922100"/>
            <a:ext cx="79332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@Repository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Specialized @Component used for DAO (Data Access Object) pattern.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7100"/>
            <a:ext cx="8839203" cy="99582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/>
          <p:nvPr/>
        </p:nvSpPr>
        <p:spPr>
          <a:xfrm>
            <a:off x="264425" y="3019650"/>
            <a:ext cx="73149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@Autowired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Injects dependencies automatically.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3841650"/>
            <a:ext cx="8763000" cy="9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Annotation Continue</a:t>
            </a:r>
            <a:endParaRPr/>
          </a:p>
        </p:txBody>
      </p:sp>
      <p:sp>
        <p:nvSpPr>
          <p:cNvPr id="176" name="Google Shape;176;p28"/>
          <p:cNvSpPr txBox="1"/>
          <p:nvPr/>
        </p:nvSpPr>
        <p:spPr>
          <a:xfrm>
            <a:off x="228600" y="891700"/>
            <a:ext cx="82425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@Value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Injects values from application.properties or application.yml.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6700"/>
            <a:ext cx="8839203" cy="100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&amp; Rest API Annotation</a:t>
            </a:r>
            <a:endParaRPr/>
          </a:p>
        </p:txBody>
      </p:sp>
      <p:sp>
        <p:nvSpPr>
          <p:cNvPr id="183" name="Google Shape;183;p29"/>
          <p:cNvSpPr txBox="1"/>
          <p:nvPr/>
        </p:nvSpPr>
        <p:spPr>
          <a:xfrm>
            <a:off x="264425" y="911975"/>
            <a:ext cx="81378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@RestController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Combines @Controller and @ResponseBody to create RESTful APIs.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6975"/>
            <a:ext cx="8839203" cy="100608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/>
          <p:nvPr/>
        </p:nvSpPr>
        <p:spPr>
          <a:xfrm>
            <a:off x="228600" y="3080425"/>
            <a:ext cx="83358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@RequestMapping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Maps HTTP requests to a controller method.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935425"/>
            <a:ext cx="8839203" cy="100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Annotation Continue</a:t>
            </a:r>
            <a:endParaRPr/>
          </a:p>
        </p:txBody>
      </p:sp>
      <p:sp>
        <p:nvSpPr>
          <p:cNvPr id="192" name="Google Shape;192;p30"/>
          <p:cNvSpPr txBox="1"/>
          <p:nvPr/>
        </p:nvSpPr>
        <p:spPr>
          <a:xfrm>
            <a:off x="186125" y="1003175"/>
            <a:ext cx="83964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@GetMapping &amp; @PostMapping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Shortcut for @RequestMapping with GET or POST methods.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8175"/>
            <a:ext cx="8839198" cy="94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/>
        </p:nvSpPr>
        <p:spPr>
          <a:xfrm>
            <a:off x="186125" y="3080400"/>
            <a:ext cx="83964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@ControllerAdvice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Global exception handling for controllers.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 rotWithShape="1">
          <a:blip r:embed="rId4">
            <a:alphaModFix/>
          </a:blip>
          <a:srcRect b="-33827" l="0" r="0" t="24740"/>
          <a:stretch/>
        </p:blipFill>
        <p:spPr>
          <a:xfrm>
            <a:off x="71325" y="4063050"/>
            <a:ext cx="8920274" cy="101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Annotation Continue</a:t>
            </a:r>
            <a:endParaRPr/>
          </a:p>
        </p:txBody>
      </p:sp>
      <p:sp>
        <p:nvSpPr>
          <p:cNvPr id="201" name="Google Shape;201;p31"/>
          <p:cNvSpPr txBox="1"/>
          <p:nvPr/>
        </p:nvSpPr>
        <p:spPr>
          <a:xfrm>
            <a:off x="264425" y="742950"/>
            <a:ext cx="85329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@Profile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Activates beans for a specific environment.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7950"/>
            <a:ext cx="8839203" cy="11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Profiles &amp; Environment Configurations</a:t>
            </a:r>
            <a:endParaRPr/>
          </a:p>
        </p:txBody>
      </p:sp>
      <p:sp>
        <p:nvSpPr>
          <p:cNvPr id="208" name="Google Shape;208;p32"/>
          <p:cNvSpPr txBox="1"/>
          <p:nvPr/>
        </p:nvSpPr>
        <p:spPr>
          <a:xfrm>
            <a:off x="264425" y="861300"/>
            <a:ext cx="78744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Switch Between Environments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spring.profiles.active=dev</a:t>
            </a:r>
            <a:r>
              <a:rPr lang="en" sz="1100">
                <a:solidFill>
                  <a:schemeClr val="dk1"/>
                </a:solidFill>
              </a:rPr>
              <a:t> to activate a specific profile.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16300"/>
            <a:ext cx="8839198" cy="108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2"/>
          <p:cNvSpPr txBox="1"/>
          <p:nvPr/>
        </p:nvSpPr>
        <p:spPr>
          <a:xfrm>
            <a:off x="228600" y="3161500"/>
            <a:ext cx="67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/>
              <a:t>./gradlew bootRun -Dspring.profiles.active=qa</a:t>
            </a:r>
            <a:endParaRPr b="1"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Restful Services</a:t>
            </a:r>
            <a:endParaRPr/>
          </a:p>
        </p:txBody>
      </p:sp>
      <p:sp>
        <p:nvSpPr>
          <p:cNvPr id="216" name="Google Shape;216;p33"/>
          <p:cNvSpPr txBox="1"/>
          <p:nvPr/>
        </p:nvSpPr>
        <p:spPr>
          <a:xfrm>
            <a:off x="466150" y="689050"/>
            <a:ext cx="7895700" cy="2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What are RESTful Services?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RESTful services are web services that follow the </a:t>
            </a:r>
            <a:r>
              <a:rPr b="1" lang="en" sz="1100">
                <a:solidFill>
                  <a:schemeClr val="dk1"/>
                </a:solidFill>
              </a:rPr>
              <a:t>REST (Representational State Transfer)</a:t>
            </a:r>
            <a:r>
              <a:rPr lang="en" sz="1100">
                <a:solidFill>
                  <a:schemeClr val="dk1"/>
                </a:solidFill>
              </a:rPr>
              <a:t> architectural style, enabling communication between client and server using HTTP.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Characteristics: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Stateless</a:t>
            </a:r>
            <a:r>
              <a:rPr lang="en" sz="1100">
                <a:solidFill>
                  <a:schemeClr val="dk1"/>
                </a:solidFill>
              </a:rPr>
              <a:t>: Each request is independent; the server does not store client state.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Client-Server Architecture</a:t>
            </a:r>
            <a:r>
              <a:rPr lang="en" sz="1100">
                <a:solidFill>
                  <a:schemeClr val="dk1"/>
                </a:solidFill>
              </a:rPr>
              <a:t>: The client and server communicate over HTTP.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Resource-Based</a:t>
            </a:r>
            <a:r>
              <a:rPr lang="en" sz="1100">
                <a:solidFill>
                  <a:schemeClr val="dk1"/>
                </a:solidFill>
              </a:rPr>
              <a:t>: Everything is treated as a resource (e.g., Users, Orders).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Uses Standard HTTP Methods</a:t>
            </a:r>
            <a:r>
              <a:rPr lang="en" sz="1100">
                <a:solidFill>
                  <a:schemeClr val="dk1"/>
                </a:solidFill>
              </a:rPr>
              <a:t>: GET, POST, PUT, PATCH, DELETE.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Supports Multiple Data Formats</a:t>
            </a:r>
            <a:r>
              <a:rPr lang="en" sz="1100">
                <a:solidFill>
                  <a:schemeClr val="dk1"/>
                </a:solidFill>
              </a:rPr>
              <a:t>: JSON (commonly used), XML, etc.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17" name="Google Shape;2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3678250"/>
            <a:ext cx="9144002" cy="13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Methods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395175" y="1185575"/>
            <a:ext cx="80475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            </a:t>
            </a:r>
            <a:r>
              <a:rPr lang="en" sz="1100">
                <a:solidFill>
                  <a:schemeClr val="dk1"/>
                </a:solidFill>
              </a:rPr>
              <a:t>•</a:t>
            </a:r>
            <a:r>
              <a:rPr b="1" lang="en" sz="1100">
                <a:solidFill>
                  <a:schemeClr val="dk1"/>
                </a:solidFill>
              </a:rPr>
              <a:t>          </a:t>
            </a:r>
            <a:r>
              <a:rPr b="1" lang="en" sz="1100">
                <a:solidFill>
                  <a:schemeClr val="dk1"/>
                </a:solidFill>
              </a:rPr>
              <a:t>GET</a:t>
            </a:r>
            <a:r>
              <a:rPr lang="en" sz="1100">
                <a:solidFill>
                  <a:schemeClr val="dk1"/>
                </a:solidFill>
              </a:rPr>
              <a:t>: Retrieves data from the server (Read-only, idempotent).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POST</a:t>
            </a:r>
            <a:r>
              <a:rPr lang="en" sz="1100">
                <a:solidFill>
                  <a:schemeClr val="dk1"/>
                </a:solidFill>
              </a:rPr>
              <a:t>: Creates a new resource (Not idempotent, has a request body).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PUT</a:t>
            </a:r>
            <a:r>
              <a:rPr lang="en" sz="1100">
                <a:solidFill>
                  <a:schemeClr val="dk1"/>
                </a:solidFill>
              </a:rPr>
              <a:t>: Updates or replaces an existing resource (Idempotent, has a request body).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PATCH</a:t>
            </a:r>
            <a:r>
              <a:rPr lang="en" sz="1100">
                <a:solidFill>
                  <a:schemeClr val="dk1"/>
                </a:solidFill>
              </a:rPr>
              <a:t>: Partially updates an existing resource (Not idempotent, has a request body).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DELETE</a:t>
            </a:r>
            <a:r>
              <a:rPr lang="en" sz="1100">
                <a:solidFill>
                  <a:schemeClr val="dk1"/>
                </a:solidFill>
              </a:rPr>
              <a:t>: Removes a resource from the server (Idempotent, no request body).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HEAD</a:t>
            </a:r>
            <a:r>
              <a:rPr lang="en" sz="1100">
                <a:solidFill>
                  <a:schemeClr val="dk1"/>
                </a:solidFill>
              </a:rPr>
              <a:t>: Similar to GET but returns only headers, no response body.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b="1" lang="en" sz="1100">
                <a:solidFill>
                  <a:schemeClr val="dk1"/>
                </a:solidFill>
              </a:rPr>
              <a:t>OPTIONS</a:t>
            </a:r>
            <a:r>
              <a:rPr lang="en" sz="1100">
                <a:solidFill>
                  <a:schemeClr val="dk1"/>
                </a:solidFill>
              </a:rPr>
              <a:t>: Returns allowed HTTP methods for a resource.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AOP</a:t>
            </a:r>
            <a:endParaRPr/>
          </a:p>
        </p:txBody>
      </p:sp>
      <p:sp>
        <p:nvSpPr>
          <p:cNvPr id="229" name="Google Shape;229;p35"/>
          <p:cNvSpPr txBox="1"/>
          <p:nvPr/>
        </p:nvSpPr>
        <p:spPr>
          <a:xfrm>
            <a:off x="186125" y="1118925"/>
            <a:ext cx="84492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Aspect-Oriented Programming (AOP) is a programming paradigm that separates </a:t>
            </a:r>
            <a:r>
              <a:rPr b="1" lang="en" sz="1100">
                <a:solidFill>
                  <a:schemeClr val="dk1"/>
                </a:solidFill>
              </a:rPr>
              <a:t>cross-cutting concerns</a:t>
            </a:r>
            <a:r>
              <a:rPr lang="en" sz="1100">
                <a:solidFill>
                  <a:schemeClr val="dk1"/>
                </a:solidFill>
              </a:rPr>
              <a:t> (e.g., logging, security, transactions) from business logic.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Helps in achieving </a:t>
            </a:r>
            <a:r>
              <a:rPr b="1" lang="en" sz="1100">
                <a:solidFill>
                  <a:schemeClr val="dk1"/>
                </a:solidFill>
              </a:rPr>
              <a:t>cleaner, modular, and maintainable code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</a:t>
            </a:r>
            <a:endParaRPr/>
          </a:p>
        </p:txBody>
      </p:sp>
      <p:sp>
        <p:nvSpPr>
          <p:cNvPr id="235" name="Google Shape;235;p36"/>
          <p:cNvSpPr txBox="1"/>
          <p:nvPr/>
        </p:nvSpPr>
        <p:spPr>
          <a:xfrm>
            <a:off x="264425" y="8511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Concepts in AOP: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334375" y="1398350"/>
            <a:ext cx="60717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Aspect</a:t>
            </a:r>
            <a:r>
              <a:rPr lang="en" sz="1100">
                <a:solidFill>
                  <a:schemeClr val="dk1"/>
                </a:solidFill>
              </a:rPr>
              <a:t>: A modularization of cross-cutting concerns (e.g., LoggingAspect).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Advice</a:t>
            </a:r>
            <a:r>
              <a:rPr lang="en" sz="1100">
                <a:solidFill>
                  <a:schemeClr val="dk1"/>
                </a:solidFill>
              </a:rPr>
              <a:t>: The action taken by an aspect (Before, After, Around, etc.).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Pointcut</a:t>
            </a:r>
            <a:r>
              <a:rPr lang="en" sz="1100">
                <a:solidFill>
                  <a:schemeClr val="dk1"/>
                </a:solidFill>
              </a:rPr>
              <a:t>: Defines where an advice should be applied.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Join Point</a:t>
            </a:r>
            <a:r>
              <a:rPr lang="en" sz="1100">
                <a:solidFill>
                  <a:schemeClr val="dk1"/>
                </a:solidFill>
              </a:rPr>
              <a:t>: A point in execution where advice can be applied.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Weaving</a:t>
            </a:r>
            <a:r>
              <a:rPr lang="en" sz="1100">
                <a:solidFill>
                  <a:schemeClr val="dk1"/>
                </a:solidFill>
              </a:rPr>
              <a:t>: Linking aspects with the application.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Advice</a:t>
            </a:r>
            <a:endParaRPr/>
          </a:p>
        </p:txBody>
      </p:sp>
      <p:sp>
        <p:nvSpPr>
          <p:cNvPr id="242" name="Google Shape;242;p37"/>
          <p:cNvSpPr txBox="1"/>
          <p:nvPr/>
        </p:nvSpPr>
        <p:spPr>
          <a:xfrm>
            <a:off x="395175" y="800500"/>
            <a:ext cx="56562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@Before</a:t>
            </a:r>
            <a:r>
              <a:rPr lang="en" sz="1100">
                <a:solidFill>
                  <a:schemeClr val="dk1"/>
                </a:solidFill>
              </a:rPr>
              <a:t>: Runs before the method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@After: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Runs after method execution (regardless of success or failure)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@AfterReturning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Runs after method execution only if it succeeds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@AfterThrowing: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Runs if a method throws an exception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@Around: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Runs before and after method execution (powerful, allows modifications)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43" name="Google Shape;24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80400"/>
            <a:ext cx="8839203" cy="2145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pointcut and applying advices</a:t>
            </a:r>
            <a:endParaRPr/>
          </a:p>
        </p:txBody>
      </p:sp>
      <p:sp>
        <p:nvSpPr>
          <p:cNvPr id="249" name="Google Shape;249;p38"/>
          <p:cNvSpPr txBox="1"/>
          <p:nvPr/>
        </p:nvSpPr>
        <p:spPr>
          <a:xfrm>
            <a:off x="228600" y="699175"/>
            <a:ext cx="8761500" cy="20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Pointcut Expressions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Defines which methods should be intercepted using AspectJ expressions.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Example patterns: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i="1" lang="en" sz="1100">
                <a:solidFill>
                  <a:schemeClr val="dk1"/>
                </a:solidFill>
              </a:rPr>
              <a:t>execution(* com.example.service.*.*(..)) </a:t>
            </a:r>
            <a:r>
              <a:rPr lang="en" sz="1100">
                <a:solidFill>
                  <a:schemeClr val="dk1"/>
                </a:solidFill>
              </a:rPr>
              <a:t>→ Matches all methods in service package.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i="1" lang="en" sz="1100">
                <a:solidFill>
                  <a:schemeClr val="dk1"/>
                </a:solidFill>
              </a:rPr>
              <a:t>within(com.example.service..*) </a:t>
            </a:r>
            <a:r>
              <a:rPr lang="en" sz="1100">
                <a:solidFill>
                  <a:schemeClr val="dk1"/>
                </a:solidFill>
              </a:rPr>
              <a:t>→ Matches all classes in service package.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•	</a:t>
            </a:r>
            <a:r>
              <a:rPr i="1" lang="en" sz="1100">
                <a:solidFill>
                  <a:schemeClr val="dk1"/>
                </a:solidFill>
              </a:rPr>
              <a:t>@annotation(org.springframework.transaction.annotation.Transactional)</a:t>
            </a:r>
            <a:r>
              <a:rPr lang="en" sz="1100">
                <a:solidFill>
                  <a:schemeClr val="dk1"/>
                </a:solidFill>
              </a:rPr>
              <a:t> → Matches methods with </a:t>
            </a:r>
            <a:r>
              <a:rPr i="1" lang="en" sz="1100">
                <a:solidFill>
                  <a:schemeClr val="dk1"/>
                </a:solidFill>
              </a:rPr>
              <a:t>@Transactional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50" name="Google Shape;25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200" y="2888075"/>
            <a:ext cx="8148526" cy="204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AOP?</a:t>
            </a:r>
            <a:endParaRPr/>
          </a:p>
        </p:txBody>
      </p:sp>
      <p:sp>
        <p:nvSpPr>
          <p:cNvPr id="256" name="Google Shape;256;p39"/>
          <p:cNvSpPr txBox="1"/>
          <p:nvPr/>
        </p:nvSpPr>
        <p:spPr>
          <a:xfrm>
            <a:off x="264425" y="891700"/>
            <a:ext cx="8462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✔️</a:t>
            </a:r>
            <a:r>
              <a:rPr lang="en" sz="1100">
                <a:solidFill>
                  <a:schemeClr val="dk1"/>
                </a:solidFill>
              </a:rPr>
              <a:t>Reduces boilerplate code for common concerns like </a:t>
            </a:r>
            <a:r>
              <a:rPr b="1" lang="en" sz="1100">
                <a:solidFill>
                  <a:schemeClr val="dk1"/>
                </a:solidFill>
              </a:rPr>
              <a:t>logging, security, and transactions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✔️ Improves </a:t>
            </a:r>
            <a:r>
              <a:rPr b="1" lang="en" sz="1100">
                <a:solidFill>
                  <a:schemeClr val="dk1"/>
                </a:solidFill>
              </a:rPr>
              <a:t>code reusability</a:t>
            </a:r>
            <a:r>
              <a:rPr lang="en" sz="1100">
                <a:solidFill>
                  <a:schemeClr val="dk1"/>
                </a:solidFill>
              </a:rPr>
              <a:t> by keeping cross-cutting concerns separate.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✔️ Enhances </a:t>
            </a:r>
            <a:r>
              <a:rPr b="1" lang="en" sz="1100">
                <a:solidFill>
                  <a:schemeClr val="dk1"/>
                </a:solidFill>
              </a:rPr>
              <a:t>maintainability</a:t>
            </a:r>
            <a:r>
              <a:rPr lang="en" sz="1100">
                <a:solidFill>
                  <a:schemeClr val="dk1"/>
                </a:solidFill>
              </a:rPr>
              <a:t> by centralizing repetitive logic.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use case</a:t>
            </a:r>
            <a:endParaRPr/>
          </a:p>
        </p:txBody>
      </p:sp>
      <p:sp>
        <p:nvSpPr>
          <p:cNvPr id="262" name="Google Shape;262;p40"/>
          <p:cNvSpPr txBox="1"/>
          <p:nvPr/>
        </p:nvSpPr>
        <p:spPr>
          <a:xfrm>
            <a:off x="186125" y="820775"/>
            <a:ext cx="86520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Logging</a:t>
            </a:r>
            <a:r>
              <a:rPr lang="en" sz="1100">
                <a:solidFill>
                  <a:schemeClr val="dk1"/>
                </a:solidFill>
              </a:rPr>
              <a:t> – Automatically log method execution details.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Security</a:t>
            </a:r>
            <a:r>
              <a:rPr lang="en" sz="1100">
                <a:solidFill>
                  <a:schemeClr val="dk1"/>
                </a:solidFill>
              </a:rPr>
              <a:t> – Implement authentication &amp; authorization checks.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Performance Monitoring</a:t>
            </a:r>
            <a:r>
              <a:rPr lang="en" sz="1100">
                <a:solidFill>
                  <a:schemeClr val="dk1"/>
                </a:solidFill>
              </a:rPr>
              <a:t> – Measure execution time of methods.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Transaction Management</a:t>
            </a:r>
            <a:r>
              <a:rPr lang="en" sz="1100">
                <a:solidFill>
                  <a:schemeClr val="dk1"/>
                </a:solidFill>
              </a:rPr>
              <a:t> – Automatically handle transactions.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/>
        </p:nvSpPr>
        <p:spPr>
          <a:xfrm>
            <a:off x="557775" y="2257500"/>
            <a:ext cx="34647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31F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 b="1" i="0" sz="4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in Master">
  <a:themeElements>
    <a:clrScheme name="TTN - Final1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D8187F"/>
      </a:accent1>
      <a:accent2>
        <a:srgbClr val="314162"/>
      </a:accent2>
      <a:accent3>
        <a:srgbClr val="5A3794"/>
      </a:accent3>
      <a:accent4>
        <a:srgbClr val="0097A7"/>
      </a:accent4>
      <a:accent5>
        <a:srgbClr val="FFAB40"/>
      </a:accent5>
      <a:accent6>
        <a:srgbClr val="12A5D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